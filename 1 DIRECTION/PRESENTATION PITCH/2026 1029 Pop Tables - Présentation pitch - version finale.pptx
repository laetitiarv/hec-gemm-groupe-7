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76" r:id="rId2"/>
    <p:sldId id="280" r:id="rId3"/>
    <p:sldId id="281" r:id="rId4"/>
    <p:sldId id="282" r:id="rId5"/>
    <p:sldId id="278" r:id="rId6"/>
    <p:sldId id="277" r:id="rId7"/>
    <p:sldId id="275" r:id="rId8"/>
    <p:sldId id="274" r:id="rId9"/>
    <p:sldId id="279" r:id="rId10"/>
    <p:sldId id="273" r:id="rId11"/>
    <p:sldId id="264"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EEE3"/>
    <a:srgbClr val="1E1B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116" y="3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bar"/>
        <c:grouping val="clustered"/>
        <c:varyColors val="1"/>
        <c:ser>
          <c:idx val="0"/>
          <c:order val="0"/>
          <c:tx>
            <c:strRef>
              <c:f>Sheet1!$B$1</c:f>
              <c:strCache>
                <c:ptCount val="1"/>
                <c:pt idx="0">
                  <c:v>Cibles</c:v>
                </c:pt>
              </c:strCache>
            </c:strRef>
          </c:tx>
          <c:spPr>
            <a:solidFill>
              <a:srgbClr val="C2432B"/>
            </a:solidFill>
          </c:spPr>
          <c:invertIfNegative val="1"/>
          <c:dLbls>
            <c:numFmt formatCode="#\ ##0" sourceLinked="0"/>
            <c:spPr>
              <a:noFill/>
              <a:ln>
                <a:noFill/>
              </a:ln>
              <a:effectLst/>
            </c:spPr>
            <c:txPr>
              <a:bodyPr/>
              <a:lstStyle/>
              <a:p>
                <a:pPr>
                  <a:defRPr sz="1000" b="1">
                    <a:solidFill>
                      <a:srgbClr val="26232F"/>
                    </a:solidFill>
                    <a:latin typeface="Montserra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Maisons de luxe</c:v>
                </c:pt>
                <c:pt idx="1">
                  <c:v>Clubs et cercles</c:v>
                </c:pt>
                <c:pt idx="2">
                  <c:v>Entreprises*</c:v>
                </c:pt>
              </c:strCache>
            </c:strRef>
          </c:cat>
          <c:val>
            <c:numRef>
              <c:f>Sheet1!$B$2:$B$4</c:f>
              <c:numCache>
                <c:formatCode>General</c:formatCode>
                <c:ptCount val="3"/>
                <c:pt idx="0">
                  <c:v>19</c:v>
                </c:pt>
                <c:pt idx="1">
                  <c:v>38</c:v>
                </c:pt>
                <c:pt idx="2">
                  <c:v>1245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1C2-4659-B4CE-4AEDD308849B}"/>
            </c:ext>
          </c:extLst>
        </c:ser>
        <c:dLbls>
          <c:dLblPos val="outEnd"/>
          <c:showLegendKey val="0"/>
          <c:showVal val="1"/>
          <c:showCatName val="0"/>
          <c:showSerName val="0"/>
          <c:showPercent val="0"/>
          <c:showBubbleSize val="0"/>
        </c:dLbls>
        <c:gapWidth val="55"/>
        <c:axId val="-2068027336"/>
        <c:axId val="-2113994440"/>
      </c:barChart>
      <c:catAx>
        <c:axId val="-2068027336"/>
        <c:scaling>
          <c:orientation val="minMax"/>
        </c:scaling>
        <c:delete val="0"/>
        <c:axPos val="l"/>
        <c:numFmt formatCode="General" sourceLinked="0"/>
        <c:majorTickMark val="out"/>
        <c:minorTickMark val="none"/>
        <c:tickLblPos val="nextTo"/>
        <c:spPr>
          <a:ln>
            <a:noFill/>
          </a:ln>
        </c:spPr>
        <c:txPr>
          <a:bodyPr/>
          <a:lstStyle/>
          <a:p>
            <a:pPr>
              <a:defRPr sz="950">
                <a:solidFill>
                  <a:srgbClr val="26232F"/>
                </a:solidFill>
                <a:latin typeface="Montserrat"/>
              </a:defRPr>
            </a:pPr>
            <a:endParaRPr lang="en-US"/>
          </a:p>
        </c:txPr>
        <c:crossAx val="-2113994440"/>
        <c:crosses val="autoZero"/>
        <c:auto val="1"/>
        <c:lblAlgn val="ctr"/>
        <c:lblOffset val="100"/>
        <c:noMultiLvlLbl val="0"/>
      </c:catAx>
      <c:valAx>
        <c:axId val="-2113994440"/>
        <c:scaling>
          <c:orientation val="minMax"/>
          <c:max val="170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autoTitleDeleted val="1"/>
    <c:plotArea>
      <c:layout/>
      <c:barChart>
        <c:barDir val="col"/>
        <c:grouping val="clustered"/>
        <c:varyColors val="1"/>
        <c:ser>
          <c:idx val="0"/>
          <c:order val="0"/>
          <c:tx>
            <c:strRef>
              <c:f>Sheet1!$B$1</c:f>
              <c:strCache>
                <c:ptCount val="1"/>
                <c:pt idx="0">
                  <c:v>CA TTC</c:v>
                </c:pt>
              </c:strCache>
            </c:strRef>
          </c:tx>
          <c:invertIfNegative val="1"/>
          <c:dPt>
            <c:idx val="0"/>
            <c:invertIfNegative val="1"/>
            <c:bubble3D val="0"/>
            <c:spPr>
              <a:solidFill>
                <a:srgbClr val="DDC08A"/>
              </a:solidFill>
            </c:spPr>
            <c:extLst>
              <c:ext xmlns:c16="http://schemas.microsoft.com/office/drawing/2014/chart" uri="{C3380CC4-5D6E-409C-BE32-E72D297353CC}">
                <c16:uniqueId val="{00000001-C0D6-4242-B001-7EEE06C5D672}"/>
              </c:ext>
            </c:extLst>
          </c:dPt>
          <c:dPt>
            <c:idx val="1"/>
            <c:invertIfNegative val="1"/>
            <c:bubble3D val="0"/>
            <c:spPr>
              <a:solidFill>
                <a:srgbClr val="8FA593"/>
              </a:solidFill>
            </c:spPr>
            <c:extLst>
              <c:ext xmlns:c16="http://schemas.microsoft.com/office/drawing/2014/chart" uri="{C3380CC4-5D6E-409C-BE32-E72D297353CC}">
                <c16:uniqueId val="{00000003-C0D6-4242-B001-7EEE06C5D672}"/>
              </c:ext>
            </c:extLst>
          </c:dPt>
          <c:dPt>
            <c:idx val="2"/>
            <c:invertIfNegative val="1"/>
            <c:bubble3D val="0"/>
            <c:spPr>
              <a:solidFill>
                <a:srgbClr val="1E1B2E"/>
              </a:solidFill>
            </c:spPr>
            <c:extLst>
              <c:ext xmlns:c16="http://schemas.microsoft.com/office/drawing/2014/chart" uri="{C3380CC4-5D6E-409C-BE32-E72D297353CC}">
                <c16:uniqueId val="{00000005-C0D6-4242-B001-7EEE06C5D672}"/>
              </c:ext>
            </c:extLst>
          </c:dPt>
          <c:dLbls>
            <c:dLbl>
              <c:idx val="0"/>
              <c:tx>
                <c:rich>
                  <a:bodyPr/>
                  <a:lstStyle/>
                  <a:p>
                    <a:r>
                      <a:rPr lang="en-US" sz="1200" b="1">
                        <a:solidFill>
                          <a:srgbClr val="26232F"/>
                        </a:solidFill>
                        <a:latin typeface="Playfair Display"/>
                      </a:rPr>
                      <a:t>105 k€</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0D6-4242-B001-7EEE06C5D672}"/>
                </c:ext>
              </c:extLst>
            </c:dLbl>
            <c:dLbl>
              <c:idx val="1"/>
              <c:tx>
                <c:rich>
                  <a:bodyPr/>
                  <a:lstStyle/>
                  <a:p>
                    <a:r>
                      <a:rPr lang="en-US" sz="1200" b="1">
                        <a:solidFill>
                          <a:srgbClr val="26232F"/>
                        </a:solidFill>
                        <a:latin typeface="Playfair Display"/>
                      </a:rPr>
                      <a:t>1,8 M€</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0D6-4242-B001-7EEE06C5D672}"/>
                </c:ext>
              </c:extLst>
            </c:dLbl>
            <c:dLbl>
              <c:idx val="2"/>
              <c:tx>
                <c:rich>
                  <a:bodyPr/>
                  <a:lstStyle/>
                  <a:p>
                    <a:r>
                      <a:rPr lang="en-US" sz="1200" b="1">
                        <a:solidFill>
                          <a:srgbClr val="26232F"/>
                        </a:solidFill>
                        <a:latin typeface="Playfair Display"/>
                      </a:rPr>
                      <a:t>3,6 M€</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C0D6-4242-B001-7EEE06C5D67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Sheet1!$A$2:$A$4</c:f>
              <c:strCache>
                <c:ptCount val="3"/>
                <c:pt idx="0">
                  <c:v>Année 1
7 évén.</c:v>
                </c:pt>
                <c:pt idx="1">
                  <c:v>Année 2
120 évén.</c:v>
                </c:pt>
                <c:pt idx="2">
                  <c:v>Année 3
240 évén.</c:v>
                </c:pt>
              </c:strCache>
            </c:strRef>
          </c:cat>
          <c:val>
            <c:numRef>
              <c:f>Sheet1!$B$2:$B$4</c:f>
              <c:numCache>
                <c:formatCode>General</c:formatCode>
                <c:ptCount val="3"/>
                <c:pt idx="0">
                  <c:v>0.105</c:v>
                </c:pt>
                <c:pt idx="1">
                  <c:v>1.8</c:v>
                </c:pt>
                <c:pt idx="2">
                  <c:v>3.6</c:v>
                </c:pt>
              </c:numCache>
            </c:numRef>
          </c:val>
          <c:extLst>
            <c:ext xmlns:c16="http://schemas.microsoft.com/office/drawing/2014/chart" uri="{C3380CC4-5D6E-409C-BE32-E72D297353CC}">
              <c16:uniqueId val="{00000006-C0D6-4242-B001-7EEE06C5D672}"/>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noFill/>
          </a:ln>
        </c:spPr>
        <c:txPr>
          <a:bodyPr/>
          <a:lstStyle/>
          <a:p>
            <a:pPr>
              <a:defRPr sz="900">
                <a:solidFill>
                  <a:srgbClr val="26232F"/>
                </a:solidFill>
                <a:latin typeface="Montserrat"/>
              </a:defRPr>
            </a:pPr>
            <a:endParaRPr lang="en-US"/>
          </a:p>
        </c:txPr>
        <c:crossAx val="-2113994440"/>
        <c:crosses val="autoZero"/>
        <c:auto val="1"/>
        <c:lblAlgn val="ctr"/>
        <c:lblOffset val="100"/>
        <c:noMultiLvlLbl val="0"/>
      </c:catAx>
      <c:valAx>
        <c:axId val="-2113994440"/>
        <c:scaling>
          <c:orientation val="minMax"/>
          <c:max val="4.3"/>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tx>
            <c:strRef>
              <c:f>Feuil1!$B$1</c:f>
              <c:strCache>
                <c:ptCount val="1"/>
                <c:pt idx="0">
                  <c:v>Chiffre d'affaires</c:v>
                </c:pt>
              </c:strCache>
            </c:strRef>
          </c:tx>
          <c:spPr>
            <a:solidFill>
              <a:srgbClr val="1E1B2E"/>
            </a:solidFill>
            <a:ln w="25400">
              <a:noFill/>
            </a:ln>
            <a:effectLst/>
          </c:spPr>
          <c:invertIfNegative val="0"/>
          <c:dLbls>
            <c:numFmt formatCode="[&gt;=1000]#\ ##0;[&lt;=-1000]\-#\ ##0;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26232F"/>
                    </a:solidFill>
                    <a:latin typeface="Montserrat"/>
                    <a:ea typeface="Montserrat"/>
                    <a:cs typeface="Montserra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Feuil1!$A$2:$A$4</c:f>
              <c:strCache>
                <c:ptCount val="3"/>
                <c:pt idx="0">
                  <c:v>Année 1</c:v>
                </c:pt>
                <c:pt idx="1">
                  <c:v>Année 2</c:v>
                </c:pt>
                <c:pt idx="2">
                  <c:v>Année 3</c:v>
                </c:pt>
              </c:strCache>
            </c:strRef>
          </c:cat>
          <c:val>
            <c:numRef>
              <c:f>Feuil1!$B$2:$B$4</c:f>
              <c:numCache>
                <c:formatCode>General</c:formatCode>
                <c:ptCount val="3"/>
                <c:pt idx="0">
                  <c:v>220</c:v>
                </c:pt>
                <c:pt idx="1">
                  <c:v>2069</c:v>
                </c:pt>
                <c:pt idx="2">
                  <c:v>4138</c:v>
                </c:pt>
              </c:numCache>
            </c:numRef>
          </c:val>
          <c:extLst>
            <c:ext xmlns:c16="http://schemas.microsoft.com/office/drawing/2014/chart" uri="{C3380CC4-5D6E-409C-BE32-E72D297353CC}">
              <c16:uniqueId val="{00000000-6C17-473B-914B-F34AACC78D50}"/>
            </c:ext>
          </c:extLst>
        </c:ser>
        <c:ser>
          <c:idx val="1"/>
          <c:order val="1"/>
          <c:tx>
            <c:strRef>
              <c:f>Feuil1!$C$1</c:f>
              <c:strCache>
                <c:ptCount val="1"/>
                <c:pt idx="0">
                  <c:v>Résultat d'exploitation</c:v>
                </c:pt>
              </c:strCache>
            </c:strRef>
          </c:tx>
          <c:spPr>
            <a:solidFill>
              <a:srgbClr val="C2432B"/>
            </a:solidFill>
            <a:ln w="25400">
              <a:noFill/>
            </a:ln>
            <a:effectLst/>
          </c:spPr>
          <c:invertIfNegative val="0"/>
          <c:dLbls>
            <c:numFmt formatCode="[&gt;=1000]#\ ##0;[&lt;=-1000]\-#\ ##0;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26232F"/>
                    </a:solidFill>
                    <a:latin typeface="Montserrat"/>
                    <a:ea typeface="Montserrat"/>
                    <a:cs typeface="Montserra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Feuil1!$A$2:$A$4</c:f>
              <c:strCache>
                <c:ptCount val="3"/>
                <c:pt idx="0">
                  <c:v>Année 1</c:v>
                </c:pt>
                <c:pt idx="1">
                  <c:v>Année 2</c:v>
                </c:pt>
                <c:pt idx="2">
                  <c:v>Année 3</c:v>
                </c:pt>
              </c:strCache>
            </c:strRef>
          </c:cat>
          <c:val>
            <c:numRef>
              <c:f>Feuil1!$C$2:$C$4</c:f>
              <c:numCache>
                <c:formatCode>General</c:formatCode>
                <c:ptCount val="3"/>
                <c:pt idx="0">
                  <c:v>-36</c:v>
                </c:pt>
                <c:pt idx="1">
                  <c:v>392</c:v>
                </c:pt>
                <c:pt idx="2">
                  <c:v>379</c:v>
                </c:pt>
              </c:numCache>
            </c:numRef>
          </c:val>
          <c:extLst>
            <c:ext xmlns:c16="http://schemas.microsoft.com/office/drawing/2014/chart" uri="{C3380CC4-5D6E-409C-BE32-E72D297353CC}">
              <c16:uniqueId val="{00000001-6C17-473B-914B-F34AACC78D50}"/>
            </c:ext>
          </c:extLst>
        </c:ser>
        <c:dLbls>
          <c:showLegendKey val="0"/>
          <c:showVal val="0"/>
          <c:showCatName val="0"/>
          <c:showSerName val="0"/>
          <c:showPercent val="0"/>
          <c:showBubbleSize val="0"/>
        </c:dLbls>
        <c:gapWidth val="70"/>
        <c:overlap val="-5"/>
        <c:axId val="991904368"/>
        <c:axId val="1951974064"/>
      </c:barChart>
      <c:catAx>
        <c:axId val="991904368"/>
        <c:scaling>
          <c:orientation val="minMax"/>
        </c:scaling>
        <c:delete val="0"/>
        <c:axPos val="b"/>
        <c:numFmt formatCode="General" sourceLinked="1"/>
        <c:majorTickMark val="none"/>
        <c:minorTickMark val="none"/>
        <c:tickLblPos val="low"/>
        <c:spPr>
          <a:noFill/>
          <a:ln w="9525" cap="flat" cmpd="sng" algn="ctr">
            <a:solidFill>
              <a:srgbClr val="6B6670"/>
            </a:solidFill>
            <a:prstDash val="solid"/>
            <a:round/>
          </a:ln>
          <a:effectLst/>
        </c:spPr>
        <c:txPr>
          <a:bodyPr rot="-60000000" spcFirstLastPara="1" vertOverflow="ellipsis" vert="horz" wrap="square" anchor="ctr" anchorCtr="1"/>
          <a:lstStyle/>
          <a:p>
            <a:pPr>
              <a:defRPr sz="1000" b="0" i="0" u="none" strike="noStrike" kern="1200" baseline="0">
                <a:solidFill>
                  <a:srgbClr val="26232F"/>
                </a:solidFill>
                <a:latin typeface="Montserrat"/>
                <a:ea typeface="Montserrat"/>
                <a:cs typeface="Montserrat"/>
              </a:defRPr>
            </a:pPr>
            <a:endParaRPr lang="en-US"/>
          </a:p>
        </c:txPr>
        <c:crossAx val="1951974064"/>
        <c:crosses val="autoZero"/>
        <c:auto val="1"/>
        <c:lblAlgn val="ctr"/>
        <c:lblOffset val="100"/>
        <c:noMultiLvlLbl val="0"/>
      </c:catAx>
      <c:valAx>
        <c:axId val="1951974064"/>
        <c:scaling>
          <c:orientation val="minMax"/>
        </c:scaling>
        <c:delete val="0"/>
        <c:axPos val="l"/>
        <c:numFmt formatCode="General" sourceLinked="1"/>
        <c:majorTickMark val="none"/>
        <c:minorTickMark val="none"/>
        <c:tickLblPos val="none"/>
        <c:spPr>
          <a:noFill/>
          <a:ln w="25400">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919043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rgbClr val="6B6670"/>
              </a:solidFill>
              <a:latin typeface="Montserrat"/>
              <a:ea typeface="Montserrat"/>
              <a:cs typeface="Montserrat"/>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w="25400">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4920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7697767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Pop Tables ne vend ni une table, ni un menu, ni un lieu. Chaque soirée réunit trois raretés : un chef que l’on ne peut pas goûter dans la ville, un restaurant d’exception ouvert le seul soir où il est fermé au public, et un vigneron invité. La combinaison ne se reproduira jamais : celui qui était là a vécu ce que personne d’autre ne vivra. C’est ce qui rend l’offre impossible à copier et impossible à réserver ailleurs.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Nos clients sont souvent privilégiés, mais ce n’est pas l’essentiel. Ce qui les réunit, c’est un profil psychologique de rebelle : ils font ce qu’ils ont envie de faire, sans qu’on leur impose des règles, et peu leur importe que cela plaise ou non aux autres. Ils aiment être entourés de nombreux amis, sont généreux et aiment faire plaisir : ils reçoivent, ils offrent, ils partagent. Pop Tables leur répond en cassant les règles du restaurant : un lieu fermé qui ouvre pour eux, un chef qui n’est pas là d’habitude, une soirée qui ne se rejouera pas. Deux façons d’acheter : la place à l’unité, vendue en drop, qui porte l’image et la notoriété ; la privatisation, pour un groupe ou une entreprise, qui porte l’essentiel du chiffre d’affaires. Les cibles B2B sont détaillées en partie 4.</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drop est le moteur de la communication, de l’image et de la notoriété : chaque soirée montre ce que la marque sait faire et nourrit la demande de privatisations. Les privatisations portent l’essentiel du chiffre d’affaires : 78 % en années 2 et 3 dans le budget de la Finance. Les soirées de janvier et février 2027 sont des pilotes non annoncées ; la soirée de lancement à Lapérouse, en mars 2027, précède le premier drop public.</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Prix = propositions du Produit, classées P dans le modèle Finance du 28/10/2026, à valider. Offre A (B2C) : Premier soir 290 € (40 couverts), Le Voyage 420 € (35), La Grande Nuit 690 € (30), TTC par place. Offre B : entreprises 250/350/600 € HT par convive selon le chef ; groupes (B2C) forfait de salle dès 6 000 € HT, chef confirmé. À confirmer : le « dès », ce que recouvre le forfait et son total pour un groupe.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 les risques d'une soirée sont identifiés, et chacun a une réponse prévue. Si l'on demande où nous en sommes : les garanties d'assurance sont définies et budgétées (2 % du chiffre d'affaires) et seront souscrites dès l'immatriculation, avant toute soirée. Les contrats types (21 modèles) sont rédigés et en relecture par un avocat ; aucun chef ni restaurant n'est annoncé sans contrat signé. La licence vin et champagne sera déclarée avant l'ouverture de la première pré-vente, après la formation au permis d'exploitation. Principal risque juridique : la vente d'alcool et la sécurité alimentaire, d'où notre licence propre, le plan sanitaire et une assurance qui les couvre spécifiquement.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fr-FR"/>
              <a:t>Message : Pop Tables est rentable dès l'année 2 sans faire entrer d'investisseur au capital. Fonds : uniquement les 70 000 € de capital apportés à parts égales par les 7 fondateurs, dont 2 exécutifs ; ni prêt, ni subvention, ni levée. La trésorerie reste positive sur les 3 ans (point bas de +10 071 € en mars 2027). Croissance : 1 ville en année 1, 3 en année 2, 6 en année 3 ; la croissance vient des privatisations (40 par ville et par an), à confirmer par les Ventes. Valorisation : simple multiple, à présenter comme un ordre de grandeur.</a:t>
            </a:r>
          </a:p>
        </p:txBody>
      </p:sp>
    </p:spTree>
    <p:extLst>
      <p:ext uri="{BB962C8B-B14F-4D97-AF65-F5344CB8AC3E}">
        <p14:creationId xmlns:p14="http://schemas.microsoft.com/office/powerpoint/2010/main" val="26165260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Partie 8 - Synthèse des points clés (Laetitia). Version de travail, à revoir avec le travail de chaque équipe.</a:t>
            </a:r>
          </a:p>
          <a:p>
            <a:r>
              <a:rPr lang="fr-FR" dirty="0"/>
              <a:t>À confirmer avant le pitch : l’engagement d’un grand chef au capital (sinon : « un chef ambassadeur visé »).</a:t>
            </a:r>
          </a:p>
          <a:p>
            <a:r>
              <a:rPr lang="fr-FR" dirty="0"/>
              <a:t>À compléter : une ou deux données de marché (Marketing) et un ou deux chiffres clés (Finance : marge par événement, point mort, besoin de financement).</a:t>
            </a:r>
          </a:p>
          <a:p>
            <a:r>
              <a:rPr lang="fr-FR" dirty="0"/>
              <a:t>Phrase de clôture provisoire, à retravailler avec le Marketing. Variantes : « Un chef rare, un lieu inattendu, une soirée unique. » ; « La gastronomie à vivre, pas seulement à goûter. » ; « Des tables éphémères, des souvenirs durables.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17 Page vierge">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01 Couverture — avec photo">
    <p:bg>
      <p:bgPr>
        <a:solidFill>
          <a:srgbClr val="1E1B2E"/>
        </a:solidFill>
        <a:effectLst/>
      </p:bgPr>
    </p:bg>
    <p:spTree>
      <p:nvGrpSpPr>
        <p:cNvPr id="1" name=""/>
        <p:cNvGrpSpPr/>
        <p:nvPr/>
      </p:nvGrpSpPr>
      <p:grpSpPr>
        <a:xfrm>
          <a:off x="0" y="0"/>
          <a:ext cx="0" cy="0"/>
          <a:chOff x="0" y="0"/>
          <a:chExt cx="0" cy="0"/>
        </a:xfrm>
      </p:grpSpPr>
      <p:sp>
        <p:nvSpPr>
          <p:cNvPr id="2" name="Shape 0"/>
          <p:cNvSpPr/>
          <p:nvPr/>
        </p:nvSpPr>
        <p:spPr>
          <a:xfrm>
            <a:off x="5120640" y="0"/>
            <a:ext cx="7071055" cy="6858000"/>
          </a:xfrm>
          <a:prstGeom prst="rect">
            <a:avLst/>
          </a:prstGeom>
          <a:solidFill>
            <a:srgbClr val="DDD3C1"/>
          </a:solidFill>
          <a:ln w="12700">
            <a:solidFill>
              <a:srgbClr val="DDD3C1"/>
            </a:solidFill>
            <a:prstDash val="solid"/>
          </a:ln>
        </p:spPr>
      </p:sp>
      <p:sp>
        <p:nvSpPr>
          <p:cNvPr id="3" name="Photo de couverture"/>
          <p:cNvSpPr>
            <a:spLocks noGrp="1"/>
          </p:cNvSpPr>
          <p:nvPr>
            <p:ph type="pic" idx="101" hasCustomPrompt="1"/>
          </p:nvPr>
        </p:nvSpPr>
        <p:spPr>
          <a:xfrm>
            <a:off x="5120640" y="0"/>
            <a:ext cx="7071055" cy="685800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4" name="Shape 1"/>
          <p:cNvSpPr/>
          <p:nvPr/>
        </p:nvSpPr>
        <p:spPr>
          <a:xfrm>
            <a:off x="5120640" y="0"/>
            <a:ext cx="73152" cy="6858000"/>
          </a:xfrm>
          <a:prstGeom prst="rect">
            <a:avLst/>
          </a:prstGeom>
          <a:solidFill>
            <a:srgbClr val="C2432B"/>
          </a:solidFill>
          <a:ln w="12700">
            <a:solidFill>
              <a:srgbClr val="C2432B"/>
            </a:solidFill>
            <a:prstDash val="solid"/>
          </a:ln>
        </p:spPr>
      </p:sp>
      <p:sp>
        <p:nvSpPr>
          <p:cNvPr id="5" name="Text 2"/>
          <p:cNvSpPr/>
          <p:nvPr/>
        </p:nvSpPr>
        <p:spPr>
          <a:xfrm>
            <a:off x="640080" y="548640"/>
            <a:ext cx="3657600" cy="274320"/>
          </a:xfrm>
          <a:prstGeom prst="rect">
            <a:avLst/>
          </a:prstGeom>
          <a:noFill/>
          <a:ln/>
        </p:spPr>
        <p:txBody>
          <a:bodyPr wrap="square" lIns="0" tIns="0" rIns="0" bIns="0" rtlCol="0" anchor="ctr"/>
          <a:lstStyle/>
          <a:p>
            <a:pPr marL="0" indent="0">
              <a:buNone/>
            </a:pPr>
            <a:r>
              <a:rPr lang="en-US" sz="1000" b="1" kern="0" spc="500" dirty="0">
                <a:solidFill>
                  <a:srgbClr val="F4EEE3"/>
                </a:solidFill>
                <a:latin typeface="Montserrat" pitchFamily="34" charset="0"/>
                <a:ea typeface="Montserrat" pitchFamily="34" charset="-122"/>
                <a:cs typeface="Montserrat" pitchFamily="34" charset="-120"/>
              </a:rPr>
              <a:t>POPTABLES</a:t>
            </a:r>
            <a:endParaRPr lang="en-US" sz="1000" dirty="0"/>
          </a:p>
        </p:txBody>
      </p:sp>
      <p:sp>
        <p:nvSpPr>
          <p:cNvPr id="6" name="Shape 3"/>
          <p:cNvSpPr/>
          <p:nvPr/>
        </p:nvSpPr>
        <p:spPr>
          <a:xfrm>
            <a:off x="640080" y="960120"/>
            <a:ext cx="146304" cy="146304"/>
          </a:xfrm>
          <a:prstGeom prst="rect">
            <a:avLst/>
          </a:prstGeom>
          <a:solidFill>
            <a:srgbClr val="C8963A"/>
          </a:solidFill>
          <a:ln w="12700">
            <a:solidFill>
              <a:srgbClr val="C8963A"/>
            </a:solidFill>
            <a:prstDash val="solid"/>
          </a:ln>
        </p:spPr>
      </p:sp>
      <p:sp>
        <p:nvSpPr>
          <p:cNvPr id="7" name="Text 4"/>
          <p:cNvSpPr/>
          <p:nvPr/>
        </p:nvSpPr>
        <p:spPr>
          <a:xfrm>
            <a:off x="859536" y="960120"/>
            <a:ext cx="146304" cy="146304"/>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8" name="Text 5"/>
          <p:cNvSpPr/>
          <p:nvPr/>
        </p:nvSpPr>
        <p:spPr>
          <a:xfrm>
            <a:off x="1078992" y="960120"/>
            <a:ext cx="146304" cy="146304"/>
          </a:xfrm>
          <a:prstGeom prst="triangle">
            <a:avLst/>
          </a:prstGeom>
          <a:solidFill>
            <a:srgbClr val="8FA593"/>
          </a:solidFill>
          <a:ln>
            <a:solidFill>
              <a:srgbClr val="8FA593"/>
            </a:solidFill>
          </a:ln>
        </p:spPr>
        <p:txBody>
          <a:bodyPr wrap="square" rtlCol="0" anchor="ctr"/>
          <a:lstStyle/>
          <a:p>
            <a:pPr marL="0" indent="0">
              <a:buNone/>
            </a:pPr>
            <a:endParaRPr lang="en-US" dirty="0"/>
          </a:p>
        </p:txBody>
      </p:sp>
      <p:sp>
        <p:nvSpPr>
          <p:cNvPr id="9" name="Titre"/>
          <p:cNvSpPr>
            <a:spLocks noGrp="1"/>
          </p:cNvSpPr>
          <p:nvPr>
            <p:ph type="title" idx="107" hasCustomPrompt="1"/>
          </p:nvPr>
        </p:nvSpPr>
        <p:spPr>
          <a:xfrm>
            <a:off x="640080" y="2103120"/>
            <a:ext cx="4114800" cy="2011680"/>
          </a:xfrm>
          <a:prstGeom prst="rect">
            <a:avLst/>
          </a:prstGeom>
          <a:noFill/>
          <a:ln/>
        </p:spPr>
        <p:txBody>
          <a:bodyPr wrap="square" rtlCol="0"/>
          <a:lstStyle>
            <a:lvl1pPr marL="0" indent="0" algn="l">
              <a:buNone/>
              <a:defRPr lang="en-US" sz="4000" dirty="0">
                <a:solidFill>
                  <a:srgbClr val="F4EEE3"/>
                </a:solidFill>
                <a:latin typeface="Playfair Display" pitchFamily="34" charset="0"/>
                <a:ea typeface="Playfair Display" pitchFamily="34" charset="-122"/>
                <a:cs typeface="Playfair Display" pitchFamily="34" charset="-120"/>
              </a:defRPr>
            </a:lvl1pPr>
          </a:lstStyle>
          <a:p>
            <a:pPr marL="0" indent="0" algn="l">
              <a:buNone/>
            </a:pPr>
            <a:r>
              <a:rPr lang="en-US" sz="4000" dirty="0">
                <a:solidFill>
                  <a:srgbClr val="F4EEE3"/>
                </a:solidFill>
                <a:latin typeface="Playfair Display" pitchFamily="34" charset="0"/>
                <a:ea typeface="Playfair Display" pitchFamily="34" charset="-122"/>
                <a:cs typeface="Playfair Display" pitchFamily="34" charset="-120"/>
              </a:rPr>
              <a:t>Titre de la présentation</a:t>
            </a:r>
            <a:endParaRPr lang="en-US" sz="4000" dirty="0"/>
          </a:p>
        </p:txBody>
      </p:sp>
      <p:sp>
        <p:nvSpPr>
          <p:cNvPr id="10" name="Sous-titre"/>
          <p:cNvSpPr>
            <a:spLocks noGrp="1"/>
          </p:cNvSpPr>
          <p:nvPr>
            <p:ph type="body" idx="108" hasCustomPrompt="1"/>
          </p:nvPr>
        </p:nvSpPr>
        <p:spPr>
          <a:xfrm>
            <a:off x="640080" y="4297680"/>
            <a:ext cx="4023360" cy="822960"/>
          </a:xfrm>
          <a:prstGeom prst="rect">
            <a:avLst/>
          </a:prstGeom>
          <a:noFill/>
          <a:ln/>
        </p:spPr>
        <p:txBody>
          <a:bodyPr wrap="square" rtlCol="0"/>
          <a:lstStyle>
            <a:lvl1pPr marL="0" indent="0" algn="l">
              <a:buNone/>
              <a:defRPr lang="en-US" sz="1400" dirty="0">
                <a:solidFill>
                  <a:srgbClr val="D9D2E3"/>
                </a:solidFill>
                <a:latin typeface="Montserrat" pitchFamily="34" charset="0"/>
                <a:ea typeface="Montserrat" pitchFamily="34" charset="-122"/>
                <a:cs typeface="Montserrat" pitchFamily="34" charset="-120"/>
              </a:defRPr>
            </a:lvl1pPr>
          </a:lstStyle>
          <a:p>
            <a:pPr marL="0" indent="0" algn="l">
              <a:buNone/>
            </a:pPr>
            <a:r>
              <a:rPr lang="en-US" sz="1400" dirty="0">
                <a:solidFill>
                  <a:srgbClr val="D9D2E3"/>
                </a:solidFill>
                <a:latin typeface="Montserrat" pitchFamily="34" charset="0"/>
                <a:ea typeface="Montserrat" pitchFamily="34" charset="-122"/>
                <a:cs typeface="Montserrat" pitchFamily="34" charset="-120"/>
              </a:rPr>
              <a:t>Sous-titre ou promesse</a:t>
            </a:r>
            <a:endParaRPr lang="en-US" sz="1400" dirty="0"/>
          </a:p>
        </p:txBody>
      </p:sp>
      <p:sp>
        <p:nvSpPr>
          <p:cNvPr id="11" name="Date"/>
          <p:cNvSpPr>
            <a:spLocks noGrp="1"/>
          </p:cNvSpPr>
          <p:nvPr>
            <p:ph type="body" idx="109" hasCustomPrompt="1"/>
          </p:nvPr>
        </p:nvSpPr>
        <p:spPr>
          <a:xfrm>
            <a:off x="640080" y="6035040"/>
            <a:ext cx="4023360" cy="274320"/>
          </a:xfrm>
          <a:prstGeom prst="rect">
            <a:avLst/>
          </a:prstGeom>
          <a:noFill/>
          <a:ln/>
        </p:spPr>
        <p:txBody>
          <a:bodyPr wrap="square" rtlCol="0"/>
          <a:lstStyle>
            <a:lvl1pPr marL="0" indent="0" algn="l">
              <a:buNone/>
              <a:defRPr lang="en-US" sz="900" b="1" kern="0" spc="300" dirty="0">
                <a:solidFill>
                  <a:srgbClr val="C8963A"/>
                </a:solidFill>
                <a:latin typeface="Montserrat" pitchFamily="34" charset="0"/>
                <a:ea typeface="Montserrat" pitchFamily="34" charset="-122"/>
                <a:cs typeface="Montserrat" pitchFamily="34" charset="-120"/>
              </a:defRPr>
            </a:lvl1pPr>
          </a:lstStyle>
          <a:p>
            <a:pPr marL="0" indent="0" algn="l">
              <a:buNone/>
            </a:pPr>
            <a:r>
              <a:rPr lang="en-US" sz="900" b="1" kern="0" spc="300" dirty="0">
                <a:solidFill>
                  <a:srgbClr val="C8963A"/>
                </a:solidFill>
                <a:latin typeface="Montserrat" pitchFamily="34" charset="0"/>
                <a:ea typeface="Montserrat" pitchFamily="34" charset="-122"/>
                <a:cs typeface="Montserrat" pitchFamily="34" charset="-120"/>
              </a:rPr>
              <a:t>LIEU · DATE</a:t>
            </a:r>
            <a:endParaRPr lang="en-US" sz="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02 Couverture — typographique">
    <p:bg>
      <p:bgPr>
        <a:solidFill>
          <a:srgbClr val="1E1B2E"/>
        </a:solidFill>
        <a:effectLst/>
      </p:bgPr>
    </p:bg>
    <p:spTree>
      <p:nvGrpSpPr>
        <p:cNvPr id="1" name=""/>
        <p:cNvGrpSpPr/>
        <p:nvPr/>
      </p:nvGrpSpPr>
      <p:grpSpPr>
        <a:xfrm>
          <a:off x="0" y="0"/>
          <a:ext cx="0" cy="0"/>
          <a:chOff x="0" y="0"/>
          <a:chExt cx="0" cy="0"/>
        </a:xfrm>
      </p:grpSpPr>
      <p:sp>
        <p:nvSpPr>
          <p:cNvPr id="2" name="Shape 0"/>
          <p:cNvSpPr/>
          <p:nvPr/>
        </p:nvSpPr>
        <p:spPr>
          <a:xfrm>
            <a:off x="7498080" y="1097280"/>
            <a:ext cx="3840480" cy="3840480"/>
          </a:xfrm>
          <a:prstGeom prst="rect">
            <a:avLst/>
          </a:prstGeom>
          <a:solidFill>
            <a:srgbClr val="2A2640"/>
          </a:solidFill>
          <a:ln w="12700">
            <a:solidFill>
              <a:srgbClr val="2A2640"/>
            </a:solidFill>
            <a:prstDash val="solid"/>
          </a:ln>
        </p:spPr>
      </p:sp>
      <p:sp>
        <p:nvSpPr>
          <p:cNvPr id="3" name="Shape 1"/>
          <p:cNvSpPr/>
          <p:nvPr/>
        </p:nvSpPr>
        <p:spPr>
          <a:xfrm>
            <a:off x="7498080" y="3749040"/>
            <a:ext cx="640080" cy="640080"/>
          </a:xfrm>
          <a:prstGeom prst="rect">
            <a:avLst/>
          </a:prstGeom>
          <a:solidFill>
            <a:srgbClr val="C2432B"/>
          </a:solidFill>
          <a:ln w="12700">
            <a:solidFill>
              <a:srgbClr val="C2432B"/>
            </a:solidFill>
            <a:prstDash val="solid"/>
          </a:ln>
        </p:spPr>
      </p:sp>
      <p:sp>
        <p:nvSpPr>
          <p:cNvPr id="4" name="Shape 2"/>
          <p:cNvSpPr/>
          <p:nvPr/>
        </p:nvSpPr>
        <p:spPr>
          <a:xfrm>
            <a:off x="8138160" y="3749040"/>
            <a:ext cx="640080" cy="640080"/>
          </a:xfrm>
          <a:prstGeom prst="rect">
            <a:avLst/>
          </a:prstGeom>
          <a:solidFill>
            <a:srgbClr val="F4EEE3"/>
          </a:solidFill>
          <a:ln w="12700">
            <a:solidFill>
              <a:srgbClr val="F4EEE3"/>
            </a:solidFill>
            <a:prstDash val="solid"/>
          </a:ln>
        </p:spPr>
      </p:sp>
      <p:sp>
        <p:nvSpPr>
          <p:cNvPr id="5" name="Shape 3"/>
          <p:cNvSpPr/>
          <p:nvPr/>
        </p:nvSpPr>
        <p:spPr>
          <a:xfrm>
            <a:off x="8778240" y="3749040"/>
            <a:ext cx="640080" cy="640080"/>
          </a:xfrm>
          <a:prstGeom prst="rect">
            <a:avLst/>
          </a:prstGeom>
          <a:solidFill>
            <a:srgbClr val="C2432B"/>
          </a:solidFill>
          <a:ln w="12700">
            <a:solidFill>
              <a:srgbClr val="C2432B"/>
            </a:solidFill>
            <a:prstDash val="solid"/>
          </a:ln>
        </p:spPr>
      </p:sp>
      <p:sp>
        <p:nvSpPr>
          <p:cNvPr id="6" name="Shape 4"/>
          <p:cNvSpPr/>
          <p:nvPr/>
        </p:nvSpPr>
        <p:spPr>
          <a:xfrm>
            <a:off x="9418320" y="3749040"/>
            <a:ext cx="640080" cy="640080"/>
          </a:xfrm>
          <a:prstGeom prst="rect">
            <a:avLst/>
          </a:prstGeom>
          <a:solidFill>
            <a:srgbClr val="F4EEE3"/>
          </a:solidFill>
          <a:ln w="12700">
            <a:solidFill>
              <a:srgbClr val="F4EEE3"/>
            </a:solidFill>
            <a:prstDash val="solid"/>
          </a:ln>
        </p:spPr>
      </p:sp>
      <p:sp>
        <p:nvSpPr>
          <p:cNvPr id="7" name="Shape 5"/>
          <p:cNvSpPr/>
          <p:nvPr/>
        </p:nvSpPr>
        <p:spPr>
          <a:xfrm>
            <a:off x="10058400" y="3749040"/>
            <a:ext cx="640080" cy="640080"/>
          </a:xfrm>
          <a:prstGeom prst="rect">
            <a:avLst/>
          </a:prstGeom>
          <a:solidFill>
            <a:srgbClr val="C2432B"/>
          </a:solidFill>
          <a:ln w="12700">
            <a:solidFill>
              <a:srgbClr val="C2432B"/>
            </a:solidFill>
            <a:prstDash val="solid"/>
          </a:ln>
        </p:spPr>
      </p:sp>
      <p:sp>
        <p:nvSpPr>
          <p:cNvPr id="8" name="Shape 6"/>
          <p:cNvSpPr/>
          <p:nvPr/>
        </p:nvSpPr>
        <p:spPr>
          <a:xfrm>
            <a:off x="10698480" y="3749040"/>
            <a:ext cx="640080" cy="640080"/>
          </a:xfrm>
          <a:prstGeom prst="rect">
            <a:avLst/>
          </a:prstGeom>
          <a:solidFill>
            <a:srgbClr val="F4EEE3"/>
          </a:solidFill>
          <a:ln w="12700">
            <a:solidFill>
              <a:srgbClr val="F4EEE3"/>
            </a:solidFill>
            <a:prstDash val="solid"/>
          </a:ln>
        </p:spPr>
      </p:sp>
      <p:sp>
        <p:nvSpPr>
          <p:cNvPr id="9" name="Shape 7"/>
          <p:cNvSpPr/>
          <p:nvPr/>
        </p:nvSpPr>
        <p:spPr>
          <a:xfrm>
            <a:off x="7498080" y="4389120"/>
            <a:ext cx="640080" cy="640080"/>
          </a:xfrm>
          <a:prstGeom prst="rect">
            <a:avLst/>
          </a:prstGeom>
          <a:solidFill>
            <a:srgbClr val="F4EEE3"/>
          </a:solidFill>
          <a:ln w="12700">
            <a:solidFill>
              <a:srgbClr val="F4EEE3"/>
            </a:solidFill>
            <a:prstDash val="solid"/>
          </a:ln>
        </p:spPr>
      </p:sp>
      <p:sp>
        <p:nvSpPr>
          <p:cNvPr id="10" name="Shape 8"/>
          <p:cNvSpPr/>
          <p:nvPr/>
        </p:nvSpPr>
        <p:spPr>
          <a:xfrm>
            <a:off x="8138160" y="4389120"/>
            <a:ext cx="640080" cy="640080"/>
          </a:xfrm>
          <a:prstGeom prst="rect">
            <a:avLst/>
          </a:prstGeom>
          <a:solidFill>
            <a:srgbClr val="C2432B"/>
          </a:solidFill>
          <a:ln w="12700">
            <a:solidFill>
              <a:srgbClr val="C2432B"/>
            </a:solidFill>
            <a:prstDash val="solid"/>
          </a:ln>
        </p:spPr>
      </p:sp>
      <p:sp>
        <p:nvSpPr>
          <p:cNvPr id="11" name="Shape 9"/>
          <p:cNvSpPr/>
          <p:nvPr/>
        </p:nvSpPr>
        <p:spPr>
          <a:xfrm>
            <a:off x="8778240" y="4389120"/>
            <a:ext cx="640080" cy="640080"/>
          </a:xfrm>
          <a:prstGeom prst="rect">
            <a:avLst/>
          </a:prstGeom>
          <a:solidFill>
            <a:srgbClr val="F4EEE3"/>
          </a:solidFill>
          <a:ln w="12700">
            <a:solidFill>
              <a:srgbClr val="F4EEE3"/>
            </a:solidFill>
            <a:prstDash val="solid"/>
          </a:ln>
        </p:spPr>
      </p:sp>
      <p:sp>
        <p:nvSpPr>
          <p:cNvPr id="12" name="Shape 10"/>
          <p:cNvSpPr/>
          <p:nvPr/>
        </p:nvSpPr>
        <p:spPr>
          <a:xfrm>
            <a:off x="9418320" y="4389120"/>
            <a:ext cx="640080" cy="640080"/>
          </a:xfrm>
          <a:prstGeom prst="rect">
            <a:avLst/>
          </a:prstGeom>
          <a:solidFill>
            <a:srgbClr val="C2432B"/>
          </a:solidFill>
          <a:ln w="12700">
            <a:solidFill>
              <a:srgbClr val="C2432B"/>
            </a:solidFill>
            <a:prstDash val="solid"/>
          </a:ln>
        </p:spPr>
      </p:sp>
      <p:sp>
        <p:nvSpPr>
          <p:cNvPr id="13" name="Shape 11"/>
          <p:cNvSpPr/>
          <p:nvPr/>
        </p:nvSpPr>
        <p:spPr>
          <a:xfrm>
            <a:off x="10058400" y="4389120"/>
            <a:ext cx="640080" cy="640080"/>
          </a:xfrm>
          <a:prstGeom prst="rect">
            <a:avLst/>
          </a:prstGeom>
          <a:solidFill>
            <a:srgbClr val="F4EEE3"/>
          </a:solidFill>
          <a:ln w="12700">
            <a:solidFill>
              <a:srgbClr val="F4EEE3"/>
            </a:solidFill>
            <a:prstDash val="solid"/>
          </a:ln>
        </p:spPr>
      </p:sp>
      <p:sp>
        <p:nvSpPr>
          <p:cNvPr id="14" name="Shape 12"/>
          <p:cNvSpPr/>
          <p:nvPr/>
        </p:nvSpPr>
        <p:spPr>
          <a:xfrm>
            <a:off x="10698480" y="4389120"/>
            <a:ext cx="640080" cy="640080"/>
          </a:xfrm>
          <a:prstGeom prst="rect">
            <a:avLst/>
          </a:prstGeom>
          <a:solidFill>
            <a:srgbClr val="C2432B"/>
          </a:solidFill>
          <a:ln w="12700">
            <a:solidFill>
              <a:srgbClr val="C2432B"/>
            </a:solidFill>
            <a:prstDash val="solid"/>
          </a:ln>
        </p:spPr>
      </p:sp>
      <p:sp>
        <p:nvSpPr>
          <p:cNvPr id="15" name="Text 13"/>
          <p:cNvSpPr/>
          <p:nvPr/>
        </p:nvSpPr>
        <p:spPr>
          <a:xfrm>
            <a:off x="8229600" y="1920240"/>
            <a:ext cx="1645920" cy="1645920"/>
          </a:xfrm>
          <a:prstGeom prst="ellipse">
            <a:avLst/>
          </a:prstGeom>
          <a:solidFill>
            <a:srgbClr val="C8963A"/>
          </a:solidFill>
          <a:ln>
            <a:solidFill>
              <a:srgbClr val="C8963A"/>
            </a:solidFill>
          </a:ln>
        </p:spPr>
        <p:txBody>
          <a:bodyPr wrap="square" rtlCol="0" anchor="ctr"/>
          <a:lstStyle/>
          <a:p>
            <a:pPr marL="0" indent="0">
              <a:buNone/>
            </a:pPr>
            <a:endParaRPr lang="en-US" dirty="0"/>
          </a:p>
        </p:txBody>
      </p:sp>
      <p:sp>
        <p:nvSpPr>
          <p:cNvPr id="16" name="Text 14"/>
          <p:cNvSpPr/>
          <p:nvPr/>
        </p:nvSpPr>
        <p:spPr>
          <a:xfrm>
            <a:off x="8549640" y="2240280"/>
            <a:ext cx="1005840" cy="1005840"/>
          </a:xfrm>
          <a:prstGeom prst="ellipse">
            <a:avLst/>
          </a:prstGeom>
          <a:solidFill>
            <a:srgbClr val="F4EEE3"/>
          </a:solidFill>
          <a:ln>
            <a:solidFill>
              <a:srgbClr val="F4EEE3"/>
            </a:solidFill>
          </a:ln>
        </p:spPr>
        <p:txBody>
          <a:bodyPr wrap="square" rtlCol="0" anchor="ctr"/>
          <a:lstStyle/>
          <a:p>
            <a:pPr marL="0" indent="0">
              <a:buNone/>
            </a:pPr>
            <a:endParaRPr lang="en-US" dirty="0"/>
          </a:p>
        </p:txBody>
      </p:sp>
      <p:sp>
        <p:nvSpPr>
          <p:cNvPr id="17" name="Text 15"/>
          <p:cNvSpPr/>
          <p:nvPr/>
        </p:nvSpPr>
        <p:spPr>
          <a:xfrm>
            <a:off x="10058400" y="1737360"/>
            <a:ext cx="914400" cy="2011680"/>
          </a:xfrm>
          <a:prstGeom prst="triangle">
            <a:avLst/>
          </a:prstGeom>
          <a:solidFill>
            <a:srgbClr val="8FA593"/>
          </a:solidFill>
          <a:ln>
            <a:solidFill>
              <a:srgbClr val="8FA593"/>
            </a:solidFill>
          </a:ln>
        </p:spPr>
        <p:txBody>
          <a:bodyPr wrap="square" rtlCol="0" anchor="ctr"/>
          <a:lstStyle/>
          <a:p>
            <a:pPr marL="0" indent="0">
              <a:buNone/>
            </a:pPr>
            <a:endParaRPr lang="en-US" dirty="0"/>
          </a:p>
        </p:txBody>
      </p:sp>
      <p:sp>
        <p:nvSpPr>
          <p:cNvPr id="18" name="Text 16"/>
          <p:cNvSpPr/>
          <p:nvPr/>
        </p:nvSpPr>
        <p:spPr>
          <a:xfrm>
            <a:off x="640080" y="548640"/>
            <a:ext cx="3657600" cy="274320"/>
          </a:xfrm>
          <a:prstGeom prst="rect">
            <a:avLst/>
          </a:prstGeom>
          <a:noFill/>
          <a:ln/>
        </p:spPr>
        <p:txBody>
          <a:bodyPr wrap="square" lIns="0" tIns="0" rIns="0" bIns="0" rtlCol="0" anchor="ctr"/>
          <a:lstStyle/>
          <a:p>
            <a:pPr marL="0" indent="0">
              <a:buNone/>
            </a:pPr>
            <a:r>
              <a:rPr lang="en-US" sz="1000" b="1" kern="0" spc="500" dirty="0">
                <a:solidFill>
                  <a:srgbClr val="F4EEE3"/>
                </a:solidFill>
                <a:latin typeface="Montserrat" pitchFamily="34" charset="0"/>
                <a:ea typeface="Montserrat" pitchFamily="34" charset="-122"/>
                <a:cs typeface="Montserrat" pitchFamily="34" charset="-120"/>
              </a:rPr>
              <a:t>POPTABLES</a:t>
            </a:r>
            <a:endParaRPr lang="en-US" sz="1000" dirty="0"/>
          </a:p>
        </p:txBody>
      </p:sp>
      <p:sp>
        <p:nvSpPr>
          <p:cNvPr id="19" name="Titre"/>
          <p:cNvSpPr>
            <a:spLocks noGrp="1"/>
          </p:cNvSpPr>
          <p:nvPr>
            <p:ph type="title" idx="117" hasCustomPrompt="1"/>
          </p:nvPr>
        </p:nvSpPr>
        <p:spPr>
          <a:xfrm>
            <a:off x="640080" y="1828800"/>
            <a:ext cx="6309360" cy="2377440"/>
          </a:xfrm>
          <a:prstGeom prst="rect">
            <a:avLst/>
          </a:prstGeom>
          <a:noFill/>
          <a:ln/>
        </p:spPr>
        <p:txBody>
          <a:bodyPr wrap="square" rtlCol="0"/>
          <a:lstStyle>
            <a:lvl1pPr marL="0" indent="0" algn="l">
              <a:buNone/>
              <a:defRPr lang="en-US" sz="4800" dirty="0">
                <a:solidFill>
                  <a:srgbClr val="F4EEE3"/>
                </a:solidFill>
                <a:latin typeface="Playfair Display" pitchFamily="34" charset="0"/>
                <a:ea typeface="Playfair Display" pitchFamily="34" charset="-122"/>
                <a:cs typeface="Playfair Display" pitchFamily="34" charset="-120"/>
              </a:defRPr>
            </a:lvl1pPr>
          </a:lstStyle>
          <a:p>
            <a:pPr marL="0" indent="0" algn="l">
              <a:buNone/>
            </a:pPr>
            <a:r>
              <a:rPr lang="en-US" sz="4800" dirty="0">
                <a:solidFill>
                  <a:srgbClr val="F4EEE3"/>
                </a:solidFill>
                <a:latin typeface="Playfair Display" pitchFamily="34" charset="0"/>
                <a:ea typeface="Playfair Display" pitchFamily="34" charset="-122"/>
                <a:cs typeface="Playfair Display" pitchFamily="34" charset="-120"/>
              </a:rPr>
              <a:t>Titre de la présentation</a:t>
            </a:r>
            <a:endParaRPr lang="en-US" sz="4800" dirty="0"/>
          </a:p>
        </p:txBody>
      </p:sp>
      <p:sp>
        <p:nvSpPr>
          <p:cNvPr id="20" name="Sous-titre"/>
          <p:cNvSpPr>
            <a:spLocks noGrp="1"/>
          </p:cNvSpPr>
          <p:nvPr>
            <p:ph type="body" idx="118" hasCustomPrompt="1"/>
          </p:nvPr>
        </p:nvSpPr>
        <p:spPr>
          <a:xfrm>
            <a:off x="640080" y="4434840"/>
            <a:ext cx="6035040" cy="822960"/>
          </a:xfrm>
          <a:prstGeom prst="rect">
            <a:avLst/>
          </a:prstGeom>
          <a:noFill/>
          <a:ln/>
        </p:spPr>
        <p:txBody>
          <a:bodyPr wrap="square" rtlCol="0"/>
          <a:lstStyle>
            <a:lvl1pPr marL="0" indent="0" algn="l">
              <a:buNone/>
              <a:defRPr lang="en-US" sz="1500" dirty="0">
                <a:solidFill>
                  <a:srgbClr val="D9D2E3"/>
                </a:solidFill>
                <a:latin typeface="Montserrat" pitchFamily="34" charset="0"/>
                <a:ea typeface="Montserrat" pitchFamily="34" charset="-122"/>
                <a:cs typeface="Montserrat" pitchFamily="34" charset="-120"/>
              </a:defRPr>
            </a:lvl1pPr>
          </a:lstStyle>
          <a:p>
            <a:pPr marL="0" indent="0" algn="l">
              <a:buNone/>
            </a:pPr>
            <a:r>
              <a:rPr lang="en-US" sz="1500" dirty="0">
                <a:solidFill>
                  <a:srgbClr val="D9D2E3"/>
                </a:solidFill>
                <a:latin typeface="Montserrat" pitchFamily="34" charset="0"/>
                <a:ea typeface="Montserrat" pitchFamily="34" charset="-122"/>
                <a:cs typeface="Montserrat" pitchFamily="34" charset="-120"/>
              </a:rPr>
              <a:t>Sous-titre ou promesse</a:t>
            </a:r>
            <a:endParaRPr lang="en-US" sz="1500" dirty="0"/>
          </a:p>
        </p:txBody>
      </p:sp>
      <p:sp>
        <p:nvSpPr>
          <p:cNvPr id="21" name="Date"/>
          <p:cNvSpPr>
            <a:spLocks noGrp="1"/>
          </p:cNvSpPr>
          <p:nvPr>
            <p:ph type="body" idx="119" hasCustomPrompt="1"/>
          </p:nvPr>
        </p:nvSpPr>
        <p:spPr>
          <a:xfrm>
            <a:off x="640080" y="6035040"/>
            <a:ext cx="4572000" cy="274320"/>
          </a:xfrm>
          <a:prstGeom prst="rect">
            <a:avLst/>
          </a:prstGeom>
          <a:noFill/>
          <a:ln/>
        </p:spPr>
        <p:txBody>
          <a:bodyPr wrap="square" rtlCol="0"/>
          <a:lstStyle>
            <a:lvl1pPr marL="0" indent="0" algn="l">
              <a:buNone/>
              <a:defRPr lang="en-US" sz="900" b="1" kern="0" spc="300" dirty="0">
                <a:solidFill>
                  <a:srgbClr val="C8963A"/>
                </a:solidFill>
                <a:latin typeface="Montserrat" pitchFamily="34" charset="0"/>
                <a:ea typeface="Montserrat" pitchFamily="34" charset="-122"/>
                <a:cs typeface="Montserrat" pitchFamily="34" charset="-120"/>
              </a:defRPr>
            </a:lvl1pPr>
          </a:lstStyle>
          <a:p>
            <a:pPr marL="0" indent="0" algn="l">
              <a:buNone/>
            </a:pPr>
            <a:r>
              <a:rPr lang="en-US" sz="900" b="1" kern="0" spc="300" dirty="0">
                <a:solidFill>
                  <a:srgbClr val="C8963A"/>
                </a:solidFill>
                <a:latin typeface="Montserrat" pitchFamily="34" charset="0"/>
                <a:ea typeface="Montserrat" pitchFamily="34" charset="-122"/>
                <a:cs typeface="Montserrat" pitchFamily="34" charset="-120"/>
              </a:rPr>
              <a:t>LIEU · DATE</a:t>
            </a:r>
            <a:endParaRPr lang="en-US" sz="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03 Sommaire">
    <p:bg>
      <p:bgPr>
        <a:solidFill>
          <a:srgbClr val="F4EEE3"/>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marL="0" indent="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hape 6"/>
          <p:cNvSpPr/>
          <p:nvPr/>
        </p:nvSpPr>
        <p:spPr>
          <a:xfrm>
            <a:off x="0" y="914400"/>
            <a:ext cx="4206240" cy="5120640"/>
          </a:xfrm>
          <a:prstGeom prst="rect">
            <a:avLst/>
          </a:prstGeom>
          <a:solidFill>
            <a:srgbClr val="EAE1D0"/>
          </a:solidFill>
          <a:ln w="12700">
            <a:solidFill>
              <a:srgbClr val="EAE1D0"/>
            </a:solidFill>
            <a:prstDash val="solid"/>
          </a:ln>
        </p:spPr>
      </p:sp>
      <p:sp>
        <p:nvSpPr>
          <p:cNvPr id="9" name="Titre"/>
          <p:cNvSpPr>
            <a:spLocks noGrp="1"/>
          </p:cNvSpPr>
          <p:nvPr>
            <p:ph type="title" idx="107" hasCustomPrompt="1"/>
          </p:nvPr>
        </p:nvSpPr>
        <p:spPr>
          <a:xfrm>
            <a:off x="640080" y="1371600"/>
            <a:ext cx="3200400" cy="1097280"/>
          </a:xfrm>
          <a:prstGeom prst="rect">
            <a:avLst/>
          </a:prstGeom>
          <a:noFill/>
          <a:ln/>
        </p:spPr>
        <p:txBody>
          <a:bodyPr wrap="square" rtlCol="0"/>
          <a:lstStyle>
            <a:lvl1pPr marL="0" indent="0" algn="l">
              <a:buNone/>
              <a:defRPr lang="en-US" sz="4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4000" dirty="0">
                <a:solidFill>
                  <a:srgbClr val="1E1B2E"/>
                </a:solidFill>
                <a:latin typeface="Playfair Display" pitchFamily="34" charset="0"/>
                <a:ea typeface="Playfair Display" pitchFamily="34" charset="-122"/>
                <a:cs typeface="Playfair Display" pitchFamily="34" charset="-120"/>
              </a:rPr>
              <a:t>Sommaire</a:t>
            </a:r>
            <a:endParaRPr lang="en-US" sz="4000" dirty="0"/>
          </a:p>
        </p:txBody>
      </p:sp>
      <p:sp>
        <p:nvSpPr>
          <p:cNvPr id="10" name="Shape 7"/>
          <p:cNvSpPr/>
          <p:nvPr/>
        </p:nvSpPr>
        <p:spPr>
          <a:xfrm>
            <a:off x="640080" y="2606040"/>
            <a:ext cx="548640" cy="54864"/>
          </a:xfrm>
          <a:prstGeom prst="rect">
            <a:avLst/>
          </a:prstGeom>
          <a:solidFill>
            <a:srgbClr val="C2432B"/>
          </a:solidFill>
          <a:ln w="12700">
            <a:solidFill>
              <a:srgbClr val="C2432B"/>
            </a:solidFill>
            <a:prstDash val="solid"/>
          </a:ln>
        </p:spPr>
      </p:sp>
      <p:sp>
        <p:nvSpPr>
          <p:cNvPr id="11" name="Sommaire"/>
          <p:cNvSpPr>
            <a:spLocks noGrp="1"/>
          </p:cNvSpPr>
          <p:nvPr>
            <p:ph type="body" idx="109" hasCustomPrompt="1"/>
          </p:nvPr>
        </p:nvSpPr>
        <p:spPr>
          <a:xfrm>
            <a:off x="4937760" y="1325880"/>
            <a:ext cx="6583680" cy="4663440"/>
          </a:xfrm>
          <a:prstGeom prst="rect">
            <a:avLst/>
          </a:prstGeom>
          <a:noFill/>
          <a:ln/>
        </p:spPr>
        <p:txBody>
          <a:bodyPr wrap="square" rtlCol="0"/>
          <a:lstStyle>
            <a:lvl1pPr marL="0" indent="0" algn="l">
              <a:lnSpc>
                <a:spcPct val="135000"/>
              </a:lnSpc>
              <a:buNone/>
              <a:defRPr lang="en-US" sz="2000" dirty="0">
                <a:solidFill>
                  <a:srgbClr val="1E1B2E"/>
                </a:solidFill>
                <a:latin typeface="Playfair Display" pitchFamily="34" charset="0"/>
                <a:ea typeface="Playfair Display" pitchFamily="34" charset="-122"/>
                <a:cs typeface="Playfair Display" pitchFamily="34" charset="-120"/>
              </a:defRPr>
            </a:lvl1pPr>
          </a:lstStyle>
          <a:p>
            <a:pPr marL="0" indent="0" algn="l">
              <a:lnSpc>
                <a:spcPct val="135000"/>
              </a:lnSpc>
              <a:buNone/>
            </a:pPr>
            <a:r>
              <a:rPr lang="en-US" sz="2000" dirty="0">
                <a:solidFill>
                  <a:srgbClr val="1E1B2E"/>
                </a:solidFill>
                <a:latin typeface="Playfair Display" pitchFamily="34" charset="0"/>
                <a:ea typeface="Playfair Display" pitchFamily="34" charset="-122"/>
                <a:cs typeface="Playfair Display" pitchFamily="34" charset="-120"/>
              </a:rPr>
              <a:t>Cliquez pour ajouter du texte</a:t>
            </a:r>
            <a:endParaRPr lang="en-US" sz="20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04 Intercalaire de section">
    <p:bg>
      <p:bgPr>
        <a:solidFill>
          <a:srgbClr val="1E1B2E"/>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F4EEE3"/>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8FA593"/>
          </a:solidFill>
          <a:ln>
            <a:solidFill>
              <a:srgbClr val="8FA593"/>
            </a:solidFill>
          </a:ln>
        </p:spPr>
        <p:txBody>
          <a:bodyPr wrap="square" rtlCol="0" anchor="ctr"/>
          <a:lstStyle/>
          <a:p>
            <a:pPr marL="0" indent="0">
              <a:buNone/>
            </a:pPr>
            <a:endParaRPr lang="en-US" dirty="0"/>
          </a:p>
        </p:txBody>
      </p:sp>
      <p:sp>
        <p:nvSpPr>
          <p:cNvPr id="6" name="Shape 4"/>
          <p:cNvSpPr/>
          <p:nvPr/>
        </p:nvSpPr>
        <p:spPr>
          <a:xfrm>
            <a:off x="10911535" y="0"/>
            <a:ext cx="640080" cy="640080"/>
          </a:xfrm>
          <a:prstGeom prst="rect">
            <a:avLst/>
          </a:prstGeom>
          <a:solidFill>
            <a:srgbClr val="2A2640"/>
          </a:solidFill>
          <a:ln w="12700">
            <a:solidFill>
              <a:srgbClr val="2A2640"/>
            </a:solidFill>
            <a:prstDash val="solid"/>
          </a:ln>
        </p:spPr>
      </p:sp>
      <p:sp>
        <p:nvSpPr>
          <p:cNvPr id="7" name="Shape 5"/>
          <p:cNvSpPr/>
          <p:nvPr/>
        </p:nvSpPr>
        <p:spPr>
          <a:xfrm>
            <a:off x="11551615" y="0"/>
            <a:ext cx="640080" cy="640080"/>
          </a:xfrm>
          <a:prstGeom prst="rect">
            <a:avLst/>
          </a:prstGeom>
          <a:solidFill>
            <a:srgbClr val="C2432B"/>
          </a:solidFill>
          <a:ln w="12700">
            <a:solidFill>
              <a:srgbClr val="C2432B"/>
            </a:solidFill>
            <a:prstDash val="solid"/>
          </a:ln>
        </p:spPr>
      </p:sp>
      <p:sp>
        <p:nvSpPr>
          <p:cNvPr id="8" name="Shape 6"/>
          <p:cNvSpPr/>
          <p:nvPr/>
        </p:nvSpPr>
        <p:spPr>
          <a:xfrm>
            <a:off x="10911535" y="640080"/>
            <a:ext cx="640080" cy="640080"/>
          </a:xfrm>
          <a:prstGeom prst="rect">
            <a:avLst/>
          </a:prstGeom>
          <a:solidFill>
            <a:srgbClr val="C2432B"/>
          </a:solidFill>
          <a:ln w="12700">
            <a:solidFill>
              <a:srgbClr val="C2432B"/>
            </a:solidFill>
            <a:prstDash val="solid"/>
          </a:ln>
        </p:spPr>
      </p:sp>
      <p:sp>
        <p:nvSpPr>
          <p:cNvPr id="9" name="Shape 7"/>
          <p:cNvSpPr/>
          <p:nvPr/>
        </p:nvSpPr>
        <p:spPr>
          <a:xfrm>
            <a:off x="11551615" y="640080"/>
            <a:ext cx="640080" cy="640080"/>
          </a:xfrm>
          <a:prstGeom prst="rect">
            <a:avLst/>
          </a:prstGeom>
          <a:solidFill>
            <a:srgbClr val="2A2640"/>
          </a:solidFill>
          <a:ln w="12700">
            <a:solidFill>
              <a:srgbClr val="2A2640"/>
            </a:solidFill>
            <a:prstDash val="solid"/>
          </a:ln>
        </p:spPr>
      </p:sp>
      <p:sp>
        <p:nvSpPr>
          <p:cNvPr id="10" name="Shape 8"/>
          <p:cNvSpPr/>
          <p:nvPr/>
        </p:nvSpPr>
        <p:spPr>
          <a:xfrm>
            <a:off x="10911535" y="1280160"/>
            <a:ext cx="640080" cy="640080"/>
          </a:xfrm>
          <a:prstGeom prst="rect">
            <a:avLst/>
          </a:prstGeom>
          <a:solidFill>
            <a:srgbClr val="2A2640"/>
          </a:solidFill>
          <a:ln w="12700">
            <a:solidFill>
              <a:srgbClr val="2A2640"/>
            </a:solidFill>
            <a:prstDash val="solid"/>
          </a:ln>
        </p:spPr>
      </p:sp>
      <p:sp>
        <p:nvSpPr>
          <p:cNvPr id="11" name="Shape 9"/>
          <p:cNvSpPr/>
          <p:nvPr/>
        </p:nvSpPr>
        <p:spPr>
          <a:xfrm>
            <a:off x="11551615" y="1280160"/>
            <a:ext cx="640080" cy="640080"/>
          </a:xfrm>
          <a:prstGeom prst="rect">
            <a:avLst/>
          </a:prstGeom>
          <a:solidFill>
            <a:srgbClr val="C2432B"/>
          </a:solidFill>
          <a:ln w="12700">
            <a:solidFill>
              <a:srgbClr val="C2432B"/>
            </a:solidFill>
            <a:prstDash val="solid"/>
          </a:ln>
        </p:spPr>
      </p:sp>
      <p:sp>
        <p:nvSpPr>
          <p:cNvPr id="12" name="Shape 10"/>
          <p:cNvSpPr/>
          <p:nvPr/>
        </p:nvSpPr>
        <p:spPr>
          <a:xfrm>
            <a:off x="10911535" y="1920240"/>
            <a:ext cx="640080" cy="640080"/>
          </a:xfrm>
          <a:prstGeom prst="rect">
            <a:avLst/>
          </a:prstGeom>
          <a:solidFill>
            <a:srgbClr val="C2432B"/>
          </a:solidFill>
          <a:ln w="12700">
            <a:solidFill>
              <a:srgbClr val="C2432B"/>
            </a:solidFill>
            <a:prstDash val="solid"/>
          </a:ln>
        </p:spPr>
      </p:sp>
      <p:sp>
        <p:nvSpPr>
          <p:cNvPr id="13" name="Shape 11"/>
          <p:cNvSpPr/>
          <p:nvPr/>
        </p:nvSpPr>
        <p:spPr>
          <a:xfrm>
            <a:off x="11551615" y="1920240"/>
            <a:ext cx="640080" cy="640080"/>
          </a:xfrm>
          <a:prstGeom prst="rect">
            <a:avLst/>
          </a:prstGeom>
          <a:solidFill>
            <a:srgbClr val="2A2640"/>
          </a:solidFill>
          <a:ln w="12700">
            <a:solidFill>
              <a:srgbClr val="2A2640"/>
            </a:solidFill>
            <a:prstDash val="solid"/>
          </a:ln>
        </p:spPr>
      </p:sp>
      <p:sp>
        <p:nvSpPr>
          <p:cNvPr id="14" name="Shape 12"/>
          <p:cNvSpPr/>
          <p:nvPr/>
        </p:nvSpPr>
        <p:spPr>
          <a:xfrm>
            <a:off x="10911535" y="2560320"/>
            <a:ext cx="640080" cy="640080"/>
          </a:xfrm>
          <a:prstGeom prst="rect">
            <a:avLst/>
          </a:prstGeom>
          <a:solidFill>
            <a:srgbClr val="2A2640"/>
          </a:solidFill>
          <a:ln w="12700">
            <a:solidFill>
              <a:srgbClr val="2A2640"/>
            </a:solidFill>
            <a:prstDash val="solid"/>
          </a:ln>
        </p:spPr>
      </p:sp>
      <p:sp>
        <p:nvSpPr>
          <p:cNvPr id="15" name="Shape 13"/>
          <p:cNvSpPr/>
          <p:nvPr/>
        </p:nvSpPr>
        <p:spPr>
          <a:xfrm>
            <a:off x="11551615" y="2560320"/>
            <a:ext cx="640080" cy="640080"/>
          </a:xfrm>
          <a:prstGeom prst="rect">
            <a:avLst/>
          </a:prstGeom>
          <a:solidFill>
            <a:srgbClr val="C2432B"/>
          </a:solidFill>
          <a:ln w="12700">
            <a:solidFill>
              <a:srgbClr val="C2432B"/>
            </a:solidFill>
            <a:prstDash val="solid"/>
          </a:ln>
        </p:spPr>
      </p:sp>
      <p:sp>
        <p:nvSpPr>
          <p:cNvPr id="16" name="Shape 14"/>
          <p:cNvSpPr/>
          <p:nvPr/>
        </p:nvSpPr>
        <p:spPr>
          <a:xfrm>
            <a:off x="10911535" y="3200400"/>
            <a:ext cx="640080" cy="640080"/>
          </a:xfrm>
          <a:prstGeom prst="rect">
            <a:avLst/>
          </a:prstGeom>
          <a:solidFill>
            <a:srgbClr val="C2432B"/>
          </a:solidFill>
          <a:ln w="12700">
            <a:solidFill>
              <a:srgbClr val="C2432B"/>
            </a:solidFill>
            <a:prstDash val="solid"/>
          </a:ln>
        </p:spPr>
      </p:sp>
      <p:sp>
        <p:nvSpPr>
          <p:cNvPr id="17" name="Shape 15"/>
          <p:cNvSpPr/>
          <p:nvPr/>
        </p:nvSpPr>
        <p:spPr>
          <a:xfrm>
            <a:off x="11551615" y="3200400"/>
            <a:ext cx="640080" cy="640080"/>
          </a:xfrm>
          <a:prstGeom prst="rect">
            <a:avLst/>
          </a:prstGeom>
          <a:solidFill>
            <a:srgbClr val="2A2640"/>
          </a:solidFill>
          <a:ln w="12700">
            <a:solidFill>
              <a:srgbClr val="2A2640"/>
            </a:solidFill>
            <a:prstDash val="solid"/>
          </a:ln>
        </p:spPr>
      </p:sp>
      <p:sp>
        <p:nvSpPr>
          <p:cNvPr id="18" name="Shape 16"/>
          <p:cNvSpPr/>
          <p:nvPr/>
        </p:nvSpPr>
        <p:spPr>
          <a:xfrm>
            <a:off x="10911535" y="3840480"/>
            <a:ext cx="640080" cy="640080"/>
          </a:xfrm>
          <a:prstGeom prst="rect">
            <a:avLst/>
          </a:prstGeom>
          <a:solidFill>
            <a:srgbClr val="2A2640"/>
          </a:solidFill>
          <a:ln w="12700">
            <a:solidFill>
              <a:srgbClr val="2A2640"/>
            </a:solidFill>
            <a:prstDash val="solid"/>
          </a:ln>
        </p:spPr>
      </p:sp>
      <p:sp>
        <p:nvSpPr>
          <p:cNvPr id="19" name="Shape 17"/>
          <p:cNvSpPr/>
          <p:nvPr/>
        </p:nvSpPr>
        <p:spPr>
          <a:xfrm>
            <a:off x="11551615" y="3840480"/>
            <a:ext cx="640080" cy="640080"/>
          </a:xfrm>
          <a:prstGeom prst="rect">
            <a:avLst/>
          </a:prstGeom>
          <a:solidFill>
            <a:srgbClr val="C2432B"/>
          </a:solidFill>
          <a:ln w="12700">
            <a:solidFill>
              <a:srgbClr val="C2432B"/>
            </a:solidFill>
            <a:prstDash val="solid"/>
          </a:ln>
        </p:spPr>
      </p:sp>
      <p:sp>
        <p:nvSpPr>
          <p:cNvPr id="20" name="Shape 18"/>
          <p:cNvSpPr/>
          <p:nvPr/>
        </p:nvSpPr>
        <p:spPr>
          <a:xfrm>
            <a:off x="10911535" y="4480560"/>
            <a:ext cx="640080" cy="640080"/>
          </a:xfrm>
          <a:prstGeom prst="rect">
            <a:avLst/>
          </a:prstGeom>
          <a:solidFill>
            <a:srgbClr val="C2432B"/>
          </a:solidFill>
          <a:ln w="12700">
            <a:solidFill>
              <a:srgbClr val="C2432B"/>
            </a:solidFill>
            <a:prstDash val="solid"/>
          </a:ln>
        </p:spPr>
      </p:sp>
      <p:sp>
        <p:nvSpPr>
          <p:cNvPr id="21" name="Shape 19"/>
          <p:cNvSpPr/>
          <p:nvPr/>
        </p:nvSpPr>
        <p:spPr>
          <a:xfrm>
            <a:off x="11551615" y="4480560"/>
            <a:ext cx="640080" cy="640080"/>
          </a:xfrm>
          <a:prstGeom prst="rect">
            <a:avLst/>
          </a:prstGeom>
          <a:solidFill>
            <a:srgbClr val="2A2640"/>
          </a:solidFill>
          <a:ln w="12700">
            <a:solidFill>
              <a:srgbClr val="2A2640"/>
            </a:solidFill>
            <a:prstDash val="solid"/>
          </a:ln>
        </p:spPr>
      </p:sp>
      <p:sp>
        <p:nvSpPr>
          <p:cNvPr id="22" name="Shape 20"/>
          <p:cNvSpPr/>
          <p:nvPr/>
        </p:nvSpPr>
        <p:spPr>
          <a:xfrm>
            <a:off x="10911535" y="5120640"/>
            <a:ext cx="640080" cy="640080"/>
          </a:xfrm>
          <a:prstGeom prst="rect">
            <a:avLst/>
          </a:prstGeom>
          <a:solidFill>
            <a:srgbClr val="2A2640"/>
          </a:solidFill>
          <a:ln w="12700">
            <a:solidFill>
              <a:srgbClr val="2A2640"/>
            </a:solidFill>
            <a:prstDash val="solid"/>
          </a:ln>
        </p:spPr>
      </p:sp>
      <p:sp>
        <p:nvSpPr>
          <p:cNvPr id="23" name="Shape 21"/>
          <p:cNvSpPr/>
          <p:nvPr/>
        </p:nvSpPr>
        <p:spPr>
          <a:xfrm>
            <a:off x="11551615" y="5120640"/>
            <a:ext cx="640080" cy="640080"/>
          </a:xfrm>
          <a:prstGeom prst="rect">
            <a:avLst/>
          </a:prstGeom>
          <a:solidFill>
            <a:srgbClr val="C2432B"/>
          </a:solidFill>
          <a:ln w="12700">
            <a:solidFill>
              <a:srgbClr val="C2432B"/>
            </a:solidFill>
            <a:prstDash val="solid"/>
          </a:ln>
        </p:spPr>
      </p:sp>
      <p:sp>
        <p:nvSpPr>
          <p:cNvPr id="24" name="Shape 22"/>
          <p:cNvSpPr/>
          <p:nvPr/>
        </p:nvSpPr>
        <p:spPr>
          <a:xfrm>
            <a:off x="10911535" y="5760720"/>
            <a:ext cx="640080" cy="640080"/>
          </a:xfrm>
          <a:prstGeom prst="rect">
            <a:avLst/>
          </a:prstGeom>
          <a:solidFill>
            <a:srgbClr val="C2432B"/>
          </a:solidFill>
          <a:ln w="12700">
            <a:solidFill>
              <a:srgbClr val="C2432B"/>
            </a:solidFill>
            <a:prstDash val="solid"/>
          </a:ln>
        </p:spPr>
      </p:sp>
      <p:sp>
        <p:nvSpPr>
          <p:cNvPr id="25" name="Shape 23"/>
          <p:cNvSpPr/>
          <p:nvPr/>
        </p:nvSpPr>
        <p:spPr>
          <a:xfrm>
            <a:off x="11551615" y="5760720"/>
            <a:ext cx="640080" cy="640080"/>
          </a:xfrm>
          <a:prstGeom prst="rect">
            <a:avLst/>
          </a:prstGeom>
          <a:solidFill>
            <a:srgbClr val="2A2640"/>
          </a:solidFill>
          <a:ln w="12700">
            <a:solidFill>
              <a:srgbClr val="2A2640"/>
            </a:solidFill>
            <a:prstDash val="solid"/>
          </a:ln>
        </p:spPr>
      </p:sp>
      <p:sp>
        <p:nvSpPr>
          <p:cNvPr id="26" name="Shape 24"/>
          <p:cNvSpPr/>
          <p:nvPr/>
        </p:nvSpPr>
        <p:spPr>
          <a:xfrm>
            <a:off x="10911535" y="6400800"/>
            <a:ext cx="640080" cy="640080"/>
          </a:xfrm>
          <a:prstGeom prst="rect">
            <a:avLst/>
          </a:prstGeom>
          <a:solidFill>
            <a:srgbClr val="2A2640"/>
          </a:solidFill>
          <a:ln w="12700">
            <a:solidFill>
              <a:srgbClr val="2A2640"/>
            </a:solidFill>
            <a:prstDash val="solid"/>
          </a:ln>
        </p:spPr>
      </p:sp>
      <p:sp>
        <p:nvSpPr>
          <p:cNvPr id="27" name="Shape 25"/>
          <p:cNvSpPr/>
          <p:nvPr/>
        </p:nvSpPr>
        <p:spPr>
          <a:xfrm>
            <a:off x="11551615" y="6400800"/>
            <a:ext cx="640080" cy="640080"/>
          </a:xfrm>
          <a:prstGeom prst="rect">
            <a:avLst/>
          </a:prstGeom>
          <a:solidFill>
            <a:srgbClr val="C2432B"/>
          </a:solidFill>
          <a:ln w="12700">
            <a:solidFill>
              <a:srgbClr val="C2432B"/>
            </a:solidFill>
            <a:prstDash val="solid"/>
          </a:ln>
        </p:spPr>
      </p:sp>
      <p:sp>
        <p:nvSpPr>
          <p:cNvPr id="28" name="Numéro"/>
          <p:cNvSpPr>
            <a:spLocks noGrp="1"/>
          </p:cNvSpPr>
          <p:nvPr>
            <p:ph type="body" idx="126" hasCustomPrompt="1"/>
          </p:nvPr>
        </p:nvSpPr>
        <p:spPr>
          <a:xfrm>
            <a:off x="640080" y="1280160"/>
            <a:ext cx="3657600" cy="1737360"/>
          </a:xfrm>
          <a:prstGeom prst="rect">
            <a:avLst/>
          </a:prstGeom>
          <a:noFill/>
          <a:ln/>
        </p:spPr>
        <p:txBody>
          <a:bodyPr wrap="square" rtlCol="0"/>
          <a:lstStyle>
            <a:lvl1pPr marL="0" indent="0" algn="l">
              <a:buNone/>
              <a:defRPr lang="en-US" sz="11000" dirty="0">
                <a:solidFill>
                  <a:srgbClr val="C2432B"/>
                </a:solidFill>
                <a:latin typeface="Playfair Display" pitchFamily="34" charset="0"/>
                <a:ea typeface="Playfair Display" pitchFamily="34" charset="-122"/>
                <a:cs typeface="Playfair Display" pitchFamily="34" charset="-120"/>
              </a:defRPr>
            </a:lvl1pPr>
          </a:lstStyle>
          <a:p>
            <a:pPr marL="0" indent="0" algn="l">
              <a:buNone/>
            </a:pPr>
            <a:r>
              <a:rPr lang="en-US" sz="11000" dirty="0">
                <a:solidFill>
                  <a:srgbClr val="C2432B"/>
                </a:solidFill>
                <a:latin typeface="Playfair Display" pitchFamily="34" charset="0"/>
                <a:ea typeface="Playfair Display" pitchFamily="34" charset="-122"/>
                <a:cs typeface="Playfair Display" pitchFamily="34" charset="-120"/>
              </a:rPr>
              <a:t>01</a:t>
            </a:r>
            <a:endParaRPr lang="en-US" sz="11000" dirty="0"/>
          </a:p>
        </p:txBody>
      </p:sp>
      <p:sp>
        <p:nvSpPr>
          <p:cNvPr id="29" name="Shape 26"/>
          <p:cNvSpPr/>
          <p:nvPr/>
        </p:nvSpPr>
        <p:spPr>
          <a:xfrm>
            <a:off x="640080" y="3291840"/>
            <a:ext cx="731520" cy="54864"/>
          </a:xfrm>
          <a:prstGeom prst="rect">
            <a:avLst/>
          </a:prstGeom>
          <a:solidFill>
            <a:srgbClr val="C8963A"/>
          </a:solidFill>
          <a:ln w="12700">
            <a:solidFill>
              <a:srgbClr val="C8963A"/>
            </a:solidFill>
            <a:prstDash val="solid"/>
          </a:ln>
        </p:spPr>
      </p:sp>
      <p:sp>
        <p:nvSpPr>
          <p:cNvPr id="30" name="Titre"/>
          <p:cNvSpPr>
            <a:spLocks noGrp="1"/>
          </p:cNvSpPr>
          <p:nvPr>
            <p:ph type="title" idx="128" hasCustomPrompt="1"/>
          </p:nvPr>
        </p:nvSpPr>
        <p:spPr>
          <a:xfrm>
            <a:off x="640080" y="3566160"/>
            <a:ext cx="8778240" cy="1554480"/>
          </a:xfrm>
          <a:prstGeom prst="rect">
            <a:avLst/>
          </a:prstGeom>
          <a:noFill/>
          <a:ln/>
        </p:spPr>
        <p:txBody>
          <a:bodyPr wrap="square" rtlCol="0"/>
          <a:lstStyle>
            <a:lvl1pPr marL="0" indent="0" algn="l">
              <a:buNone/>
              <a:defRPr lang="en-US" sz="4000" dirty="0">
                <a:solidFill>
                  <a:srgbClr val="F4EEE3"/>
                </a:solidFill>
                <a:latin typeface="Playfair Display" pitchFamily="34" charset="0"/>
                <a:ea typeface="Playfair Display" pitchFamily="34" charset="-122"/>
                <a:cs typeface="Playfair Display" pitchFamily="34" charset="-120"/>
              </a:defRPr>
            </a:lvl1pPr>
          </a:lstStyle>
          <a:p>
            <a:pPr marL="0" indent="0" algn="l">
              <a:buNone/>
            </a:pPr>
            <a:r>
              <a:rPr lang="en-US" sz="4000" dirty="0">
                <a:solidFill>
                  <a:srgbClr val="F4EEE3"/>
                </a:solidFill>
                <a:latin typeface="Playfair Display" pitchFamily="34" charset="0"/>
                <a:ea typeface="Playfair Display" pitchFamily="34" charset="-122"/>
                <a:cs typeface="Playfair Display" pitchFamily="34" charset="-120"/>
              </a:rPr>
              <a:t>Titre de la section</a:t>
            </a:r>
            <a:endParaRPr lang="en-US" sz="4000" dirty="0"/>
          </a:p>
        </p:txBody>
      </p:sp>
      <p:sp>
        <p:nvSpPr>
          <p:cNvPr id="31" name="Sous-titre"/>
          <p:cNvSpPr>
            <a:spLocks noGrp="1"/>
          </p:cNvSpPr>
          <p:nvPr>
            <p:ph type="body" idx="129" hasCustomPrompt="1"/>
          </p:nvPr>
        </p:nvSpPr>
        <p:spPr>
          <a:xfrm>
            <a:off x="640080" y="5212080"/>
            <a:ext cx="8412480" cy="731520"/>
          </a:xfrm>
          <a:prstGeom prst="rect">
            <a:avLst/>
          </a:prstGeom>
          <a:noFill/>
          <a:ln/>
        </p:spPr>
        <p:txBody>
          <a:bodyPr wrap="square" rtlCol="0"/>
          <a:lstStyle>
            <a:lvl1pPr marL="0" indent="0" algn="l">
              <a:buNone/>
              <a:defRPr lang="en-US" sz="1400" dirty="0">
                <a:solidFill>
                  <a:srgbClr val="D9D2E3"/>
                </a:solidFill>
                <a:latin typeface="Montserrat" pitchFamily="34" charset="0"/>
                <a:ea typeface="Montserrat" pitchFamily="34" charset="-122"/>
                <a:cs typeface="Montserrat" pitchFamily="34" charset="-120"/>
              </a:defRPr>
            </a:lvl1pPr>
          </a:lstStyle>
          <a:p>
            <a:pPr marL="0" indent="0" algn="l">
              <a:buNone/>
            </a:pPr>
            <a:r>
              <a:rPr lang="en-US" sz="1400" dirty="0">
                <a:solidFill>
                  <a:srgbClr val="D9D2E3"/>
                </a:solidFill>
                <a:latin typeface="Montserrat" pitchFamily="34" charset="0"/>
                <a:ea typeface="Montserrat" pitchFamily="34" charset="-122"/>
                <a:cs typeface="Montserrat" pitchFamily="34" charset="-120"/>
              </a:rPr>
              <a:t>Une phrase pour annoncer la section</a:t>
            </a:r>
            <a:endParaRPr lang="en-US" sz="14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05 Titre et texte">
    <p:bg>
      <p:bgPr>
        <a:solidFill>
          <a:srgbClr val="F4EEE3"/>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marL="0" indent="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a:spLocks noGrp="1"/>
          </p:cNvSpPr>
          <p:nvPr>
            <p:ph type="body" idx="106" hasCustomPrompt="1"/>
          </p:nvPr>
        </p:nvSpPr>
        <p:spPr>
          <a:xfrm>
            <a:off x="640080" y="914400"/>
            <a:ext cx="8229600" cy="274320"/>
          </a:xfrm>
          <a:prstGeom prst="rect">
            <a:avLst/>
          </a:prstGeom>
          <a:noFill/>
          <a:ln/>
        </p:spPr>
        <p:txBody>
          <a:bodyPr wrap="square" rtlCol="0"/>
          <a:lstStyle>
            <a:lvl1pPr marL="0" indent="0" algn="l">
              <a:buNone/>
              <a:defRPr lang="en-US" sz="1000" b="1" kern="0" spc="300" dirty="0">
                <a:solidFill>
                  <a:srgbClr val="C2432B"/>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a:spLocks noGrp="1"/>
          </p:cNvSpPr>
          <p:nvPr>
            <p:ph type="title" idx="107" hasCustomPrompt="1"/>
          </p:nvPr>
        </p:nvSpPr>
        <p:spPr>
          <a:xfrm>
            <a:off x="640080" y="1234440"/>
            <a:ext cx="10911535" cy="1097280"/>
          </a:xfrm>
          <a:prstGeom prst="rect">
            <a:avLst/>
          </a:prstGeom>
          <a:noFill/>
          <a:ln/>
        </p:spPr>
        <p:txBody>
          <a:bodyPr wrap="square" rtlCol="0"/>
          <a:lstStyle>
            <a:lvl1pPr marL="0" indent="0" algn="l">
              <a:buNone/>
              <a:defRPr lang="en-US" sz="3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Texte"/>
          <p:cNvSpPr>
            <a:spLocks noGrp="1"/>
          </p:cNvSpPr>
          <p:nvPr>
            <p:ph type="body" idx="108" hasCustomPrompt="1"/>
          </p:nvPr>
        </p:nvSpPr>
        <p:spPr>
          <a:xfrm>
            <a:off x="640080" y="2560320"/>
            <a:ext cx="7680960" cy="3566160"/>
          </a:xfrm>
          <a:prstGeom prst="rect">
            <a:avLst/>
          </a:prstGeom>
          <a:noFill/>
          <a:ln/>
        </p:spPr>
        <p:txBody>
          <a:bodyPr wrap="square" rtlCol="0"/>
          <a:lstStyle>
            <a:lvl1pPr marL="0" indent="0" algn="l">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marL="0" indent="0" algn="l">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11" name="Shape 6"/>
          <p:cNvSpPr/>
          <p:nvPr/>
        </p:nvSpPr>
        <p:spPr>
          <a:xfrm>
            <a:off x="9144000" y="2606040"/>
            <a:ext cx="36576" cy="3474720"/>
          </a:xfrm>
          <a:prstGeom prst="rect">
            <a:avLst/>
          </a:prstGeom>
          <a:solidFill>
            <a:srgbClr val="D3C8B5"/>
          </a:solidFill>
          <a:ln w="12700">
            <a:solidFill>
              <a:srgbClr val="D3C8B5"/>
            </a:solidFill>
            <a:prstDash val="solid"/>
          </a:ln>
        </p:spPr>
      </p:sp>
      <p:sp>
        <p:nvSpPr>
          <p:cNvPr id="12" name="Encadré"/>
          <p:cNvSpPr>
            <a:spLocks noGrp="1"/>
          </p:cNvSpPr>
          <p:nvPr>
            <p:ph type="body" idx="110" hasCustomPrompt="1"/>
          </p:nvPr>
        </p:nvSpPr>
        <p:spPr>
          <a:xfrm>
            <a:off x="9464040" y="2560320"/>
            <a:ext cx="2103120" cy="3566160"/>
          </a:xfrm>
          <a:prstGeom prst="rect">
            <a:avLst/>
          </a:prstGeom>
          <a:noFill/>
          <a:ln/>
        </p:spPr>
        <p:txBody>
          <a:bodyPr wrap="square" rtlCol="0"/>
          <a:lstStyle>
            <a:lvl1pPr marL="0" indent="0" algn="l">
              <a:buNone/>
              <a:defRPr lang="en-US" sz="1800" dirty="0">
                <a:solidFill>
                  <a:srgbClr val="C2432B"/>
                </a:solidFill>
                <a:latin typeface="Playfair Display" pitchFamily="34" charset="0"/>
                <a:ea typeface="Playfair Display" pitchFamily="34" charset="-122"/>
                <a:cs typeface="Playfair Display" pitchFamily="34" charset="-120"/>
              </a:defRPr>
            </a:lvl1pPr>
          </a:lstStyle>
          <a:p>
            <a:pPr marL="0" indent="0" algn="l">
              <a:buNone/>
            </a:pPr>
            <a:r>
              <a:rPr lang="en-US" sz="1800" dirty="0">
                <a:solidFill>
                  <a:srgbClr val="C2432B"/>
                </a:solidFill>
                <a:latin typeface="Playfair Display" pitchFamily="34" charset="0"/>
                <a:ea typeface="Playfair Display" pitchFamily="34" charset="-122"/>
                <a:cs typeface="Playfair Display" pitchFamily="34" charset="-120"/>
              </a:rPr>
              <a:t>Message clé ou chiffre à retenir</a:t>
            </a:r>
            <a:endParaRPr lang="en-US" sz="18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06 Deux colonnes">
    <p:bg>
      <p:bgPr>
        <a:solidFill>
          <a:srgbClr val="F4EEE3"/>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marL="0" indent="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a:spLocks noGrp="1"/>
          </p:cNvSpPr>
          <p:nvPr>
            <p:ph type="body" idx="106" hasCustomPrompt="1"/>
          </p:nvPr>
        </p:nvSpPr>
        <p:spPr>
          <a:xfrm>
            <a:off x="640080" y="914400"/>
            <a:ext cx="8229600" cy="274320"/>
          </a:xfrm>
          <a:prstGeom prst="rect">
            <a:avLst/>
          </a:prstGeom>
          <a:noFill/>
          <a:ln/>
        </p:spPr>
        <p:txBody>
          <a:bodyPr wrap="square" rtlCol="0"/>
          <a:lstStyle>
            <a:lvl1pPr marL="0" indent="0" algn="l">
              <a:buNone/>
              <a:defRPr lang="en-US" sz="1000" b="1" kern="0" spc="300" dirty="0">
                <a:solidFill>
                  <a:srgbClr val="C2432B"/>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a:spLocks noGrp="1"/>
          </p:cNvSpPr>
          <p:nvPr>
            <p:ph type="title" idx="107" hasCustomPrompt="1"/>
          </p:nvPr>
        </p:nvSpPr>
        <p:spPr>
          <a:xfrm>
            <a:off x="640080" y="1234440"/>
            <a:ext cx="10911535" cy="1097280"/>
          </a:xfrm>
          <a:prstGeom prst="rect">
            <a:avLst/>
          </a:prstGeom>
          <a:noFill/>
          <a:ln/>
        </p:spPr>
        <p:txBody>
          <a:bodyPr wrap="square" rtlCol="0"/>
          <a:lstStyle>
            <a:lvl1pPr marL="0" indent="0" algn="l">
              <a:buNone/>
              <a:defRPr lang="en-US" sz="3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Shape 6"/>
          <p:cNvSpPr/>
          <p:nvPr/>
        </p:nvSpPr>
        <p:spPr>
          <a:xfrm>
            <a:off x="640080" y="2560320"/>
            <a:ext cx="5257800" cy="45720"/>
          </a:xfrm>
          <a:prstGeom prst="rect">
            <a:avLst/>
          </a:prstGeom>
          <a:solidFill>
            <a:srgbClr val="C2432B"/>
          </a:solidFill>
          <a:ln w="12700">
            <a:solidFill>
              <a:srgbClr val="C2432B"/>
            </a:solidFill>
            <a:prstDash val="solid"/>
          </a:ln>
        </p:spPr>
      </p:sp>
      <p:sp>
        <p:nvSpPr>
          <p:cNvPr id="11" name="Shape 7"/>
          <p:cNvSpPr/>
          <p:nvPr/>
        </p:nvSpPr>
        <p:spPr>
          <a:xfrm>
            <a:off x="6309360" y="2560320"/>
            <a:ext cx="5257800" cy="45720"/>
          </a:xfrm>
          <a:prstGeom prst="rect">
            <a:avLst/>
          </a:prstGeom>
          <a:solidFill>
            <a:srgbClr val="C8963A"/>
          </a:solidFill>
          <a:ln w="12700">
            <a:solidFill>
              <a:srgbClr val="C8963A"/>
            </a:solidFill>
            <a:prstDash val="solid"/>
          </a:ln>
        </p:spPr>
      </p:sp>
      <p:sp>
        <p:nvSpPr>
          <p:cNvPr id="12" name="Intertitre gauche"/>
          <p:cNvSpPr>
            <a:spLocks noGrp="1"/>
          </p:cNvSpPr>
          <p:nvPr>
            <p:ph type="body" idx="110" hasCustomPrompt="1"/>
          </p:nvPr>
        </p:nvSpPr>
        <p:spPr>
          <a:xfrm>
            <a:off x="640080" y="2743200"/>
            <a:ext cx="5257800" cy="411480"/>
          </a:xfrm>
          <a:prstGeom prst="rect">
            <a:avLst/>
          </a:prstGeom>
          <a:noFill/>
          <a:ln/>
        </p:spPr>
        <p:txBody>
          <a:bodyPr wrap="square" rtlCol="0"/>
          <a:lstStyle>
            <a:lvl1pPr marL="0" indent="0" algn="l">
              <a:buNone/>
              <a:defRPr lang="en-US" sz="2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2000" dirty="0">
                <a:solidFill>
                  <a:srgbClr val="1E1B2E"/>
                </a:solidFill>
                <a:latin typeface="Playfair Display" pitchFamily="34" charset="0"/>
                <a:ea typeface="Playfair Display" pitchFamily="34" charset="-122"/>
                <a:cs typeface="Playfair Display" pitchFamily="34" charset="-120"/>
              </a:rPr>
              <a:t>Intertitre</a:t>
            </a:r>
            <a:endParaRPr lang="en-US" sz="2000" dirty="0"/>
          </a:p>
        </p:txBody>
      </p:sp>
      <p:sp>
        <p:nvSpPr>
          <p:cNvPr id="13" name="Intertitre droite"/>
          <p:cNvSpPr>
            <a:spLocks noGrp="1"/>
          </p:cNvSpPr>
          <p:nvPr>
            <p:ph type="body" idx="111" hasCustomPrompt="1"/>
          </p:nvPr>
        </p:nvSpPr>
        <p:spPr>
          <a:xfrm>
            <a:off x="6309360" y="2743200"/>
            <a:ext cx="5257800" cy="411480"/>
          </a:xfrm>
          <a:prstGeom prst="rect">
            <a:avLst/>
          </a:prstGeom>
          <a:noFill/>
          <a:ln/>
        </p:spPr>
        <p:txBody>
          <a:bodyPr wrap="square" rtlCol="0"/>
          <a:lstStyle>
            <a:lvl1pPr marL="0" indent="0" algn="l">
              <a:buNone/>
              <a:defRPr lang="en-US" sz="2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2000" dirty="0">
                <a:solidFill>
                  <a:srgbClr val="1E1B2E"/>
                </a:solidFill>
                <a:latin typeface="Playfair Display" pitchFamily="34" charset="0"/>
                <a:ea typeface="Playfair Display" pitchFamily="34" charset="-122"/>
                <a:cs typeface="Playfair Display" pitchFamily="34" charset="-120"/>
              </a:rPr>
              <a:t>Intertitre</a:t>
            </a:r>
            <a:endParaRPr lang="en-US" sz="2000" dirty="0"/>
          </a:p>
        </p:txBody>
      </p:sp>
      <p:sp>
        <p:nvSpPr>
          <p:cNvPr id="14" name="Texte gauche"/>
          <p:cNvSpPr>
            <a:spLocks noGrp="1"/>
          </p:cNvSpPr>
          <p:nvPr>
            <p:ph type="body" idx="112" hasCustomPrompt="1"/>
          </p:nvPr>
        </p:nvSpPr>
        <p:spPr>
          <a:xfrm>
            <a:off x="640080" y="3291840"/>
            <a:ext cx="5257800" cy="2834640"/>
          </a:xfrm>
          <a:prstGeom prst="rect">
            <a:avLst/>
          </a:prstGeom>
          <a:noFill/>
          <a:ln/>
        </p:spPr>
        <p:txBody>
          <a:bodyPr wrap="square" rtlCol="0"/>
          <a:lstStyle>
            <a:lvl1pPr marL="0" indent="0" algn="l">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marL="0" indent="0" algn="l">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15" name="Texte droite"/>
          <p:cNvSpPr>
            <a:spLocks noGrp="1"/>
          </p:cNvSpPr>
          <p:nvPr>
            <p:ph type="body" idx="113" hasCustomPrompt="1"/>
          </p:nvPr>
        </p:nvSpPr>
        <p:spPr>
          <a:xfrm>
            <a:off x="6309360" y="3291840"/>
            <a:ext cx="5257800" cy="2834640"/>
          </a:xfrm>
          <a:prstGeom prst="rect">
            <a:avLst/>
          </a:prstGeom>
          <a:noFill/>
          <a:ln/>
        </p:spPr>
        <p:txBody>
          <a:bodyPr wrap="square" rtlCol="0"/>
          <a:lstStyle>
            <a:lvl1pPr marL="0" indent="0" algn="l">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marL="0" indent="0" algn="l">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07 Texte et image à droite">
    <p:bg>
      <p:bgPr>
        <a:solidFill>
          <a:srgbClr val="F4EEE3"/>
        </a:solidFill>
        <a:effectLst/>
      </p:bgPr>
    </p:bg>
    <p:spTree>
      <p:nvGrpSpPr>
        <p:cNvPr id="1" name=""/>
        <p:cNvGrpSpPr/>
        <p:nvPr/>
      </p:nvGrpSpPr>
      <p:grpSpPr>
        <a:xfrm>
          <a:off x="0" y="0"/>
          <a:ext cx="0" cy="0"/>
          <a:chOff x="0" y="0"/>
          <a:chExt cx="0" cy="0"/>
        </a:xfrm>
      </p:grpSpPr>
      <p:sp>
        <p:nvSpPr>
          <p:cNvPr id="2" name="Shape 0"/>
          <p:cNvSpPr/>
          <p:nvPr/>
        </p:nvSpPr>
        <p:spPr>
          <a:xfrm>
            <a:off x="6492240" y="0"/>
            <a:ext cx="5699455" cy="6858000"/>
          </a:xfrm>
          <a:prstGeom prst="rect">
            <a:avLst/>
          </a:prstGeom>
          <a:solidFill>
            <a:srgbClr val="DDD3C1"/>
          </a:solidFill>
          <a:ln w="12700">
            <a:solidFill>
              <a:srgbClr val="DDD3C1"/>
            </a:solidFill>
            <a:prstDash val="solid"/>
          </a:ln>
        </p:spPr>
      </p:sp>
      <p:sp>
        <p:nvSpPr>
          <p:cNvPr id="3" name="Image"/>
          <p:cNvSpPr>
            <a:spLocks noGrp="1"/>
          </p:cNvSpPr>
          <p:nvPr>
            <p:ph type="pic" idx="101" hasCustomPrompt="1"/>
          </p:nvPr>
        </p:nvSpPr>
        <p:spPr>
          <a:xfrm>
            <a:off x="6492240" y="0"/>
            <a:ext cx="5699455" cy="685800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4" name="Text 1"/>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5" name="Surtitre"/>
          <p:cNvSpPr>
            <a:spLocks noGrp="1"/>
          </p:cNvSpPr>
          <p:nvPr>
            <p:ph type="body" idx="103" hasCustomPrompt="1"/>
          </p:nvPr>
        </p:nvSpPr>
        <p:spPr>
          <a:xfrm>
            <a:off x="640080" y="914400"/>
            <a:ext cx="5303520" cy="274320"/>
          </a:xfrm>
          <a:prstGeom prst="rect">
            <a:avLst/>
          </a:prstGeom>
          <a:noFill/>
          <a:ln/>
        </p:spPr>
        <p:txBody>
          <a:bodyPr wrap="square" rtlCol="0"/>
          <a:lstStyle>
            <a:lvl1pPr marL="0" indent="0" algn="l">
              <a:buNone/>
              <a:defRPr lang="en-US" sz="1000" b="1" kern="0" spc="300" dirty="0">
                <a:solidFill>
                  <a:srgbClr val="C2432B"/>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6" name="Titre"/>
          <p:cNvSpPr>
            <a:spLocks noGrp="1"/>
          </p:cNvSpPr>
          <p:nvPr>
            <p:ph type="title" idx="104" hasCustomPrompt="1"/>
          </p:nvPr>
        </p:nvSpPr>
        <p:spPr>
          <a:xfrm>
            <a:off x="640080" y="1234440"/>
            <a:ext cx="5303520" cy="1737360"/>
          </a:xfrm>
          <a:prstGeom prst="rect">
            <a:avLst/>
          </a:prstGeom>
          <a:noFill/>
          <a:ln/>
        </p:spPr>
        <p:txBody>
          <a:bodyPr wrap="square" rtlCol="0"/>
          <a:lstStyle>
            <a:lvl1pPr marL="0" indent="0" algn="l">
              <a:buNone/>
              <a:defRPr lang="en-US" sz="3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7" name="Shape 2"/>
          <p:cNvSpPr/>
          <p:nvPr/>
        </p:nvSpPr>
        <p:spPr>
          <a:xfrm>
            <a:off x="640080" y="3063240"/>
            <a:ext cx="548640" cy="54864"/>
          </a:xfrm>
          <a:prstGeom prst="rect">
            <a:avLst/>
          </a:prstGeom>
          <a:solidFill>
            <a:srgbClr val="C2432B"/>
          </a:solidFill>
          <a:ln w="12700">
            <a:solidFill>
              <a:srgbClr val="C2432B"/>
            </a:solidFill>
            <a:prstDash val="solid"/>
          </a:ln>
        </p:spPr>
      </p:sp>
      <p:sp>
        <p:nvSpPr>
          <p:cNvPr id="8" name="Texte"/>
          <p:cNvSpPr>
            <a:spLocks noGrp="1"/>
          </p:cNvSpPr>
          <p:nvPr>
            <p:ph type="body" idx="106" hasCustomPrompt="1"/>
          </p:nvPr>
        </p:nvSpPr>
        <p:spPr>
          <a:xfrm>
            <a:off x="640080" y="3337560"/>
            <a:ext cx="5303520" cy="2834640"/>
          </a:xfrm>
          <a:prstGeom prst="rect">
            <a:avLst/>
          </a:prstGeom>
          <a:noFill/>
          <a:ln/>
        </p:spPr>
        <p:txBody>
          <a:bodyPr wrap="square" rtlCol="0"/>
          <a:lstStyle>
            <a:lvl1pPr marL="0" indent="0" algn="l">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marL="0" indent="0" algn="l">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9" name="Shape 3"/>
          <p:cNvSpPr/>
          <p:nvPr/>
        </p:nvSpPr>
        <p:spPr>
          <a:xfrm>
            <a:off x="640080" y="6382512"/>
            <a:ext cx="5303520" cy="0"/>
          </a:xfrm>
          <a:prstGeom prst="line">
            <a:avLst/>
          </a:prstGeom>
          <a:noFill/>
          <a:ln w="9525">
            <a:solidFill>
              <a:srgbClr val="D3C8B5"/>
            </a:solidFill>
            <a:prstDash val="solid"/>
          </a:ln>
        </p:spPr>
      </p:sp>
      <p:sp>
        <p:nvSpPr>
          <p:cNvPr id="10" name="Text 4"/>
          <p:cNvSpPr/>
          <p:nvPr/>
        </p:nvSpPr>
        <p:spPr>
          <a:xfrm>
            <a:off x="640080" y="6473952"/>
            <a:ext cx="41148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25" name="Slide Number Placeholder 0"/>
          <p:cNvSpPr>
            <a:spLocks noGrp="1"/>
          </p:cNvSpPr>
          <p:nvPr>
            <p:ph type="sldNum" sz="quarter" idx="4294967295"/>
          </p:nvPr>
        </p:nvSpPr>
        <p:spPr>
          <a:xfrm>
            <a:off x="5486400"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08 Image à gauche et texte">
    <p:bg>
      <p:bgPr>
        <a:solidFill>
          <a:srgbClr val="F4EEE3"/>
        </a:solidFill>
        <a:effectLst/>
      </p:bgPr>
    </p:bg>
    <p:spTree>
      <p:nvGrpSpPr>
        <p:cNvPr id="1" name=""/>
        <p:cNvGrpSpPr/>
        <p:nvPr/>
      </p:nvGrpSpPr>
      <p:grpSpPr>
        <a:xfrm>
          <a:off x="0" y="0"/>
          <a:ext cx="0" cy="0"/>
          <a:chOff x="0" y="0"/>
          <a:chExt cx="0" cy="0"/>
        </a:xfrm>
      </p:grpSpPr>
      <p:sp>
        <p:nvSpPr>
          <p:cNvPr id="2" name="Shape 0"/>
          <p:cNvSpPr/>
          <p:nvPr/>
        </p:nvSpPr>
        <p:spPr>
          <a:xfrm>
            <a:off x="0" y="0"/>
            <a:ext cx="5669280" cy="6858000"/>
          </a:xfrm>
          <a:prstGeom prst="rect">
            <a:avLst/>
          </a:prstGeom>
          <a:solidFill>
            <a:srgbClr val="DDD3C1"/>
          </a:solidFill>
          <a:ln w="12700">
            <a:solidFill>
              <a:srgbClr val="DDD3C1"/>
            </a:solidFill>
            <a:prstDash val="solid"/>
          </a:ln>
        </p:spPr>
      </p:sp>
      <p:sp>
        <p:nvSpPr>
          <p:cNvPr id="3" name="Image"/>
          <p:cNvSpPr>
            <a:spLocks noGrp="1"/>
          </p:cNvSpPr>
          <p:nvPr>
            <p:ph type="pic" idx="101" hasCustomPrompt="1"/>
          </p:nvPr>
        </p:nvSpPr>
        <p:spPr>
          <a:xfrm>
            <a:off x="0" y="0"/>
            <a:ext cx="5669280" cy="685800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4"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5"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6"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marL="0" indent="0">
              <a:buNone/>
            </a:pPr>
            <a:endParaRPr lang="en-US" dirty="0"/>
          </a:p>
        </p:txBody>
      </p:sp>
      <p:sp>
        <p:nvSpPr>
          <p:cNvPr id="7" name="Surtitre"/>
          <p:cNvSpPr>
            <a:spLocks noGrp="1"/>
          </p:cNvSpPr>
          <p:nvPr>
            <p:ph type="body" idx="105" hasCustomPrompt="1"/>
          </p:nvPr>
        </p:nvSpPr>
        <p:spPr>
          <a:xfrm>
            <a:off x="6309360" y="914400"/>
            <a:ext cx="5212080" cy="274320"/>
          </a:xfrm>
          <a:prstGeom prst="rect">
            <a:avLst/>
          </a:prstGeom>
          <a:noFill/>
          <a:ln/>
        </p:spPr>
        <p:txBody>
          <a:bodyPr wrap="square" rtlCol="0"/>
          <a:lstStyle>
            <a:lvl1pPr marL="0" indent="0" algn="l">
              <a:buNone/>
              <a:defRPr lang="en-US" sz="1000" b="1" kern="0" spc="300" dirty="0">
                <a:solidFill>
                  <a:srgbClr val="C2432B"/>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8" name="Titre"/>
          <p:cNvSpPr>
            <a:spLocks noGrp="1"/>
          </p:cNvSpPr>
          <p:nvPr>
            <p:ph type="title" idx="106" hasCustomPrompt="1"/>
          </p:nvPr>
        </p:nvSpPr>
        <p:spPr>
          <a:xfrm>
            <a:off x="6309360" y="1234440"/>
            <a:ext cx="5212080" cy="1737360"/>
          </a:xfrm>
          <a:prstGeom prst="rect">
            <a:avLst/>
          </a:prstGeom>
          <a:noFill/>
          <a:ln/>
        </p:spPr>
        <p:txBody>
          <a:bodyPr wrap="square" rtlCol="0"/>
          <a:lstStyle>
            <a:lvl1pPr marL="0" indent="0" algn="l">
              <a:buNone/>
              <a:defRPr lang="en-US" sz="3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9" name="Shape 4"/>
          <p:cNvSpPr/>
          <p:nvPr/>
        </p:nvSpPr>
        <p:spPr>
          <a:xfrm>
            <a:off x="6309360" y="3063240"/>
            <a:ext cx="548640" cy="54864"/>
          </a:xfrm>
          <a:prstGeom prst="rect">
            <a:avLst/>
          </a:prstGeom>
          <a:solidFill>
            <a:srgbClr val="C2432B"/>
          </a:solidFill>
          <a:ln w="12700">
            <a:solidFill>
              <a:srgbClr val="C2432B"/>
            </a:solidFill>
            <a:prstDash val="solid"/>
          </a:ln>
        </p:spPr>
      </p:sp>
      <p:sp>
        <p:nvSpPr>
          <p:cNvPr id="10" name="Texte"/>
          <p:cNvSpPr>
            <a:spLocks noGrp="1"/>
          </p:cNvSpPr>
          <p:nvPr>
            <p:ph type="body" idx="108" hasCustomPrompt="1"/>
          </p:nvPr>
        </p:nvSpPr>
        <p:spPr>
          <a:xfrm>
            <a:off x="6309360" y="3337560"/>
            <a:ext cx="5212080" cy="2834640"/>
          </a:xfrm>
          <a:prstGeom prst="rect">
            <a:avLst/>
          </a:prstGeom>
          <a:noFill/>
          <a:ln/>
        </p:spPr>
        <p:txBody>
          <a:bodyPr wrap="square" rtlCol="0"/>
          <a:lstStyle>
            <a:lvl1pPr marL="0" indent="0" algn="l">
              <a:lnSpc>
                <a:spcPct val="115000"/>
              </a:lnSpc>
              <a:buNone/>
              <a:defRPr lang="en-US" sz="1500" dirty="0">
                <a:solidFill>
                  <a:srgbClr val="26232F"/>
                </a:solidFill>
                <a:latin typeface="Montserrat" pitchFamily="34" charset="0"/>
                <a:ea typeface="Montserrat" pitchFamily="34" charset="-122"/>
                <a:cs typeface="Montserrat" pitchFamily="34" charset="-120"/>
              </a:defRPr>
            </a:lvl1pPr>
          </a:lstStyle>
          <a:p>
            <a:pPr marL="0" indent="0" algn="l">
              <a:lnSpc>
                <a:spcPct val="115000"/>
              </a:lnSpc>
              <a:buNone/>
            </a:pPr>
            <a:r>
              <a:rPr lang="en-US" sz="1500" dirty="0">
                <a:solidFill>
                  <a:srgbClr val="26232F"/>
                </a:solidFill>
                <a:latin typeface="Montserrat" pitchFamily="34" charset="0"/>
                <a:ea typeface="Montserrat" pitchFamily="34" charset="-122"/>
                <a:cs typeface="Montserrat" pitchFamily="34" charset="-120"/>
              </a:rPr>
              <a:t>Cliquez pour ajouter du texte</a:t>
            </a:r>
            <a:endParaRPr lang="en-US" sz="1500" dirty="0"/>
          </a:p>
        </p:txBody>
      </p:sp>
      <p:sp>
        <p:nvSpPr>
          <p:cNvPr id="11" name="Shape 5"/>
          <p:cNvSpPr/>
          <p:nvPr/>
        </p:nvSpPr>
        <p:spPr>
          <a:xfrm>
            <a:off x="6309360" y="6382512"/>
            <a:ext cx="5242255" cy="0"/>
          </a:xfrm>
          <a:prstGeom prst="line">
            <a:avLst/>
          </a:prstGeom>
          <a:noFill/>
          <a:ln w="9525">
            <a:solidFill>
              <a:srgbClr val="D3C8B5"/>
            </a:solidFill>
            <a:prstDash val="solid"/>
          </a:ln>
        </p:spPr>
      </p:sp>
      <p:sp>
        <p:nvSpPr>
          <p:cNvPr id="12" name="Text 6"/>
          <p:cNvSpPr/>
          <p:nvPr/>
        </p:nvSpPr>
        <p:spPr>
          <a:xfrm>
            <a:off x="6309360" y="6473952"/>
            <a:ext cx="41148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09 Grande image et légende">
    <p:bg>
      <p:bgPr>
        <a:solidFill>
          <a:srgbClr val="1E1B2E"/>
        </a:solidFill>
        <a:effectLst/>
      </p:bgPr>
    </p:bg>
    <p:spTree>
      <p:nvGrpSpPr>
        <p:cNvPr id="1" name=""/>
        <p:cNvGrpSpPr/>
        <p:nvPr/>
      </p:nvGrpSpPr>
      <p:grpSpPr>
        <a:xfrm>
          <a:off x="0" y="0"/>
          <a:ext cx="0" cy="0"/>
          <a:chOff x="0" y="0"/>
          <a:chExt cx="0" cy="0"/>
        </a:xfrm>
      </p:grpSpPr>
      <p:sp>
        <p:nvSpPr>
          <p:cNvPr id="2" name="Shape 0"/>
          <p:cNvSpPr/>
          <p:nvPr/>
        </p:nvSpPr>
        <p:spPr>
          <a:xfrm>
            <a:off x="0" y="0"/>
            <a:ext cx="12191695" cy="4892040"/>
          </a:xfrm>
          <a:prstGeom prst="rect">
            <a:avLst/>
          </a:prstGeom>
          <a:solidFill>
            <a:srgbClr val="DDD3C1"/>
          </a:solidFill>
          <a:ln w="12700">
            <a:solidFill>
              <a:srgbClr val="DDD3C1"/>
            </a:solidFill>
            <a:prstDash val="solid"/>
          </a:ln>
        </p:spPr>
      </p:sp>
      <p:sp>
        <p:nvSpPr>
          <p:cNvPr id="3" name="Image"/>
          <p:cNvSpPr>
            <a:spLocks noGrp="1"/>
          </p:cNvSpPr>
          <p:nvPr>
            <p:ph type="pic" idx="101" hasCustomPrompt="1"/>
          </p:nvPr>
        </p:nvSpPr>
        <p:spPr>
          <a:xfrm>
            <a:off x="0" y="0"/>
            <a:ext cx="12191695" cy="489204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4" name="Shape 1"/>
          <p:cNvSpPr/>
          <p:nvPr/>
        </p:nvSpPr>
        <p:spPr>
          <a:xfrm>
            <a:off x="0" y="4892040"/>
            <a:ext cx="12191695" cy="64008"/>
          </a:xfrm>
          <a:prstGeom prst="rect">
            <a:avLst/>
          </a:prstGeom>
          <a:solidFill>
            <a:srgbClr val="C2432B"/>
          </a:solidFill>
          <a:ln w="12700">
            <a:solidFill>
              <a:srgbClr val="C2432B"/>
            </a:solidFill>
            <a:prstDash val="solid"/>
          </a:ln>
        </p:spPr>
      </p:sp>
      <p:sp>
        <p:nvSpPr>
          <p:cNvPr id="5" name="Titre"/>
          <p:cNvSpPr>
            <a:spLocks noGrp="1"/>
          </p:cNvSpPr>
          <p:nvPr>
            <p:ph type="title" idx="103" hasCustomPrompt="1"/>
          </p:nvPr>
        </p:nvSpPr>
        <p:spPr>
          <a:xfrm>
            <a:off x="640080" y="5212080"/>
            <a:ext cx="6949440" cy="1097280"/>
          </a:xfrm>
          <a:prstGeom prst="rect">
            <a:avLst/>
          </a:prstGeom>
          <a:noFill/>
          <a:ln/>
        </p:spPr>
        <p:txBody>
          <a:bodyPr wrap="square" rtlCol="0"/>
          <a:lstStyle>
            <a:lvl1pPr marL="0" indent="0" algn="l">
              <a:buNone/>
              <a:defRPr lang="en-US" sz="2600" dirty="0">
                <a:solidFill>
                  <a:srgbClr val="F4EEE3"/>
                </a:solidFill>
                <a:latin typeface="Playfair Display" pitchFamily="34" charset="0"/>
                <a:ea typeface="Playfair Display" pitchFamily="34" charset="-122"/>
                <a:cs typeface="Playfair Display" pitchFamily="34" charset="-120"/>
              </a:defRPr>
            </a:lvl1pPr>
          </a:lstStyle>
          <a:p>
            <a:pPr marL="0" indent="0" algn="l">
              <a:buNone/>
            </a:pPr>
            <a:r>
              <a:rPr lang="en-US" sz="2600" dirty="0">
                <a:solidFill>
                  <a:srgbClr val="F4EEE3"/>
                </a:solidFill>
                <a:latin typeface="Playfair Display" pitchFamily="34" charset="0"/>
                <a:ea typeface="Playfair Display" pitchFamily="34" charset="-122"/>
                <a:cs typeface="Playfair Display" pitchFamily="34" charset="-120"/>
              </a:rPr>
              <a:t>Titre ou citation courte</a:t>
            </a:r>
            <a:endParaRPr lang="en-US" sz="2600" dirty="0"/>
          </a:p>
        </p:txBody>
      </p:sp>
      <p:sp>
        <p:nvSpPr>
          <p:cNvPr id="6" name="Légende"/>
          <p:cNvSpPr>
            <a:spLocks noGrp="1"/>
          </p:cNvSpPr>
          <p:nvPr>
            <p:ph type="body" idx="104" hasCustomPrompt="1"/>
          </p:nvPr>
        </p:nvSpPr>
        <p:spPr>
          <a:xfrm>
            <a:off x="8046720" y="5212080"/>
            <a:ext cx="3504895" cy="1097280"/>
          </a:xfrm>
          <a:prstGeom prst="rect">
            <a:avLst/>
          </a:prstGeom>
          <a:noFill/>
          <a:ln/>
        </p:spPr>
        <p:txBody>
          <a:bodyPr wrap="square" rtlCol="0"/>
          <a:lstStyle>
            <a:lvl1pPr marL="0" indent="0" algn="l">
              <a:buNone/>
              <a:defRPr lang="en-US" sz="1100" dirty="0">
                <a:solidFill>
                  <a:srgbClr val="D9D2E3"/>
                </a:solidFill>
                <a:latin typeface="Montserrat" pitchFamily="34" charset="0"/>
                <a:ea typeface="Montserrat" pitchFamily="34" charset="-122"/>
                <a:cs typeface="Montserrat" pitchFamily="34" charset="-120"/>
              </a:defRPr>
            </a:lvl1pPr>
          </a:lstStyle>
          <a:p>
            <a:pPr marL="0" indent="0" algn="l">
              <a:buNone/>
            </a:pPr>
            <a:r>
              <a:rPr lang="en-US" sz="1100" dirty="0">
                <a:solidFill>
                  <a:srgbClr val="D9D2E3"/>
                </a:solidFill>
                <a:latin typeface="Montserrat" pitchFamily="34" charset="0"/>
                <a:ea typeface="Montserrat" pitchFamily="34" charset="-122"/>
                <a:cs typeface="Montserrat" pitchFamily="34" charset="-120"/>
              </a:rPr>
              <a:t>Légende de l’image</a:t>
            </a:r>
            <a:endParaRPr lang="en-US" sz="11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 Trois visuels et légendes">
    <p:bg>
      <p:bgPr>
        <a:solidFill>
          <a:srgbClr val="F4EEE3"/>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marL="0" indent="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a:spLocks noGrp="1"/>
          </p:cNvSpPr>
          <p:nvPr>
            <p:ph type="body" idx="106" hasCustomPrompt="1"/>
          </p:nvPr>
        </p:nvSpPr>
        <p:spPr>
          <a:xfrm>
            <a:off x="640080" y="914400"/>
            <a:ext cx="8229600" cy="274320"/>
          </a:xfrm>
          <a:prstGeom prst="rect">
            <a:avLst/>
          </a:prstGeom>
          <a:noFill/>
          <a:ln/>
        </p:spPr>
        <p:txBody>
          <a:bodyPr wrap="square" rtlCol="0"/>
          <a:lstStyle>
            <a:lvl1pPr marL="0" indent="0" algn="l">
              <a:buNone/>
              <a:defRPr lang="en-US" sz="1000" b="1" kern="0" spc="300" dirty="0">
                <a:solidFill>
                  <a:srgbClr val="C2432B"/>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a:spLocks noGrp="1"/>
          </p:cNvSpPr>
          <p:nvPr>
            <p:ph type="title" idx="107" hasCustomPrompt="1"/>
          </p:nvPr>
        </p:nvSpPr>
        <p:spPr>
          <a:xfrm>
            <a:off x="640080" y="1234440"/>
            <a:ext cx="10911535" cy="822960"/>
          </a:xfrm>
          <a:prstGeom prst="rect">
            <a:avLst/>
          </a:prstGeom>
          <a:noFill/>
          <a:ln/>
        </p:spPr>
        <p:txBody>
          <a:bodyPr wrap="square" rtlCol="0"/>
          <a:lstStyle>
            <a:lvl1pPr marL="0" indent="0" algn="l">
              <a:buNone/>
              <a:defRPr lang="en-US" sz="3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Shape 6"/>
          <p:cNvSpPr/>
          <p:nvPr/>
        </p:nvSpPr>
        <p:spPr>
          <a:xfrm>
            <a:off x="640080" y="2240280"/>
            <a:ext cx="3423818" cy="2240280"/>
          </a:xfrm>
          <a:prstGeom prst="rect">
            <a:avLst/>
          </a:prstGeom>
          <a:solidFill>
            <a:srgbClr val="DDD3C1"/>
          </a:solidFill>
          <a:ln w="12700">
            <a:solidFill>
              <a:srgbClr val="DDD3C1"/>
            </a:solidFill>
            <a:prstDash val="solid"/>
          </a:ln>
        </p:spPr>
      </p:sp>
      <p:sp>
        <p:nvSpPr>
          <p:cNvPr id="11" name="Image 1"/>
          <p:cNvSpPr>
            <a:spLocks noGrp="1"/>
          </p:cNvSpPr>
          <p:nvPr>
            <p:ph type="pic" idx="109" hasCustomPrompt="1"/>
          </p:nvPr>
        </p:nvSpPr>
        <p:spPr>
          <a:xfrm>
            <a:off x="640080" y="2240280"/>
            <a:ext cx="3423818" cy="224028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12" name="Shape 7"/>
          <p:cNvSpPr/>
          <p:nvPr/>
        </p:nvSpPr>
        <p:spPr>
          <a:xfrm>
            <a:off x="640080" y="4480560"/>
            <a:ext cx="3423818" cy="54864"/>
          </a:xfrm>
          <a:prstGeom prst="rect">
            <a:avLst/>
          </a:prstGeom>
          <a:solidFill>
            <a:srgbClr val="C2432B"/>
          </a:solidFill>
          <a:ln w="12700">
            <a:solidFill>
              <a:srgbClr val="C2432B"/>
            </a:solidFill>
            <a:prstDash val="solid"/>
          </a:ln>
        </p:spPr>
      </p:sp>
      <p:sp>
        <p:nvSpPr>
          <p:cNvPr id="13" name="Intertitre 1"/>
          <p:cNvSpPr>
            <a:spLocks noGrp="1"/>
          </p:cNvSpPr>
          <p:nvPr>
            <p:ph type="body" idx="111" hasCustomPrompt="1"/>
          </p:nvPr>
        </p:nvSpPr>
        <p:spPr>
          <a:xfrm>
            <a:off x="640080" y="4663440"/>
            <a:ext cx="3423818" cy="411480"/>
          </a:xfrm>
          <a:prstGeom prst="rect">
            <a:avLst/>
          </a:prstGeom>
          <a:noFill/>
          <a:ln/>
        </p:spPr>
        <p:txBody>
          <a:bodyPr wrap="square" rtlCol="0"/>
          <a:lstStyle>
            <a:lvl1pPr marL="0" indent="0" algn="l">
              <a:buNone/>
              <a:defRPr lang="en-US" sz="18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1800" dirty="0">
                <a:solidFill>
                  <a:srgbClr val="1E1B2E"/>
                </a:solidFill>
                <a:latin typeface="Playfair Display" pitchFamily="34" charset="0"/>
                <a:ea typeface="Playfair Display" pitchFamily="34" charset="-122"/>
                <a:cs typeface="Playfair Display" pitchFamily="34" charset="-120"/>
              </a:rPr>
              <a:t>Intertitre</a:t>
            </a:r>
            <a:endParaRPr lang="en-US" sz="1800" dirty="0"/>
          </a:p>
        </p:txBody>
      </p:sp>
      <p:sp>
        <p:nvSpPr>
          <p:cNvPr id="14" name="Texte 1"/>
          <p:cNvSpPr>
            <a:spLocks noGrp="1"/>
          </p:cNvSpPr>
          <p:nvPr>
            <p:ph type="body" idx="112" hasCustomPrompt="1"/>
          </p:nvPr>
        </p:nvSpPr>
        <p:spPr>
          <a:xfrm>
            <a:off x="640080" y="5120640"/>
            <a:ext cx="3423818" cy="1097280"/>
          </a:xfrm>
          <a:prstGeom prst="rect">
            <a:avLst/>
          </a:prstGeom>
          <a:noFill/>
          <a:ln/>
        </p:spPr>
        <p:txBody>
          <a:bodyPr wrap="square" rtlCol="0"/>
          <a:lstStyle>
            <a:lvl1pPr marL="0" indent="0" algn="l">
              <a:buNone/>
              <a:defRPr lang="en-US" sz="1300" dirty="0">
                <a:solidFill>
                  <a:srgbClr val="26232F"/>
                </a:solidFill>
                <a:latin typeface="Montserrat" pitchFamily="34" charset="0"/>
                <a:ea typeface="Montserrat" pitchFamily="34" charset="-122"/>
                <a:cs typeface="Montserrat" pitchFamily="34" charset="-120"/>
              </a:defRPr>
            </a:lvl1pPr>
          </a:lstStyle>
          <a:p>
            <a:pPr marL="0" indent="0" algn="l">
              <a:buNone/>
            </a:pPr>
            <a:r>
              <a:rPr lang="en-US" sz="1300" dirty="0">
                <a:solidFill>
                  <a:srgbClr val="26232F"/>
                </a:solidFill>
                <a:latin typeface="Montserrat" pitchFamily="34" charset="0"/>
                <a:ea typeface="Montserrat" pitchFamily="34" charset="-122"/>
                <a:cs typeface="Montserrat" pitchFamily="34" charset="-120"/>
              </a:rPr>
              <a:t>Deux lignes de texte au maximum</a:t>
            </a:r>
            <a:endParaRPr lang="en-US" sz="1300" dirty="0"/>
          </a:p>
        </p:txBody>
      </p:sp>
      <p:sp>
        <p:nvSpPr>
          <p:cNvPr id="15" name="Shape 8"/>
          <p:cNvSpPr/>
          <p:nvPr/>
        </p:nvSpPr>
        <p:spPr>
          <a:xfrm>
            <a:off x="4383938" y="2240280"/>
            <a:ext cx="3423818" cy="2240280"/>
          </a:xfrm>
          <a:prstGeom prst="rect">
            <a:avLst/>
          </a:prstGeom>
          <a:solidFill>
            <a:srgbClr val="DDD3C1"/>
          </a:solidFill>
          <a:ln w="12700">
            <a:solidFill>
              <a:srgbClr val="DDD3C1"/>
            </a:solidFill>
            <a:prstDash val="solid"/>
          </a:ln>
        </p:spPr>
      </p:sp>
      <p:sp>
        <p:nvSpPr>
          <p:cNvPr id="16" name="Image 2"/>
          <p:cNvSpPr>
            <a:spLocks noGrp="1"/>
          </p:cNvSpPr>
          <p:nvPr>
            <p:ph type="pic" idx="114" hasCustomPrompt="1"/>
          </p:nvPr>
        </p:nvSpPr>
        <p:spPr>
          <a:xfrm>
            <a:off x="4383938" y="2240280"/>
            <a:ext cx="3423818" cy="224028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17" name="Shape 9"/>
          <p:cNvSpPr/>
          <p:nvPr/>
        </p:nvSpPr>
        <p:spPr>
          <a:xfrm>
            <a:off x="4383938" y="4480560"/>
            <a:ext cx="3423818" cy="54864"/>
          </a:xfrm>
          <a:prstGeom prst="rect">
            <a:avLst/>
          </a:prstGeom>
          <a:solidFill>
            <a:srgbClr val="C8963A"/>
          </a:solidFill>
          <a:ln w="12700">
            <a:solidFill>
              <a:srgbClr val="C8963A"/>
            </a:solidFill>
            <a:prstDash val="solid"/>
          </a:ln>
        </p:spPr>
      </p:sp>
      <p:sp>
        <p:nvSpPr>
          <p:cNvPr id="18" name="Intertitre 2"/>
          <p:cNvSpPr>
            <a:spLocks noGrp="1"/>
          </p:cNvSpPr>
          <p:nvPr>
            <p:ph type="body" idx="116" hasCustomPrompt="1"/>
          </p:nvPr>
        </p:nvSpPr>
        <p:spPr>
          <a:xfrm>
            <a:off x="4383938" y="4663440"/>
            <a:ext cx="3423818" cy="411480"/>
          </a:xfrm>
          <a:prstGeom prst="rect">
            <a:avLst/>
          </a:prstGeom>
          <a:noFill/>
          <a:ln/>
        </p:spPr>
        <p:txBody>
          <a:bodyPr wrap="square" rtlCol="0"/>
          <a:lstStyle>
            <a:lvl1pPr marL="0" indent="0" algn="l">
              <a:buNone/>
              <a:defRPr lang="en-US" sz="18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1800" dirty="0">
                <a:solidFill>
                  <a:srgbClr val="1E1B2E"/>
                </a:solidFill>
                <a:latin typeface="Playfair Display" pitchFamily="34" charset="0"/>
                <a:ea typeface="Playfair Display" pitchFamily="34" charset="-122"/>
                <a:cs typeface="Playfair Display" pitchFamily="34" charset="-120"/>
              </a:rPr>
              <a:t>Intertitre</a:t>
            </a:r>
            <a:endParaRPr lang="en-US" sz="1800" dirty="0"/>
          </a:p>
        </p:txBody>
      </p:sp>
      <p:sp>
        <p:nvSpPr>
          <p:cNvPr id="19" name="Texte 2"/>
          <p:cNvSpPr>
            <a:spLocks noGrp="1"/>
          </p:cNvSpPr>
          <p:nvPr>
            <p:ph type="body" idx="117" hasCustomPrompt="1"/>
          </p:nvPr>
        </p:nvSpPr>
        <p:spPr>
          <a:xfrm>
            <a:off x="4383938" y="5120640"/>
            <a:ext cx="3423818" cy="1097280"/>
          </a:xfrm>
          <a:prstGeom prst="rect">
            <a:avLst/>
          </a:prstGeom>
          <a:noFill/>
          <a:ln/>
        </p:spPr>
        <p:txBody>
          <a:bodyPr wrap="square" rtlCol="0"/>
          <a:lstStyle>
            <a:lvl1pPr marL="0" indent="0" algn="l">
              <a:buNone/>
              <a:defRPr lang="en-US" sz="1300" dirty="0">
                <a:solidFill>
                  <a:srgbClr val="26232F"/>
                </a:solidFill>
                <a:latin typeface="Montserrat" pitchFamily="34" charset="0"/>
                <a:ea typeface="Montserrat" pitchFamily="34" charset="-122"/>
                <a:cs typeface="Montserrat" pitchFamily="34" charset="-120"/>
              </a:defRPr>
            </a:lvl1pPr>
          </a:lstStyle>
          <a:p>
            <a:pPr marL="0" indent="0" algn="l">
              <a:buNone/>
            </a:pPr>
            <a:r>
              <a:rPr lang="en-US" sz="1300" dirty="0">
                <a:solidFill>
                  <a:srgbClr val="26232F"/>
                </a:solidFill>
                <a:latin typeface="Montserrat" pitchFamily="34" charset="0"/>
                <a:ea typeface="Montserrat" pitchFamily="34" charset="-122"/>
                <a:cs typeface="Montserrat" pitchFamily="34" charset="-120"/>
              </a:rPr>
              <a:t>Deux lignes de texte au maximum</a:t>
            </a:r>
            <a:endParaRPr lang="en-US" sz="1300" dirty="0"/>
          </a:p>
        </p:txBody>
      </p:sp>
      <p:sp>
        <p:nvSpPr>
          <p:cNvPr id="20" name="Shape 10"/>
          <p:cNvSpPr/>
          <p:nvPr/>
        </p:nvSpPr>
        <p:spPr>
          <a:xfrm>
            <a:off x="8127797" y="2240280"/>
            <a:ext cx="3423818" cy="2240280"/>
          </a:xfrm>
          <a:prstGeom prst="rect">
            <a:avLst/>
          </a:prstGeom>
          <a:solidFill>
            <a:srgbClr val="DDD3C1"/>
          </a:solidFill>
          <a:ln w="12700">
            <a:solidFill>
              <a:srgbClr val="DDD3C1"/>
            </a:solidFill>
            <a:prstDash val="solid"/>
          </a:ln>
        </p:spPr>
      </p:sp>
      <p:sp>
        <p:nvSpPr>
          <p:cNvPr id="21" name="Image 3"/>
          <p:cNvSpPr>
            <a:spLocks noGrp="1"/>
          </p:cNvSpPr>
          <p:nvPr>
            <p:ph type="pic" idx="119" hasCustomPrompt="1"/>
          </p:nvPr>
        </p:nvSpPr>
        <p:spPr>
          <a:xfrm>
            <a:off x="8127797" y="2240280"/>
            <a:ext cx="3423818" cy="224028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22" name="Shape 11"/>
          <p:cNvSpPr/>
          <p:nvPr/>
        </p:nvSpPr>
        <p:spPr>
          <a:xfrm>
            <a:off x="8127797" y="4480560"/>
            <a:ext cx="3423818" cy="54864"/>
          </a:xfrm>
          <a:prstGeom prst="rect">
            <a:avLst/>
          </a:prstGeom>
          <a:solidFill>
            <a:srgbClr val="8FA593"/>
          </a:solidFill>
          <a:ln w="12700">
            <a:solidFill>
              <a:srgbClr val="8FA593"/>
            </a:solidFill>
            <a:prstDash val="solid"/>
          </a:ln>
        </p:spPr>
      </p:sp>
      <p:sp>
        <p:nvSpPr>
          <p:cNvPr id="23" name="Intertitre 3"/>
          <p:cNvSpPr>
            <a:spLocks noGrp="1"/>
          </p:cNvSpPr>
          <p:nvPr>
            <p:ph type="body" idx="121" hasCustomPrompt="1"/>
          </p:nvPr>
        </p:nvSpPr>
        <p:spPr>
          <a:xfrm>
            <a:off x="8127797" y="4663440"/>
            <a:ext cx="3423818" cy="411480"/>
          </a:xfrm>
          <a:prstGeom prst="rect">
            <a:avLst/>
          </a:prstGeom>
          <a:noFill/>
          <a:ln/>
        </p:spPr>
        <p:txBody>
          <a:bodyPr wrap="square" rtlCol="0"/>
          <a:lstStyle>
            <a:lvl1pPr marL="0" indent="0" algn="l">
              <a:buNone/>
              <a:defRPr lang="en-US" sz="18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1800" dirty="0">
                <a:solidFill>
                  <a:srgbClr val="1E1B2E"/>
                </a:solidFill>
                <a:latin typeface="Playfair Display" pitchFamily="34" charset="0"/>
                <a:ea typeface="Playfair Display" pitchFamily="34" charset="-122"/>
                <a:cs typeface="Playfair Display" pitchFamily="34" charset="-120"/>
              </a:rPr>
              <a:t>Intertitre</a:t>
            </a:r>
            <a:endParaRPr lang="en-US" sz="1800" dirty="0"/>
          </a:p>
        </p:txBody>
      </p:sp>
      <p:sp>
        <p:nvSpPr>
          <p:cNvPr id="24" name="Texte 3"/>
          <p:cNvSpPr>
            <a:spLocks noGrp="1"/>
          </p:cNvSpPr>
          <p:nvPr>
            <p:ph type="body" idx="122" hasCustomPrompt="1"/>
          </p:nvPr>
        </p:nvSpPr>
        <p:spPr>
          <a:xfrm>
            <a:off x="8127797" y="5120640"/>
            <a:ext cx="3423818" cy="1097280"/>
          </a:xfrm>
          <a:prstGeom prst="rect">
            <a:avLst/>
          </a:prstGeom>
          <a:noFill/>
          <a:ln/>
        </p:spPr>
        <p:txBody>
          <a:bodyPr wrap="square" rtlCol="0"/>
          <a:lstStyle>
            <a:lvl1pPr marL="0" indent="0" algn="l">
              <a:buNone/>
              <a:defRPr lang="en-US" sz="1300" dirty="0">
                <a:solidFill>
                  <a:srgbClr val="26232F"/>
                </a:solidFill>
                <a:latin typeface="Montserrat" pitchFamily="34" charset="0"/>
                <a:ea typeface="Montserrat" pitchFamily="34" charset="-122"/>
                <a:cs typeface="Montserrat" pitchFamily="34" charset="-120"/>
              </a:defRPr>
            </a:lvl1pPr>
          </a:lstStyle>
          <a:p>
            <a:pPr marL="0" indent="0" algn="l">
              <a:buNone/>
            </a:pPr>
            <a:r>
              <a:rPr lang="en-US" sz="1300" dirty="0">
                <a:solidFill>
                  <a:srgbClr val="26232F"/>
                </a:solidFill>
                <a:latin typeface="Montserrat" pitchFamily="34" charset="0"/>
                <a:ea typeface="Montserrat" pitchFamily="34" charset="-122"/>
                <a:cs typeface="Montserrat" pitchFamily="34" charset="-120"/>
              </a:rPr>
              <a:t>Deux lignes de texte au maximum</a:t>
            </a:r>
            <a:endParaRPr lang="en-US" sz="13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1 Chiffres clés">
    <p:bg>
      <p:bgPr>
        <a:solidFill>
          <a:srgbClr val="F4EEE3"/>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marL="0" indent="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a:spLocks noGrp="1"/>
          </p:cNvSpPr>
          <p:nvPr>
            <p:ph type="body" idx="106" hasCustomPrompt="1"/>
          </p:nvPr>
        </p:nvSpPr>
        <p:spPr>
          <a:xfrm>
            <a:off x="640080" y="914400"/>
            <a:ext cx="8229600" cy="274320"/>
          </a:xfrm>
          <a:prstGeom prst="rect">
            <a:avLst/>
          </a:prstGeom>
          <a:noFill/>
          <a:ln/>
        </p:spPr>
        <p:txBody>
          <a:bodyPr wrap="square" rtlCol="0"/>
          <a:lstStyle>
            <a:lvl1pPr marL="0" indent="0" algn="l">
              <a:buNone/>
              <a:defRPr lang="en-US" sz="1000" b="1" kern="0" spc="300" dirty="0">
                <a:solidFill>
                  <a:srgbClr val="C2432B"/>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a:spLocks noGrp="1"/>
          </p:cNvSpPr>
          <p:nvPr>
            <p:ph type="title" idx="107" hasCustomPrompt="1"/>
          </p:nvPr>
        </p:nvSpPr>
        <p:spPr>
          <a:xfrm>
            <a:off x="640080" y="1234440"/>
            <a:ext cx="10911535" cy="1097280"/>
          </a:xfrm>
          <a:prstGeom prst="rect">
            <a:avLst/>
          </a:prstGeom>
          <a:noFill/>
          <a:ln/>
        </p:spPr>
        <p:txBody>
          <a:bodyPr wrap="square" rtlCol="0"/>
          <a:lstStyle>
            <a:lvl1pPr marL="0" indent="0" algn="l">
              <a:buNone/>
              <a:defRPr lang="en-US" sz="3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Shape 6"/>
          <p:cNvSpPr/>
          <p:nvPr/>
        </p:nvSpPr>
        <p:spPr>
          <a:xfrm>
            <a:off x="640080" y="2651760"/>
            <a:ext cx="3423818" cy="3383280"/>
          </a:xfrm>
          <a:prstGeom prst="rect">
            <a:avLst/>
          </a:prstGeom>
          <a:solidFill>
            <a:srgbClr val="EAE1D0"/>
          </a:solidFill>
          <a:ln w="12700">
            <a:solidFill>
              <a:srgbClr val="EAE1D0"/>
            </a:solidFill>
            <a:prstDash val="solid"/>
          </a:ln>
        </p:spPr>
      </p:sp>
      <p:sp>
        <p:nvSpPr>
          <p:cNvPr id="11" name="Shape 7"/>
          <p:cNvSpPr/>
          <p:nvPr/>
        </p:nvSpPr>
        <p:spPr>
          <a:xfrm>
            <a:off x="640080" y="2651760"/>
            <a:ext cx="3423818" cy="73152"/>
          </a:xfrm>
          <a:prstGeom prst="rect">
            <a:avLst/>
          </a:prstGeom>
          <a:solidFill>
            <a:srgbClr val="C2432B"/>
          </a:solidFill>
          <a:ln w="12700">
            <a:solidFill>
              <a:srgbClr val="C2432B"/>
            </a:solidFill>
            <a:prstDash val="solid"/>
          </a:ln>
        </p:spPr>
      </p:sp>
      <p:sp>
        <p:nvSpPr>
          <p:cNvPr id="12" name="Chiffre 1"/>
          <p:cNvSpPr>
            <a:spLocks noGrp="1"/>
          </p:cNvSpPr>
          <p:nvPr>
            <p:ph type="body" idx="110" hasCustomPrompt="1"/>
          </p:nvPr>
        </p:nvSpPr>
        <p:spPr>
          <a:xfrm>
            <a:off x="960120" y="2971800"/>
            <a:ext cx="2783738" cy="1280160"/>
          </a:xfrm>
          <a:prstGeom prst="rect">
            <a:avLst/>
          </a:prstGeom>
          <a:noFill/>
          <a:ln/>
        </p:spPr>
        <p:txBody>
          <a:bodyPr wrap="square" rtlCol="0"/>
          <a:lstStyle>
            <a:lvl1pPr marL="0" indent="0" algn="l">
              <a:buNone/>
              <a:defRPr lang="en-US" sz="6000" dirty="0">
                <a:solidFill>
                  <a:srgbClr val="C2432B"/>
                </a:solidFill>
                <a:latin typeface="Playfair Display" pitchFamily="34" charset="0"/>
                <a:ea typeface="Playfair Display" pitchFamily="34" charset="-122"/>
                <a:cs typeface="Playfair Display" pitchFamily="34" charset="-120"/>
              </a:defRPr>
            </a:lvl1pPr>
          </a:lstStyle>
          <a:p>
            <a:pPr marL="0" indent="0" algn="l">
              <a:buNone/>
            </a:pPr>
            <a:r>
              <a:rPr lang="en-US" sz="6000" dirty="0">
                <a:solidFill>
                  <a:srgbClr val="C2432B"/>
                </a:solidFill>
                <a:latin typeface="Playfair Display" pitchFamily="34" charset="0"/>
                <a:ea typeface="Playfair Display" pitchFamily="34" charset="-122"/>
                <a:cs typeface="Playfair Display" pitchFamily="34" charset="-120"/>
              </a:rPr>
              <a:t>00</a:t>
            </a:r>
            <a:endParaRPr lang="en-US" sz="6000" dirty="0"/>
          </a:p>
        </p:txBody>
      </p:sp>
      <p:sp>
        <p:nvSpPr>
          <p:cNvPr id="13" name="Libellé 1"/>
          <p:cNvSpPr>
            <a:spLocks noGrp="1"/>
          </p:cNvSpPr>
          <p:nvPr>
            <p:ph type="body" idx="111" hasCustomPrompt="1"/>
          </p:nvPr>
        </p:nvSpPr>
        <p:spPr>
          <a:xfrm>
            <a:off x="960120" y="4434840"/>
            <a:ext cx="2783738" cy="365760"/>
          </a:xfrm>
          <a:prstGeom prst="rect">
            <a:avLst/>
          </a:prstGeom>
          <a:noFill/>
          <a:ln/>
        </p:spPr>
        <p:txBody>
          <a:bodyPr wrap="square" rtlCol="0"/>
          <a:lstStyle>
            <a:lvl1pPr marL="0" indent="0" algn="l">
              <a:buNone/>
              <a:defRPr lang="en-US" sz="1100" b="1" kern="0" spc="200" dirty="0">
                <a:solidFill>
                  <a:srgbClr val="1E1B2E"/>
                </a:solidFill>
                <a:latin typeface="Montserrat" pitchFamily="34" charset="0"/>
                <a:ea typeface="Montserrat" pitchFamily="34" charset="-122"/>
                <a:cs typeface="Montserrat" pitchFamily="34" charset="-120"/>
              </a:defRPr>
            </a:lvl1pPr>
          </a:lstStyle>
          <a:p>
            <a:pPr marL="0" indent="0" algn="l">
              <a:buNone/>
            </a:pPr>
            <a:r>
              <a:rPr lang="en-US" sz="1100" b="1" kern="0" spc="200" dirty="0">
                <a:solidFill>
                  <a:srgbClr val="1E1B2E"/>
                </a:solidFill>
                <a:latin typeface="Montserrat" pitchFamily="34" charset="0"/>
                <a:ea typeface="Montserrat" pitchFamily="34" charset="-122"/>
                <a:cs typeface="Montserrat" pitchFamily="34" charset="-120"/>
              </a:rPr>
              <a:t>LIBELLÉ</a:t>
            </a:r>
            <a:endParaRPr lang="en-US" sz="1100" dirty="0"/>
          </a:p>
        </p:txBody>
      </p:sp>
      <p:sp>
        <p:nvSpPr>
          <p:cNvPr id="14" name="Commentaire 1"/>
          <p:cNvSpPr>
            <a:spLocks noGrp="1"/>
          </p:cNvSpPr>
          <p:nvPr>
            <p:ph type="body" idx="112" hasCustomPrompt="1"/>
          </p:nvPr>
        </p:nvSpPr>
        <p:spPr>
          <a:xfrm>
            <a:off x="960120" y="4846320"/>
            <a:ext cx="2783738" cy="1005840"/>
          </a:xfrm>
          <a:prstGeom prst="rect">
            <a:avLst/>
          </a:prstGeom>
          <a:noFill/>
          <a:ln/>
        </p:spPr>
        <p:txBody>
          <a:bodyPr wrap="square" rtlCol="0"/>
          <a:lstStyle>
            <a:lvl1pPr marL="0" indent="0" algn="l">
              <a:buNone/>
              <a:defRPr lang="en-US" sz="13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300" dirty="0">
                <a:solidFill>
                  <a:srgbClr val="6B6670"/>
                </a:solidFill>
                <a:latin typeface="Montserrat" pitchFamily="34" charset="0"/>
                <a:ea typeface="Montserrat" pitchFamily="34" charset="-122"/>
                <a:cs typeface="Montserrat" pitchFamily="34" charset="-120"/>
              </a:rPr>
              <a:t>Une ligne d’explication</a:t>
            </a:r>
            <a:endParaRPr lang="en-US" sz="1300" dirty="0"/>
          </a:p>
        </p:txBody>
      </p:sp>
      <p:sp>
        <p:nvSpPr>
          <p:cNvPr id="15" name="Shape 8"/>
          <p:cNvSpPr/>
          <p:nvPr/>
        </p:nvSpPr>
        <p:spPr>
          <a:xfrm>
            <a:off x="4383938" y="2651760"/>
            <a:ext cx="3423818" cy="3383280"/>
          </a:xfrm>
          <a:prstGeom prst="rect">
            <a:avLst/>
          </a:prstGeom>
          <a:solidFill>
            <a:srgbClr val="EAE1D0"/>
          </a:solidFill>
          <a:ln w="12700">
            <a:solidFill>
              <a:srgbClr val="EAE1D0"/>
            </a:solidFill>
            <a:prstDash val="solid"/>
          </a:ln>
        </p:spPr>
      </p:sp>
      <p:sp>
        <p:nvSpPr>
          <p:cNvPr id="16" name="Shape 9"/>
          <p:cNvSpPr/>
          <p:nvPr/>
        </p:nvSpPr>
        <p:spPr>
          <a:xfrm>
            <a:off x="4383938" y="2651760"/>
            <a:ext cx="3423818" cy="73152"/>
          </a:xfrm>
          <a:prstGeom prst="rect">
            <a:avLst/>
          </a:prstGeom>
          <a:solidFill>
            <a:srgbClr val="C8963A"/>
          </a:solidFill>
          <a:ln w="12700">
            <a:solidFill>
              <a:srgbClr val="C8963A"/>
            </a:solidFill>
            <a:prstDash val="solid"/>
          </a:ln>
        </p:spPr>
      </p:sp>
      <p:sp>
        <p:nvSpPr>
          <p:cNvPr id="17" name="Chiffre 2"/>
          <p:cNvSpPr>
            <a:spLocks noGrp="1"/>
          </p:cNvSpPr>
          <p:nvPr>
            <p:ph type="body" idx="115" hasCustomPrompt="1"/>
          </p:nvPr>
        </p:nvSpPr>
        <p:spPr>
          <a:xfrm>
            <a:off x="4703978" y="2971800"/>
            <a:ext cx="2783738" cy="1280160"/>
          </a:xfrm>
          <a:prstGeom prst="rect">
            <a:avLst/>
          </a:prstGeom>
          <a:noFill/>
          <a:ln/>
        </p:spPr>
        <p:txBody>
          <a:bodyPr wrap="square" rtlCol="0"/>
          <a:lstStyle>
            <a:lvl1pPr marL="0" indent="0" algn="l">
              <a:buNone/>
              <a:defRPr lang="en-US" sz="6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6000" dirty="0">
                <a:solidFill>
                  <a:srgbClr val="1E1B2E"/>
                </a:solidFill>
                <a:latin typeface="Playfair Display" pitchFamily="34" charset="0"/>
                <a:ea typeface="Playfair Display" pitchFamily="34" charset="-122"/>
                <a:cs typeface="Playfair Display" pitchFamily="34" charset="-120"/>
              </a:rPr>
              <a:t>00</a:t>
            </a:r>
            <a:endParaRPr lang="en-US" sz="6000" dirty="0"/>
          </a:p>
        </p:txBody>
      </p:sp>
      <p:sp>
        <p:nvSpPr>
          <p:cNvPr id="18" name="Libellé 2"/>
          <p:cNvSpPr>
            <a:spLocks noGrp="1"/>
          </p:cNvSpPr>
          <p:nvPr>
            <p:ph type="body" idx="116" hasCustomPrompt="1"/>
          </p:nvPr>
        </p:nvSpPr>
        <p:spPr>
          <a:xfrm>
            <a:off x="4703978" y="4434840"/>
            <a:ext cx="2783738" cy="365760"/>
          </a:xfrm>
          <a:prstGeom prst="rect">
            <a:avLst/>
          </a:prstGeom>
          <a:noFill/>
          <a:ln/>
        </p:spPr>
        <p:txBody>
          <a:bodyPr wrap="square" rtlCol="0"/>
          <a:lstStyle>
            <a:lvl1pPr marL="0" indent="0" algn="l">
              <a:buNone/>
              <a:defRPr lang="en-US" sz="1100" b="1" kern="0" spc="200" dirty="0">
                <a:solidFill>
                  <a:srgbClr val="1E1B2E"/>
                </a:solidFill>
                <a:latin typeface="Montserrat" pitchFamily="34" charset="0"/>
                <a:ea typeface="Montserrat" pitchFamily="34" charset="-122"/>
                <a:cs typeface="Montserrat" pitchFamily="34" charset="-120"/>
              </a:defRPr>
            </a:lvl1pPr>
          </a:lstStyle>
          <a:p>
            <a:pPr marL="0" indent="0" algn="l">
              <a:buNone/>
            </a:pPr>
            <a:r>
              <a:rPr lang="en-US" sz="1100" b="1" kern="0" spc="200" dirty="0">
                <a:solidFill>
                  <a:srgbClr val="1E1B2E"/>
                </a:solidFill>
                <a:latin typeface="Montserrat" pitchFamily="34" charset="0"/>
                <a:ea typeface="Montserrat" pitchFamily="34" charset="-122"/>
                <a:cs typeface="Montserrat" pitchFamily="34" charset="-120"/>
              </a:rPr>
              <a:t>LIBELLÉ</a:t>
            </a:r>
            <a:endParaRPr lang="en-US" sz="1100" dirty="0"/>
          </a:p>
        </p:txBody>
      </p:sp>
      <p:sp>
        <p:nvSpPr>
          <p:cNvPr id="19" name="Commentaire 2"/>
          <p:cNvSpPr>
            <a:spLocks noGrp="1"/>
          </p:cNvSpPr>
          <p:nvPr>
            <p:ph type="body" idx="117" hasCustomPrompt="1"/>
          </p:nvPr>
        </p:nvSpPr>
        <p:spPr>
          <a:xfrm>
            <a:off x="4703978" y="4846320"/>
            <a:ext cx="2783738" cy="1005840"/>
          </a:xfrm>
          <a:prstGeom prst="rect">
            <a:avLst/>
          </a:prstGeom>
          <a:noFill/>
          <a:ln/>
        </p:spPr>
        <p:txBody>
          <a:bodyPr wrap="square" rtlCol="0"/>
          <a:lstStyle>
            <a:lvl1pPr marL="0" indent="0" algn="l">
              <a:buNone/>
              <a:defRPr lang="en-US" sz="13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300" dirty="0">
                <a:solidFill>
                  <a:srgbClr val="6B6670"/>
                </a:solidFill>
                <a:latin typeface="Montserrat" pitchFamily="34" charset="0"/>
                <a:ea typeface="Montserrat" pitchFamily="34" charset="-122"/>
                <a:cs typeface="Montserrat" pitchFamily="34" charset="-120"/>
              </a:rPr>
              <a:t>Une ligne d’explication</a:t>
            </a:r>
            <a:endParaRPr lang="en-US" sz="1300" dirty="0"/>
          </a:p>
        </p:txBody>
      </p:sp>
      <p:sp>
        <p:nvSpPr>
          <p:cNvPr id="20" name="Shape 10"/>
          <p:cNvSpPr/>
          <p:nvPr/>
        </p:nvSpPr>
        <p:spPr>
          <a:xfrm>
            <a:off x="8127797" y="2651760"/>
            <a:ext cx="3423818" cy="3383280"/>
          </a:xfrm>
          <a:prstGeom prst="rect">
            <a:avLst/>
          </a:prstGeom>
          <a:solidFill>
            <a:srgbClr val="EAE1D0"/>
          </a:solidFill>
          <a:ln w="12700">
            <a:solidFill>
              <a:srgbClr val="EAE1D0"/>
            </a:solidFill>
            <a:prstDash val="solid"/>
          </a:ln>
        </p:spPr>
      </p:sp>
      <p:sp>
        <p:nvSpPr>
          <p:cNvPr id="21" name="Shape 11"/>
          <p:cNvSpPr/>
          <p:nvPr/>
        </p:nvSpPr>
        <p:spPr>
          <a:xfrm>
            <a:off x="8127797" y="2651760"/>
            <a:ext cx="3423818" cy="73152"/>
          </a:xfrm>
          <a:prstGeom prst="rect">
            <a:avLst/>
          </a:prstGeom>
          <a:solidFill>
            <a:srgbClr val="1E1B2E"/>
          </a:solidFill>
          <a:ln w="12700">
            <a:solidFill>
              <a:srgbClr val="1E1B2E"/>
            </a:solidFill>
            <a:prstDash val="solid"/>
          </a:ln>
        </p:spPr>
      </p:sp>
      <p:sp>
        <p:nvSpPr>
          <p:cNvPr id="22" name="Chiffre 3"/>
          <p:cNvSpPr>
            <a:spLocks noGrp="1"/>
          </p:cNvSpPr>
          <p:nvPr>
            <p:ph type="body" idx="120" hasCustomPrompt="1"/>
          </p:nvPr>
        </p:nvSpPr>
        <p:spPr>
          <a:xfrm>
            <a:off x="8447837" y="2971800"/>
            <a:ext cx="2783738" cy="1280160"/>
          </a:xfrm>
          <a:prstGeom prst="rect">
            <a:avLst/>
          </a:prstGeom>
          <a:noFill/>
          <a:ln/>
        </p:spPr>
        <p:txBody>
          <a:bodyPr wrap="square" rtlCol="0"/>
          <a:lstStyle>
            <a:lvl1pPr marL="0" indent="0" algn="l">
              <a:buNone/>
              <a:defRPr lang="en-US" sz="6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6000" dirty="0">
                <a:solidFill>
                  <a:srgbClr val="1E1B2E"/>
                </a:solidFill>
                <a:latin typeface="Playfair Display" pitchFamily="34" charset="0"/>
                <a:ea typeface="Playfair Display" pitchFamily="34" charset="-122"/>
                <a:cs typeface="Playfair Display" pitchFamily="34" charset="-120"/>
              </a:rPr>
              <a:t>00</a:t>
            </a:r>
            <a:endParaRPr lang="en-US" sz="6000" dirty="0"/>
          </a:p>
        </p:txBody>
      </p:sp>
      <p:sp>
        <p:nvSpPr>
          <p:cNvPr id="23" name="Libellé 3"/>
          <p:cNvSpPr>
            <a:spLocks noGrp="1"/>
          </p:cNvSpPr>
          <p:nvPr>
            <p:ph type="body" idx="121" hasCustomPrompt="1"/>
          </p:nvPr>
        </p:nvSpPr>
        <p:spPr>
          <a:xfrm>
            <a:off x="8447837" y="4434840"/>
            <a:ext cx="2783738" cy="365760"/>
          </a:xfrm>
          <a:prstGeom prst="rect">
            <a:avLst/>
          </a:prstGeom>
          <a:noFill/>
          <a:ln/>
        </p:spPr>
        <p:txBody>
          <a:bodyPr wrap="square" rtlCol="0"/>
          <a:lstStyle>
            <a:lvl1pPr marL="0" indent="0" algn="l">
              <a:buNone/>
              <a:defRPr lang="en-US" sz="1100" b="1" kern="0" spc="200" dirty="0">
                <a:solidFill>
                  <a:srgbClr val="1E1B2E"/>
                </a:solidFill>
                <a:latin typeface="Montserrat" pitchFamily="34" charset="0"/>
                <a:ea typeface="Montserrat" pitchFamily="34" charset="-122"/>
                <a:cs typeface="Montserrat" pitchFamily="34" charset="-120"/>
              </a:defRPr>
            </a:lvl1pPr>
          </a:lstStyle>
          <a:p>
            <a:pPr marL="0" indent="0" algn="l">
              <a:buNone/>
            </a:pPr>
            <a:r>
              <a:rPr lang="en-US" sz="1100" b="1" kern="0" spc="200" dirty="0">
                <a:solidFill>
                  <a:srgbClr val="1E1B2E"/>
                </a:solidFill>
                <a:latin typeface="Montserrat" pitchFamily="34" charset="0"/>
                <a:ea typeface="Montserrat" pitchFamily="34" charset="-122"/>
                <a:cs typeface="Montserrat" pitchFamily="34" charset="-120"/>
              </a:rPr>
              <a:t>LIBELLÉ</a:t>
            </a:r>
            <a:endParaRPr lang="en-US" sz="1100" dirty="0"/>
          </a:p>
        </p:txBody>
      </p:sp>
      <p:sp>
        <p:nvSpPr>
          <p:cNvPr id="24" name="Commentaire 3"/>
          <p:cNvSpPr>
            <a:spLocks noGrp="1"/>
          </p:cNvSpPr>
          <p:nvPr>
            <p:ph type="body" idx="122" hasCustomPrompt="1"/>
          </p:nvPr>
        </p:nvSpPr>
        <p:spPr>
          <a:xfrm>
            <a:off x="8447837" y="4846320"/>
            <a:ext cx="2783738" cy="1005840"/>
          </a:xfrm>
          <a:prstGeom prst="rect">
            <a:avLst/>
          </a:prstGeom>
          <a:noFill/>
          <a:ln/>
        </p:spPr>
        <p:txBody>
          <a:bodyPr wrap="square" rtlCol="0"/>
          <a:lstStyle>
            <a:lvl1pPr marL="0" indent="0" algn="l">
              <a:buNone/>
              <a:defRPr lang="en-US" sz="13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300" dirty="0">
                <a:solidFill>
                  <a:srgbClr val="6B6670"/>
                </a:solidFill>
                <a:latin typeface="Montserrat" pitchFamily="34" charset="0"/>
                <a:ea typeface="Montserrat" pitchFamily="34" charset="-122"/>
                <a:cs typeface="Montserrat" pitchFamily="34" charset="-120"/>
              </a:rPr>
              <a:t>Une ligne d’explication</a:t>
            </a:r>
            <a:endParaRPr lang="en-US" sz="13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2 Citation ou manifeste">
    <p:bg>
      <p:bgPr>
        <a:solidFill>
          <a:srgbClr val="1E1B2E"/>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F4EEE3"/>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8FA593"/>
          </a:solidFill>
          <a:ln>
            <a:solidFill>
              <a:srgbClr val="8FA593"/>
            </a:solidFill>
          </a:ln>
        </p:spPr>
        <p:txBody>
          <a:bodyPr wrap="square" rtlCol="0" anchor="ctr"/>
          <a:lstStyle/>
          <a:p>
            <a:pPr marL="0" indent="0">
              <a:buNone/>
            </a:pPr>
            <a:endParaRPr lang="en-US" dirty="0"/>
          </a:p>
        </p:txBody>
      </p:sp>
      <p:sp>
        <p:nvSpPr>
          <p:cNvPr id="6" name="Shape 4"/>
          <p:cNvSpPr/>
          <p:nvPr/>
        </p:nvSpPr>
        <p:spPr>
          <a:xfrm>
            <a:off x="640080" y="6382512"/>
            <a:ext cx="10911535" cy="0"/>
          </a:xfrm>
          <a:prstGeom prst="line">
            <a:avLst/>
          </a:prstGeom>
          <a:noFill/>
          <a:ln w="9525">
            <a:solidFill>
              <a:srgbClr val="4A4560"/>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marL="0" indent="0">
              <a:buNone/>
            </a:pPr>
            <a:r>
              <a:rPr lang="en-US" sz="850" kern="0" spc="100" dirty="0">
                <a:solidFill>
                  <a:srgbClr val="B5AFC1"/>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Text 6"/>
          <p:cNvSpPr/>
          <p:nvPr/>
        </p:nvSpPr>
        <p:spPr>
          <a:xfrm>
            <a:off x="594360" y="777240"/>
            <a:ext cx="1828800" cy="1828800"/>
          </a:xfrm>
          <a:prstGeom prst="rect">
            <a:avLst/>
          </a:prstGeom>
          <a:noFill/>
          <a:ln/>
        </p:spPr>
        <p:txBody>
          <a:bodyPr wrap="square" lIns="0" tIns="0" rIns="0" bIns="0" rtlCol="0" anchor="t"/>
          <a:lstStyle/>
          <a:p>
            <a:pPr marL="0" indent="0">
              <a:buNone/>
            </a:pPr>
            <a:r>
              <a:rPr lang="en-US" sz="16000" dirty="0">
                <a:solidFill>
                  <a:srgbClr val="C2432B"/>
                </a:solidFill>
                <a:latin typeface="Playfair Display" pitchFamily="34" charset="0"/>
                <a:ea typeface="Playfair Display" pitchFamily="34" charset="-122"/>
                <a:cs typeface="Playfair Display" pitchFamily="34" charset="-120"/>
              </a:rPr>
              <a:t>“</a:t>
            </a:r>
            <a:endParaRPr lang="en-US" sz="16000" dirty="0"/>
          </a:p>
        </p:txBody>
      </p:sp>
      <p:sp>
        <p:nvSpPr>
          <p:cNvPr id="9" name="Citation"/>
          <p:cNvSpPr>
            <a:spLocks noGrp="1"/>
          </p:cNvSpPr>
          <p:nvPr>
            <p:ph type="body" idx="107" hasCustomPrompt="1"/>
          </p:nvPr>
        </p:nvSpPr>
        <p:spPr>
          <a:xfrm>
            <a:off x="1828800" y="1828800"/>
            <a:ext cx="8595360" cy="3017520"/>
          </a:xfrm>
          <a:prstGeom prst="rect">
            <a:avLst/>
          </a:prstGeom>
          <a:noFill/>
          <a:ln/>
        </p:spPr>
        <p:txBody>
          <a:bodyPr wrap="square" rtlCol="0"/>
          <a:lstStyle>
            <a:lvl1pPr marL="0" indent="0" algn="l">
              <a:buNone/>
              <a:defRPr lang="en-US" sz="3400" i="1" dirty="0">
                <a:solidFill>
                  <a:srgbClr val="F4EEE3"/>
                </a:solidFill>
                <a:latin typeface="Playfair Display" pitchFamily="34" charset="0"/>
                <a:ea typeface="Playfair Display" pitchFamily="34" charset="-122"/>
                <a:cs typeface="Playfair Display" pitchFamily="34" charset="-120"/>
              </a:defRPr>
            </a:lvl1pPr>
          </a:lstStyle>
          <a:p>
            <a:pPr marL="0" indent="0" algn="l">
              <a:buNone/>
            </a:pPr>
            <a:r>
              <a:rPr lang="en-US" sz="3400" i="1" dirty="0">
                <a:solidFill>
                  <a:srgbClr val="F4EEE3"/>
                </a:solidFill>
                <a:latin typeface="Playfair Display" pitchFamily="34" charset="0"/>
                <a:ea typeface="Playfair Display" pitchFamily="34" charset="-122"/>
                <a:cs typeface="Playfair Display" pitchFamily="34" charset="-120"/>
              </a:rPr>
              <a:t>Une phrase forte, une conviction, un manifeste</a:t>
            </a:r>
            <a:endParaRPr lang="en-US" sz="3400" dirty="0"/>
          </a:p>
        </p:txBody>
      </p:sp>
      <p:sp>
        <p:nvSpPr>
          <p:cNvPr id="10" name="Shape 7"/>
          <p:cNvSpPr/>
          <p:nvPr/>
        </p:nvSpPr>
        <p:spPr>
          <a:xfrm>
            <a:off x="1828800" y="5074920"/>
            <a:ext cx="731520" cy="54864"/>
          </a:xfrm>
          <a:prstGeom prst="rect">
            <a:avLst/>
          </a:prstGeom>
          <a:solidFill>
            <a:srgbClr val="C8963A"/>
          </a:solidFill>
          <a:ln w="12700">
            <a:solidFill>
              <a:srgbClr val="C8963A"/>
            </a:solidFill>
            <a:prstDash val="solid"/>
          </a:ln>
        </p:spPr>
      </p:sp>
      <p:sp>
        <p:nvSpPr>
          <p:cNvPr id="11" name="Auteur"/>
          <p:cNvSpPr>
            <a:spLocks noGrp="1"/>
          </p:cNvSpPr>
          <p:nvPr>
            <p:ph type="body" idx="109" hasCustomPrompt="1"/>
          </p:nvPr>
        </p:nvSpPr>
        <p:spPr>
          <a:xfrm>
            <a:off x="1828800" y="5257800"/>
            <a:ext cx="8229600" cy="365760"/>
          </a:xfrm>
          <a:prstGeom prst="rect">
            <a:avLst/>
          </a:prstGeom>
          <a:noFill/>
          <a:ln/>
        </p:spPr>
        <p:txBody>
          <a:bodyPr wrap="square" rtlCol="0"/>
          <a:lstStyle>
            <a:lvl1pPr marL="0" indent="0" algn="l">
              <a:buNone/>
              <a:defRPr lang="en-US" sz="1000" b="1" kern="0" spc="300" dirty="0">
                <a:solidFill>
                  <a:srgbClr val="C8963A"/>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8963A"/>
                </a:solidFill>
                <a:latin typeface="Montserrat" pitchFamily="34" charset="0"/>
                <a:ea typeface="Montserrat" pitchFamily="34" charset="-122"/>
                <a:cs typeface="Montserrat" pitchFamily="34" charset="-120"/>
              </a:rPr>
              <a:t>NOM · FONCTION</a:t>
            </a:r>
            <a:endParaRPr lang="en-US" sz="10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A9A3B5"/>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3 Graphique ou tableau">
    <p:bg>
      <p:bgPr>
        <a:solidFill>
          <a:srgbClr val="F4EEE3"/>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marL="0" indent="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a:spLocks noGrp="1"/>
          </p:cNvSpPr>
          <p:nvPr>
            <p:ph type="body" idx="106" hasCustomPrompt="1"/>
          </p:nvPr>
        </p:nvSpPr>
        <p:spPr>
          <a:xfrm>
            <a:off x="640080" y="914400"/>
            <a:ext cx="8229600" cy="274320"/>
          </a:xfrm>
          <a:prstGeom prst="rect">
            <a:avLst/>
          </a:prstGeom>
          <a:noFill/>
          <a:ln/>
        </p:spPr>
        <p:txBody>
          <a:bodyPr wrap="square" rtlCol="0"/>
          <a:lstStyle>
            <a:lvl1pPr marL="0" indent="0" algn="l">
              <a:buNone/>
              <a:defRPr lang="en-US" sz="1000" b="1" kern="0" spc="300" dirty="0">
                <a:solidFill>
                  <a:srgbClr val="C2432B"/>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a:spLocks noGrp="1"/>
          </p:cNvSpPr>
          <p:nvPr>
            <p:ph type="title" idx="107" hasCustomPrompt="1"/>
          </p:nvPr>
        </p:nvSpPr>
        <p:spPr>
          <a:xfrm>
            <a:off x="640080" y="1234440"/>
            <a:ext cx="10911535" cy="822960"/>
          </a:xfrm>
          <a:prstGeom prst="rect">
            <a:avLst/>
          </a:prstGeom>
          <a:noFill/>
          <a:ln/>
        </p:spPr>
        <p:txBody>
          <a:bodyPr wrap="square" rtlCol="0"/>
          <a:lstStyle>
            <a:lvl1pPr marL="0" indent="0" algn="l">
              <a:buNone/>
              <a:defRPr lang="en-US" sz="3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Graphique"/>
          <p:cNvSpPr>
            <a:spLocks noGrp="1"/>
          </p:cNvSpPr>
          <p:nvPr>
            <p:ph type="body" idx="108" hasCustomPrompt="1"/>
          </p:nvPr>
        </p:nvSpPr>
        <p:spPr>
          <a:xfrm>
            <a:off x="640080" y="2240280"/>
            <a:ext cx="7863840" cy="3794760"/>
          </a:xfrm>
          <a:prstGeom prst="rect">
            <a:avLst/>
          </a:prstGeom>
          <a:noFill/>
          <a:ln/>
        </p:spPr>
        <p:txBody>
          <a:bodyPr wrap="square" rtlCol="0"/>
          <a:lstStyle>
            <a:lvl1pPr marL="0" indent="0" algn="l">
              <a:buNone/>
              <a:defRPr lang="en-US" sz="13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300" dirty="0">
                <a:solidFill>
                  <a:srgbClr val="6B6670"/>
                </a:solidFill>
                <a:latin typeface="Montserrat" pitchFamily="34" charset="0"/>
                <a:ea typeface="Montserrat" pitchFamily="34" charset="-122"/>
                <a:cs typeface="Montserrat" pitchFamily="34" charset="-120"/>
              </a:rPr>
              <a:t>Insérer un graphique, un tableau ou un schéma</a:t>
            </a:r>
            <a:endParaRPr lang="en-US" sz="1300" dirty="0"/>
          </a:p>
        </p:txBody>
      </p:sp>
      <p:sp>
        <p:nvSpPr>
          <p:cNvPr id="11" name="Shape 6"/>
          <p:cNvSpPr/>
          <p:nvPr/>
        </p:nvSpPr>
        <p:spPr>
          <a:xfrm>
            <a:off x="8915400" y="2240280"/>
            <a:ext cx="2633472" cy="3794760"/>
          </a:xfrm>
          <a:prstGeom prst="rect">
            <a:avLst/>
          </a:prstGeom>
          <a:solidFill>
            <a:srgbClr val="EAE1D0"/>
          </a:solidFill>
          <a:ln w="12700">
            <a:solidFill>
              <a:srgbClr val="EAE1D0"/>
            </a:solidFill>
            <a:prstDash val="solid"/>
          </a:ln>
        </p:spPr>
      </p:sp>
      <p:sp>
        <p:nvSpPr>
          <p:cNvPr id="12" name="Shape 7"/>
          <p:cNvSpPr/>
          <p:nvPr/>
        </p:nvSpPr>
        <p:spPr>
          <a:xfrm>
            <a:off x="8915400" y="2240280"/>
            <a:ext cx="54864" cy="3794760"/>
          </a:xfrm>
          <a:prstGeom prst="rect">
            <a:avLst/>
          </a:prstGeom>
          <a:solidFill>
            <a:srgbClr val="C2432B"/>
          </a:solidFill>
          <a:ln w="12700">
            <a:solidFill>
              <a:srgbClr val="C2432B"/>
            </a:solidFill>
            <a:prstDash val="solid"/>
          </a:ln>
        </p:spPr>
      </p:sp>
      <p:sp>
        <p:nvSpPr>
          <p:cNvPr id="13" name="Lecture"/>
          <p:cNvSpPr>
            <a:spLocks noGrp="1"/>
          </p:cNvSpPr>
          <p:nvPr>
            <p:ph type="body" idx="111" hasCustomPrompt="1"/>
          </p:nvPr>
        </p:nvSpPr>
        <p:spPr>
          <a:xfrm>
            <a:off x="9189720" y="2468880"/>
            <a:ext cx="2194560" cy="3383280"/>
          </a:xfrm>
          <a:prstGeom prst="rect">
            <a:avLst/>
          </a:prstGeom>
          <a:noFill/>
          <a:ln/>
        </p:spPr>
        <p:txBody>
          <a:bodyPr wrap="square" rtlCol="0"/>
          <a:lstStyle>
            <a:lvl1pPr marL="0" indent="0" algn="l">
              <a:buNone/>
              <a:defRPr lang="en-US" sz="1300" dirty="0">
                <a:solidFill>
                  <a:srgbClr val="26232F"/>
                </a:solidFill>
                <a:latin typeface="Montserrat" pitchFamily="34" charset="0"/>
                <a:ea typeface="Montserrat" pitchFamily="34" charset="-122"/>
                <a:cs typeface="Montserrat" pitchFamily="34" charset="-120"/>
              </a:defRPr>
            </a:lvl1pPr>
          </a:lstStyle>
          <a:p>
            <a:pPr marL="0" indent="0" algn="l">
              <a:buNone/>
            </a:pPr>
            <a:r>
              <a:rPr lang="en-US" sz="1300" dirty="0">
                <a:solidFill>
                  <a:srgbClr val="26232F"/>
                </a:solidFill>
                <a:latin typeface="Montserrat" pitchFamily="34" charset="0"/>
                <a:ea typeface="Montserrat" pitchFamily="34" charset="-122"/>
                <a:cs typeface="Montserrat" pitchFamily="34" charset="-120"/>
              </a:rPr>
              <a:t>À retenir : la lecture du graphique en trois points</a:t>
            </a:r>
            <a:endParaRPr lang="en-US" sz="1300" dirty="0"/>
          </a:p>
        </p:txBody>
      </p:sp>
      <p:sp>
        <p:nvSpPr>
          <p:cNvPr id="14" name="Source"/>
          <p:cNvSpPr>
            <a:spLocks noGrp="1"/>
          </p:cNvSpPr>
          <p:nvPr>
            <p:ph type="body" idx="112" hasCustomPrompt="1"/>
          </p:nvPr>
        </p:nvSpPr>
        <p:spPr>
          <a:xfrm>
            <a:off x="640080" y="6080760"/>
            <a:ext cx="7863840" cy="228600"/>
          </a:xfrm>
          <a:prstGeom prst="rect">
            <a:avLst/>
          </a:prstGeom>
          <a:noFill/>
          <a:ln/>
        </p:spPr>
        <p:txBody>
          <a:bodyPr wrap="square" rtlCol="0"/>
          <a:lstStyle>
            <a:lvl1pPr marL="0" indent="0" algn="l">
              <a:buNone/>
              <a:defRPr lang="en-US" sz="8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800" dirty="0">
                <a:solidFill>
                  <a:srgbClr val="6B6670"/>
                </a:solidFill>
                <a:latin typeface="Montserrat" pitchFamily="34" charset="0"/>
                <a:ea typeface="Montserrat" pitchFamily="34" charset="-122"/>
                <a:cs typeface="Montserrat" pitchFamily="34" charset="-120"/>
              </a:rPr>
              <a:t>Source : à compléter</a:t>
            </a:r>
            <a:endParaRPr lang="en-US" sz="8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4 Équipe">
    <p:bg>
      <p:bgPr>
        <a:solidFill>
          <a:srgbClr val="F4EEE3"/>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marL="0" indent="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a:spLocks noGrp="1"/>
          </p:cNvSpPr>
          <p:nvPr>
            <p:ph type="body" idx="106" hasCustomPrompt="1"/>
          </p:nvPr>
        </p:nvSpPr>
        <p:spPr>
          <a:xfrm>
            <a:off x="640080" y="914400"/>
            <a:ext cx="8229600" cy="274320"/>
          </a:xfrm>
          <a:prstGeom prst="rect">
            <a:avLst/>
          </a:prstGeom>
          <a:noFill/>
          <a:ln/>
        </p:spPr>
        <p:txBody>
          <a:bodyPr wrap="square" rtlCol="0"/>
          <a:lstStyle>
            <a:lvl1pPr marL="0" indent="0" algn="l">
              <a:buNone/>
              <a:defRPr lang="en-US" sz="1000" b="1" kern="0" spc="300" dirty="0">
                <a:solidFill>
                  <a:srgbClr val="C2432B"/>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a:spLocks noGrp="1"/>
          </p:cNvSpPr>
          <p:nvPr>
            <p:ph type="title" idx="107" hasCustomPrompt="1"/>
          </p:nvPr>
        </p:nvSpPr>
        <p:spPr>
          <a:xfrm>
            <a:off x="640080" y="1234440"/>
            <a:ext cx="10911535" cy="822960"/>
          </a:xfrm>
          <a:prstGeom prst="rect">
            <a:avLst/>
          </a:prstGeom>
          <a:noFill/>
          <a:ln/>
        </p:spPr>
        <p:txBody>
          <a:bodyPr wrap="square" rtlCol="0"/>
          <a:lstStyle>
            <a:lvl1pPr marL="0" indent="0" algn="l">
              <a:buNone/>
              <a:defRPr lang="en-US" sz="3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10" name="Shape 6"/>
          <p:cNvSpPr/>
          <p:nvPr/>
        </p:nvSpPr>
        <p:spPr>
          <a:xfrm>
            <a:off x="640080" y="2240280"/>
            <a:ext cx="2487854" cy="2468880"/>
          </a:xfrm>
          <a:prstGeom prst="rect">
            <a:avLst/>
          </a:prstGeom>
          <a:solidFill>
            <a:srgbClr val="DDD3C1"/>
          </a:solidFill>
          <a:ln w="12700">
            <a:solidFill>
              <a:srgbClr val="DDD3C1"/>
            </a:solidFill>
            <a:prstDash val="solid"/>
          </a:ln>
        </p:spPr>
      </p:sp>
      <p:sp>
        <p:nvSpPr>
          <p:cNvPr id="11" name="Portrait 1"/>
          <p:cNvSpPr>
            <a:spLocks noGrp="1"/>
          </p:cNvSpPr>
          <p:nvPr>
            <p:ph type="pic" idx="109" hasCustomPrompt="1"/>
          </p:nvPr>
        </p:nvSpPr>
        <p:spPr>
          <a:xfrm>
            <a:off x="640080" y="2240280"/>
            <a:ext cx="2487854" cy="246888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12" name="Shape 7"/>
          <p:cNvSpPr/>
          <p:nvPr/>
        </p:nvSpPr>
        <p:spPr>
          <a:xfrm>
            <a:off x="640080" y="4709160"/>
            <a:ext cx="2487854" cy="54864"/>
          </a:xfrm>
          <a:prstGeom prst="rect">
            <a:avLst/>
          </a:prstGeom>
          <a:solidFill>
            <a:srgbClr val="C2432B"/>
          </a:solidFill>
          <a:ln w="12700">
            <a:solidFill>
              <a:srgbClr val="C2432B"/>
            </a:solidFill>
            <a:prstDash val="solid"/>
          </a:ln>
        </p:spPr>
      </p:sp>
      <p:sp>
        <p:nvSpPr>
          <p:cNvPr id="13" name="Nom 1"/>
          <p:cNvSpPr>
            <a:spLocks noGrp="1"/>
          </p:cNvSpPr>
          <p:nvPr>
            <p:ph type="body" idx="111" hasCustomPrompt="1"/>
          </p:nvPr>
        </p:nvSpPr>
        <p:spPr>
          <a:xfrm>
            <a:off x="640080" y="4892040"/>
            <a:ext cx="2487854" cy="365760"/>
          </a:xfrm>
          <a:prstGeom prst="rect">
            <a:avLst/>
          </a:prstGeom>
          <a:noFill/>
          <a:ln/>
        </p:spPr>
        <p:txBody>
          <a:bodyPr wrap="square" rtlCol="0"/>
          <a:lstStyle>
            <a:lvl1pPr marL="0" indent="0" algn="l">
              <a:buNone/>
              <a:defRPr lang="en-US" sz="17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1700" dirty="0">
                <a:solidFill>
                  <a:srgbClr val="1E1B2E"/>
                </a:solidFill>
                <a:latin typeface="Playfair Display" pitchFamily="34" charset="0"/>
                <a:ea typeface="Playfair Display" pitchFamily="34" charset="-122"/>
                <a:cs typeface="Playfair Display" pitchFamily="34" charset="-120"/>
              </a:rPr>
              <a:t>Prénom Nom</a:t>
            </a:r>
            <a:endParaRPr lang="en-US" sz="1700" dirty="0"/>
          </a:p>
        </p:txBody>
      </p:sp>
      <p:sp>
        <p:nvSpPr>
          <p:cNvPr id="14" name="Rôle 1"/>
          <p:cNvSpPr>
            <a:spLocks noGrp="1"/>
          </p:cNvSpPr>
          <p:nvPr>
            <p:ph type="body" idx="112" hasCustomPrompt="1"/>
          </p:nvPr>
        </p:nvSpPr>
        <p:spPr>
          <a:xfrm>
            <a:off x="640080" y="5303520"/>
            <a:ext cx="2487854" cy="822960"/>
          </a:xfrm>
          <a:prstGeom prst="rect">
            <a:avLst/>
          </a:prstGeom>
          <a:noFill/>
          <a:ln/>
        </p:spPr>
        <p:txBody>
          <a:bodyPr wrap="square" rtlCol="0"/>
          <a:lstStyle>
            <a:lvl1pPr marL="0" indent="0" algn="l">
              <a:buNone/>
              <a:defRPr lang="en-US" sz="12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200" dirty="0">
                <a:solidFill>
                  <a:srgbClr val="6B6670"/>
                </a:solidFill>
                <a:latin typeface="Montserrat" pitchFamily="34" charset="0"/>
                <a:ea typeface="Montserrat" pitchFamily="34" charset="-122"/>
                <a:cs typeface="Montserrat" pitchFamily="34" charset="-120"/>
              </a:rPr>
              <a:t>Rôle et expertise</a:t>
            </a:r>
            <a:endParaRPr lang="en-US" sz="1200" dirty="0"/>
          </a:p>
        </p:txBody>
      </p:sp>
      <p:sp>
        <p:nvSpPr>
          <p:cNvPr id="15" name="Shape 8"/>
          <p:cNvSpPr/>
          <p:nvPr/>
        </p:nvSpPr>
        <p:spPr>
          <a:xfrm>
            <a:off x="3447974" y="2240280"/>
            <a:ext cx="2487854" cy="2468880"/>
          </a:xfrm>
          <a:prstGeom prst="rect">
            <a:avLst/>
          </a:prstGeom>
          <a:solidFill>
            <a:srgbClr val="DDD3C1"/>
          </a:solidFill>
          <a:ln w="12700">
            <a:solidFill>
              <a:srgbClr val="DDD3C1"/>
            </a:solidFill>
            <a:prstDash val="solid"/>
          </a:ln>
        </p:spPr>
      </p:sp>
      <p:sp>
        <p:nvSpPr>
          <p:cNvPr id="16" name="Portrait 2"/>
          <p:cNvSpPr>
            <a:spLocks noGrp="1"/>
          </p:cNvSpPr>
          <p:nvPr>
            <p:ph type="pic" idx="114" hasCustomPrompt="1"/>
          </p:nvPr>
        </p:nvSpPr>
        <p:spPr>
          <a:xfrm>
            <a:off x="3447974" y="2240280"/>
            <a:ext cx="2487854" cy="246888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17" name="Shape 9"/>
          <p:cNvSpPr/>
          <p:nvPr/>
        </p:nvSpPr>
        <p:spPr>
          <a:xfrm>
            <a:off x="3447974" y="4709160"/>
            <a:ext cx="2487854" cy="54864"/>
          </a:xfrm>
          <a:prstGeom prst="rect">
            <a:avLst/>
          </a:prstGeom>
          <a:solidFill>
            <a:srgbClr val="C8963A"/>
          </a:solidFill>
          <a:ln w="12700">
            <a:solidFill>
              <a:srgbClr val="C8963A"/>
            </a:solidFill>
            <a:prstDash val="solid"/>
          </a:ln>
        </p:spPr>
      </p:sp>
      <p:sp>
        <p:nvSpPr>
          <p:cNvPr id="18" name="Nom 2"/>
          <p:cNvSpPr>
            <a:spLocks noGrp="1"/>
          </p:cNvSpPr>
          <p:nvPr>
            <p:ph type="body" idx="116" hasCustomPrompt="1"/>
          </p:nvPr>
        </p:nvSpPr>
        <p:spPr>
          <a:xfrm>
            <a:off x="3447974" y="4892040"/>
            <a:ext cx="2487854" cy="365760"/>
          </a:xfrm>
          <a:prstGeom prst="rect">
            <a:avLst/>
          </a:prstGeom>
          <a:noFill/>
          <a:ln/>
        </p:spPr>
        <p:txBody>
          <a:bodyPr wrap="square" rtlCol="0"/>
          <a:lstStyle>
            <a:lvl1pPr marL="0" indent="0" algn="l">
              <a:buNone/>
              <a:defRPr lang="en-US" sz="17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1700" dirty="0">
                <a:solidFill>
                  <a:srgbClr val="1E1B2E"/>
                </a:solidFill>
                <a:latin typeface="Playfair Display" pitchFamily="34" charset="0"/>
                <a:ea typeface="Playfair Display" pitchFamily="34" charset="-122"/>
                <a:cs typeface="Playfair Display" pitchFamily="34" charset="-120"/>
              </a:rPr>
              <a:t>Prénom Nom</a:t>
            </a:r>
            <a:endParaRPr lang="en-US" sz="1700" dirty="0"/>
          </a:p>
        </p:txBody>
      </p:sp>
      <p:sp>
        <p:nvSpPr>
          <p:cNvPr id="19" name="Rôle 2"/>
          <p:cNvSpPr>
            <a:spLocks noGrp="1"/>
          </p:cNvSpPr>
          <p:nvPr>
            <p:ph type="body" idx="117" hasCustomPrompt="1"/>
          </p:nvPr>
        </p:nvSpPr>
        <p:spPr>
          <a:xfrm>
            <a:off x="3447974" y="5303520"/>
            <a:ext cx="2487854" cy="822960"/>
          </a:xfrm>
          <a:prstGeom prst="rect">
            <a:avLst/>
          </a:prstGeom>
          <a:noFill/>
          <a:ln/>
        </p:spPr>
        <p:txBody>
          <a:bodyPr wrap="square" rtlCol="0"/>
          <a:lstStyle>
            <a:lvl1pPr marL="0" indent="0" algn="l">
              <a:buNone/>
              <a:defRPr lang="en-US" sz="12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200" dirty="0">
                <a:solidFill>
                  <a:srgbClr val="6B6670"/>
                </a:solidFill>
                <a:latin typeface="Montserrat" pitchFamily="34" charset="0"/>
                <a:ea typeface="Montserrat" pitchFamily="34" charset="-122"/>
                <a:cs typeface="Montserrat" pitchFamily="34" charset="-120"/>
              </a:rPr>
              <a:t>Rôle et expertise</a:t>
            </a:r>
            <a:endParaRPr lang="en-US" sz="1200" dirty="0"/>
          </a:p>
        </p:txBody>
      </p:sp>
      <p:sp>
        <p:nvSpPr>
          <p:cNvPr id="20" name="Shape 10"/>
          <p:cNvSpPr/>
          <p:nvPr/>
        </p:nvSpPr>
        <p:spPr>
          <a:xfrm>
            <a:off x="6255868" y="2240280"/>
            <a:ext cx="2487854" cy="2468880"/>
          </a:xfrm>
          <a:prstGeom prst="rect">
            <a:avLst/>
          </a:prstGeom>
          <a:solidFill>
            <a:srgbClr val="DDD3C1"/>
          </a:solidFill>
          <a:ln w="12700">
            <a:solidFill>
              <a:srgbClr val="DDD3C1"/>
            </a:solidFill>
            <a:prstDash val="solid"/>
          </a:ln>
        </p:spPr>
      </p:sp>
      <p:sp>
        <p:nvSpPr>
          <p:cNvPr id="21" name="Portrait 3"/>
          <p:cNvSpPr>
            <a:spLocks noGrp="1"/>
          </p:cNvSpPr>
          <p:nvPr>
            <p:ph type="pic" idx="119" hasCustomPrompt="1"/>
          </p:nvPr>
        </p:nvSpPr>
        <p:spPr>
          <a:xfrm>
            <a:off x="6255868" y="2240280"/>
            <a:ext cx="2487854" cy="246888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22" name="Shape 11"/>
          <p:cNvSpPr/>
          <p:nvPr/>
        </p:nvSpPr>
        <p:spPr>
          <a:xfrm>
            <a:off x="6255868" y="4709160"/>
            <a:ext cx="2487854" cy="54864"/>
          </a:xfrm>
          <a:prstGeom prst="rect">
            <a:avLst/>
          </a:prstGeom>
          <a:solidFill>
            <a:srgbClr val="8FA593"/>
          </a:solidFill>
          <a:ln w="12700">
            <a:solidFill>
              <a:srgbClr val="8FA593"/>
            </a:solidFill>
            <a:prstDash val="solid"/>
          </a:ln>
        </p:spPr>
      </p:sp>
      <p:sp>
        <p:nvSpPr>
          <p:cNvPr id="23" name="Nom 3"/>
          <p:cNvSpPr>
            <a:spLocks noGrp="1"/>
          </p:cNvSpPr>
          <p:nvPr>
            <p:ph type="body" idx="121" hasCustomPrompt="1"/>
          </p:nvPr>
        </p:nvSpPr>
        <p:spPr>
          <a:xfrm>
            <a:off x="6255868" y="4892040"/>
            <a:ext cx="2487854" cy="365760"/>
          </a:xfrm>
          <a:prstGeom prst="rect">
            <a:avLst/>
          </a:prstGeom>
          <a:noFill/>
          <a:ln/>
        </p:spPr>
        <p:txBody>
          <a:bodyPr wrap="square" rtlCol="0"/>
          <a:lstStyle>
            <a:lvl1pPr marL="0" indent="0" algn="l">
              <a:buNone/>
              <a:defRPr lang="en-US" sz="17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1700" dirty="0">
                <a:solidFill>
                  <a:srgbClr val="1E1B2E"/>
                </a:solidFill>
                <a:latin typeface="Playfair Display" pitchFamily="34" charset="0"/>
                <a:ea typeface="Playfair Display" pitchFamily="34" charset="-122"/>
                <a:cs typeface="Playfair Display" pitchFamily="34" charset="-120"/>
              </a:rPr>
              <a:t>Prénom Nom</a:t>
            </a:r>
            <a:endParaRPr lang="en-US" sz="1700" dirty="0"/>
          </a:p>
        </p:txBody>
      </p:sp>
      <p:sp>
        <p:nvSpPr>
          <p:cNvPr id="24" name="Rôle 3"/>
          <p:cNvSpPr>
            <a:spLocks noGrp="1"/>
          </p:cNvSpPr>
          <p:nvPr>
            <p:ph type="body" idx="122" hasCustomPrompt="1"/>
          </p:nvPr>
        </p:nvSpPr>
        <p:spPr>
          <a:xfrm>
            <a:off x="6255868" y="5303520"/>
            <a:ext cx="2487854" cy="822960"/>
          </a:xfrm>
          <a:prstGeom prst="rect">
            <a:avLst/>
          </a:prstGeom>
          <a:noFill/>
          <a:ln/>
        </p:spPr>
        <p:txBody>
          <a:bodyPr wrap="square" rtlCol="0"/>
          <a:lstStyle>
            <a:lvl1pPr marL="0" indent="0" algn="l">
              <a:buNone/>
              <a:defRPr lang="en-US" sz="12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200" dirty="0">
                <a:solidFill>
                  <a:srgbClr val="6B6670"/>
                </a:solidFill>
                <a:latin typeface="Montserrat" pitchFamily="34" charset="0"/>
                <a:ea typeface="Montserrat" pitchFamily="34" charset="-122"/>
                <a:cs typeface="Montserrat" pitchFamily="34" charset="-120"/>
              </a:rPr>
              <a:t>Rôle et expertise</a:t>
            </a:r>
            <a:endParaRPr lang="en-US" sz="1200" dirty="0"/>
          </a:p>
        </p:txBody>
      </p:sp>
      <p:sp>
        <p:nvSpPr>
          <p:cNvPr id="25" name="Shape 12"/>
          <p:cNvSpPr/>
          <p:nvPr/>
        </p:nvSpPr>
        <p:spPr>
          <a:xfrm>
            <a:off x="9063761" y="2240280"/>
            <a:ext cx="2487854" cy="2468880"/>
          </a:xfrm>
          <a:prstGeom prst="rect">
            <a:avLst/>
          </a:prstGeom>
          <a:solidFill>
            <a:srgbClr val="DDD3C1"/>
          </a:solidFill>
          <a:ln w="12700">
            <a:solidFill>
              <a:srgbClr val="DDD3C1"/>
            </a:solidFill>
            <a:prstDash val="solid"/>
          </a:ln>
        </p:spPr>
      </p:sp>
      <p:sp>
        <p:nvSpPr>
          <p:cNvPr id="26" name="Portrait 4"/>
          <p:cNvSpPr>
            <a:spLocks noGrp="1"/>
          </p:cNvSpPr>
          <p:nvPr>
            <p:ph type="pic" idx="124" hasCustomPrompt="1"/>
          </p:nvPr>
        </p:nvSpPr>
        <p:spPr>
          <a:xfrm>
            <a:off x="9063761" y="2240280"/>
            <a:ext cx="2487854" cy="2468880"/>
          </a:xfrm>
          <a:prstGeom prst="rect">
            <a:avLst/>
          </a:prstGeom>
          <a:noFill/>
          <a:ln/>
        </p:spPr>
        <p:txBody>
          <a:bodyPr wrap="square" rtlCol="0"/>
          <a:lstStyle>
            <a:lvl1pPr marL="0" indent="0" algn="l">
              <a:buNone/>
              <a:defRPr lang="en-US" sz="11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100" dirty="0">
                <a:solidFill>
                  <a:srgbClr val="6B6670"/>
                </a:solidFill>
                <a:latin typeface="Montserrat" pitchFamily="34" charset="0"/>
                <a:ea typeface="Montserrat" pitchFamily="34" charset="-122"/>
                <a:cs typeface="Montserrat" pitchFamily="34" charset="-120"/>
              </a:rPr>
              <a:t>Insérer une image</a:t>
            </a:r>
            <a:endParaRPr lang="en-US" sz="1100" dirty="0"/>
          </a:p>
        </p:txBody>
      </p:sp>
      <p:sp>
        <p:nvSpPr>
          <p:cNvPr id="27" name="Shape 13"/>
          <p:cNvSpPr/>
          <p:nvPr/>
        </p:nvSpPr>
        <p:spPr>
          <a:xfrm>
            <a:off x="9063761" y="4709160"/>
            <a:ext cx="2487854" cy="54864"/>
          </a:xfrm>
          <a:prstGeom prst="rect">
            <a:avLst/>
          </a:prstGeom>
          <a:solidFill>
            <a:srgbClr val="1E1B2E"/>
          </a:solidFill>
          <a:ln w="12700">
            <a:solidFill>
              <a:srgbClr val="1E1B2E"/>
            </a:solidFill>
            <a:prstDash val="solid"/>
          </a:ln>
        </p:spPr>
      </p:sp>
      <p:sp>
        <p:nvSpPr>
          <p:cNvPr id="28" name="Nom 4"/>
          <p:cNvSpPr>
            <a:spLocks noGrp="1"/>
          </p:cNvSpPr>
          <p:nvPr>
            <p:ph type="body" idx="126" hasCustomPrompt="1"/>
          </p:nvPr>
        </p:nvSpPr>
        <p:spPr>
          <a:xfrm>
            <a:off x="9063761" y="4892040"/>
            <a:ext cx="2487854" cy="365760"/>
          </a:xfrm>
          <a:prstGeom prst="rect">
            <a:avLst/>
          </a:prstGeom>
          <a:noFill/>
          <a:ln/>
        </p:spPr>
        <p:txBody>
          <a:bodyPr wrap="square" rtlCol="0"/>
          <a:lstStyle>
            <a:lvl1pPr marL="0" indent="0" algn="l">
              <a:buNone/>
              <a:defRPr lang="en-US" sz="17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1700" dirty="0">
                <a:solidFill>
                  <a:srgbClr val="1E1B2E"/>
                </a:solidFill>
                <a:latin typeface="Playfair Display" pitchFamily="34" charset="0"/>
                <a:ea typeface="Playfair Display" pitchFamily="34" charset="-122"/>
                <a:cs typeface="Playfair Display" pitchFamily="34" charset="-120"/>
              </a:rPr>
              <a:t>Prénom Nom</a:t>
            </a:r>
            <a:endParaRPr lang="en-US" sz="1700" dirty="0"/>
          </a:p>
        </p:txBody>
      </p:sp>
      <p:sp>
        <p:nvSpPr>
          <p:cNvPr id="29" name="Rôle 4"/>
          <p:cNvSpPr>
            <a:spLocks noGrp="1"/>
          </p:cNvSpPr>
          <p:nvPr>
            <p:ph type="body" idx="127" hasCustomPrompt="1"/>
          </p:nvPr>
        </p:nvSpPr>
        <p:spPr>
          <a:xfrm>
            <a:off x="9063761" y="5303520"/>
            <a:ext cx="2487854" cy="822960"/>
          </a:xfrm>
          <a:prstGeom prst="rect">
            <a:avLst/>
          </a:prstGeom>
          <a:noFill/>
          <a:ln/>
        </p:spPr>
        <p:txBody>
          <a:bodyPr wrap="square" rtlCol="0"/>
          <a:lstStyle>
            <a:lvl1pPr marL="0" indent="0" algn="l">
              <a:buNone/>
              <a:defRPr lang="en-US" sz="1200" dirty="0">
                <a:solidFill>
                  <a:srgbClr val="6B6670"/>
                </a:solidFill>
                <a:latin typeface="Montserrat" pitchFamily="34" charset="0"/>
                <a:ea typeface="Montserrat" pitchFamily="34" charset="-122"/>
                <a:cs typeface="Montserrat" pitchFamily="34" charset="-120"/>
              </a:defRPr>
            </a:lvl1pPr>
          </a:lstStyle>
          <a:p>
            <a:pPr marL="0" indent="0" algn="l">
              <a:buNone/>
            </a:pPr>
            <a:r>
              <a:rPr lang="en-US" sz="1200" dirty="0">
                <a:solidFill>
                  <a:srgbClr val="6B6670"/>
                </a:solidFill>
                <a:latin typeface="Montserrat" pitchFamily="34" charset="0"/>
                <a:ea typeface="Montserrat" pitchFamily="34" charset="-122"/>
                <a:cs typeface="Montserrat" pitchFamily="34" charset="-120"/>
              </a:rPr>
              <a:t>Rôle et expertise</a:t>
            </a:r>
            <a:endParaRPr lang="en-US" sz="1200" dirty="0"/>
          </a:p>
        </p:txBody>
      </p:sp>
      <p:sp>
        <p:nvSpPr>
          <p:cNvPr id="30"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5 Titre seul — zone libre">
    <p:bg>
      <p:bgPr>
        <a:solidFill>
          <a:srgbClr val="F4EEE3"/>
        </a:solidFill>
        <a:effectLst/>
      </p:bgPr>
    </p:bg>
    <p:spTree>
      <p:nvGrpSpPr>
        <p:cNvPr id="1" name=""/>
        <p:cNvGrpSpPr/>
        <p:nvPr/>
      </p:nvGrpSpPr>
      <p:grpSpPr>
        <a:xfrm>
          <a:off x="0" y="0"/>
          <a:ext cx="0" cy="0"/>
          <a:chOff x="0" y="0"/>
          <a:chExt cx="0" cy="0"/>
        </a:xfrm>
      </p:grpSpPr>
      <p:sp>
        <p:nvSpPr>
          <p:cNvPr id="2" name="Text 0"/>
          <p:cNvSpPr/>
          <p:nvPr/>
        </p:nvSpPr>
        <p:spPr>
          <a:xfrm>
            <a:off x="640080" y="329184"/>
            <a:ext cx="2743200" cy="228600"/>
          </a:xfrm>
          <a:prstGeom prst="rect">
            <a:avLst/>
          </a:prstGeom>
          <a:noFill/>
          <a:ln/>
        </p:spPr>
        <p:txBody>
          <a:bodyPr wrap="square" lIns="0" tIns="0" rIns="0" bIns="0" rtlCol="0" anchor="ctr"/>
          <a:lstStyle/>
          <a:p>
            <a:pPr marL="0" indent="0">
              <a:buNone/>
            </a:pPr>
            <a:r>
              <a:rPr lang="en-US" sz="900" b="1" kern="0" spc="400" dirty="0">
                <a:solidFill>
                  <a:srgbClr val="1E1B2E"/>
                </a:solidFill>
                <a:latin typeface="Montserrat" pitchFamily="34" charset="0"/>
                <a:ea typeface="Montserrat" pitchFamily="34" charset="-122"/>
                <a:cs typeface="Montserrat" pitchFamily="34" charset="-120"/>
              </a:rPr>
              <a:t>POPTABLES</a:t>
            </a:r>
            <a:endParaRPr lang="en-US" sz="900" dirty="0"/>
          </a:p>
        </p:txBody>
      </p:sp>
      <p:sp>
        <p:nvSpPr>
          <p:cNvPr id="3" name="Shape 1"/>
          <p:cNvSpPr/>
          <p:nvPr/>
        </p:nvSpPr>
        <p:spPr>
          <a:xfrm>
            <a:off x="11002975" y="356616"/>
            <a:ext cx="137160" cy="137160"/>
          </a:xfrm>
          <a:prstGeom prst="rect">
            <a:avLst/>
          </a:prstGeom>
          <a:solidFill>
            <a:srgbClr val="C8963A"/>
          </a:solidFill>
          <a:ln w="12700">
            <a:solidFill>
              <a:srgbClr val="C8963A"/>
            </a:solidFill>
            <a:prstDash val="solid"/>
          </a:ln>
        </p:spPr>
      </p:sp>
      <p:sp>
        <p:nvSpPr>
          <p:cNvPr id="4" name="Text 2"/>
          <p:cNvSpPr/>
          <p:nvPr/>
        </p:nvSpPr>
        <p:spPr>
          <a:xfrm>
            <a:off x="11208715" y="356616"/>
            <a:ext cx="137160" cy="137160"/>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5" name="Text 3"/>
          <p:cNvSpPr/>
          <p:nvPr/>
        </p:nvSpPr>
        <p:spPr>
          <a:xfrm>
            <a:off x="11414455" y="356616"/>
            <a:ext cx="137160" cy="137160"/>
          </a:xfrm>
          <a:prstGeom prst="triangle">
            <a:avLst/>
          </a:prstGeom>
          <a:solidFill>
            <a:srgbClr val="1E1B2E"/>
          </a:solidFill>
          <a:ln>
            <a:solidFill>
              <a:srgbClr val="1E1B2E"/>
            </a:solidFill>
          </a:ln>
        </p:spPr>
        <p:txBody>
          <a:bodyPr wrap="square" rtlCol="0" anchor="ctr"/>
          <a:lstStyle/>
          <a:p>
            <a:pPr marL="0" indent="0">
              <a:buNone/>
            </a:pPr>
            <a:endParaRPr lang="en-US" dirty="0"/>
          </a:p>
        </p:txBody>
      </p:sp>
      <p:sp>
        <p:nvSpPr>
          <p:cNvPr id="6" name="Shape 4"/>
          <p:cNvSpPr/>
          <p:nvPr/>
        </p:nvSpPr>
        <p:spPr>
          <a:xfrm>
            <a:off x="640080" y="6382512"/>
            <a:ext cx="10911535" cy="0"/>
          </a:xfrm>
          <a:prstGeom prst="line">
            <a:avLst/>
          </a:prstGeom>
          <a:noFill/>
          <a:ln w="9525">
            <a:solidFill>
              <a:srgbClr val="D3C8B5"/>
            </a:solidFill>
            <a:prstDash val="solid"/>
          </a:ln>
        </p:spPr>
      </p:sp>
      <p:sp>
        <p:nvSpPr>
          <p:cNvPr id="7" name="Text 5"/>
          <p:cNvSpPr/>
          <p:nvPr/>
        </p:nvSpPr>
        <p:spPr>
          <a:xfrm>
            <a:off x="640080" y="6473952"/>
            <a:ext cx="5486400" cy="201168"/>
          </a:xfrm>
          <a:prstGeom prst="rect">
            <a:avLst/>
          </a:prstGeom>
          <a:noFill/>
          <a:ln/>
        </p:spPr>
        <p:txBody>
          <a:bodyPr wrap="square" lIns="0" tIns="0" rIns="0" bIns="0" rtlCol="0" anchor="ctr"/>
          <a:lstStyle/>
          <a:p>
            <a:pPr marL="0" indent="0">
              <a:buNone/>
            </a:pPr>
            <a:r>
              <a:rPr lang="en-US" sz="850" kern="0" spc="100" dirty="0">
                <a:solidFill>
                  <a:srgbClr val="6B6670"/>
                </a:solidFill>
                <a:latin typeface="Montserrat" pitchFamily="34" charset="0"/>
                <a:ea typeface="Montserrat" pitchFamily="34" charset="-122"/>
                <a:cs typeface="Montserrat" pitchFamily="34" charset="-120"/>
              </a:rPr>
              <a:t>Projet PopTables  ·  Document confidentiel</a:t>
            </a:r>
            <a:endParaRPr lang="en-US" sz="850" dirty="0"/>
          </a:p>
        </p:txBody>
      </p:sp>
      <p:sp>
        <p:nvSpPr>
          <p:cNvPr id="8" name="Surtitre"/>
          <p:cNvSpPr>
            <a:spLocks noGrp="1"/>
          </p:cNvSpPr>
          <p:nvPr>
            <p:ph type="body" idx="106" hasCustomPrompt="1"/>
          </p:nvPr>
        </p:nvSpPr>
        <p:spPr>
          <a:xfrm>
            <a:off x="640080" y="914400"/>
            <a:ext cx="8229600" cy="274320"/>
          </a:xfrm>
          <a:prstGeom prst="rect">
            <a:avLst/>
          </a:prstGeom>
          <a:noFill/>
          <a:ln/>
        </p:spPr>
        <p:txBody>
          <a:bodyPr wrap="square" rtlCol="0"/>
          <a:lstStyle>
            <a:lvl1pPr marL="0" indent="0" algn="l">
              <a:buNone/>
              <a:defRPr lang="en-US" sz="1000" b="1" kern="0" spc="300" dirty="0">
                <a:solidFill>
                  <a:srgbClr val="C2432B"/>
                </a:solidFill>
                <a:latin typeface="Montserrat" pitchFamily="34" charset="0"/>
                <a:ea typeface="Montserrat" pitchFamily="34" charset="-122"/>
                <a:cs typeface="Montserrat" pitchFamily="34" charset="-120"/>
              </a:defRPr>
            </a:lvl1pPr>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SURTITRE</a:t>
            </a:r>
            <a:endParaRPr lang="en-US" sz="1000" dirty="0"/>
          </a:p>
        </p:txBody>
      </p:sp>
      <p:sp>
        <p:nvSpPr>
          <p:cNvPr id="9" name="Titre"/>
          <p:cNvSpPr>
            <a:spLocks noGrp="1"/>
          </p:cNvSpPr>
          <p:nvPr>
            <p:ph type="title" idx="107" hasCustomPrompt="1"/>
          </p:nvPr>
        </p:nvSpPr>
        <p:spPr>
          <a:xfrm>
            <a:off x="640080" y="1234440"/>
            <a:ext cx="10911535" cy="822960"/>
          </a:xfrm>
          <a:prstGeom prst="rect">
            <a:avLst/>
          </a:prstGeom>
          <a:noFill/>
          <a:ln/>
        </p:spPr>
        <p:txBody>
          <a:bodyPr wrap="square" rtlCol="0"/>
          <a:lstStyle>
            <a:lvl1pPr marL="0" indent="0" algn="l">
              <a:buNone/>
              <a:defRPr lang="en-US" sz="3000" dirty="0">
                <a:solidFill>
                  <a:srgbClr val="1E1B2E"/>
                </a:solidFill>
                <a:latin typeface="Playfair Display" pitchFamily="34" charset="0"/>
                <a:ea typeface="Playfair Display" pitchFamily="34" charset="-122"/>
                <a:cs typeface="Playfair Display" pitchFamily="34" charset="-120"/>
              </a:defRPr>
            </a:lvl1pPr>
          </a:lstStyle>
          <a:p>
            <a:pPr marL="0" indent="0" algn="l">
              <a:buNone/>
            </a:pPr>
            <a:r>
              <a:rPr lang="en-US" sz="3000" dirty="0">
                <a:solidFill>
                  <a:srgbClr val="1E1B2E"/>
                </a:solidFill>
                <a:latin typeface="Playfair Display" pitchFamily="34" charset="0"/>
                <a:ea typeface="Playfair Display" pitchFamily="34" charset="-122"/>
                <a:cs typeface="Playfair Display" pitchFamily="34" charset="-120"/>
              </a:rPr>
              <a:t>Cliquez pour ajouter un titre</a:t>
            </a:r>
            <a:endParaRPr lang="en-US" sz="30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6 Clôture et contact">
    <p:bg>
      <p:bgPr>
        <a:solidFill>
          <a:srgbClr val="1E1B2E"/>
        </a:solidFill>
        <a:effectLst/>
      </p:bgPr>
    </p:bg>
    <p:spTree>
      <p:nvGrpSpPr>
        <p:cNvPr id="1" name=""/>
        <p:cNvGrpSpPr/>
        <p:nvPr/>
      </p:nvGrpSpPr>
      <p:grpSpPr>
        <a:xfrm>
          <a:off x="0" y="0"/>
          <a:ext cx="0" cy="0"/>
          <a:chOff x="0" y="0"/>
          <a:chExt cx="0" cy="0"/>
        </a:xfrm>
      </p:grpSpPr>
      <p:sp>
        <p:nvSpPr>
          <p:cNvPr id="2" name="Shape 0"/>
          <p:cNvSpPr/>
          <p:nvPr/>
        </p:nvSpPr>
        <p:spPr>
          <a:xfrm>
            <a:off x="0" y="6216332"/>
            <a:ext cx="641668" cy="641668"/>
          </a:xfrm>
          <a:prstGeom prst="rect">
            <a:avLst/>
          </a:prstGeom>
          <a:solidFill>
            <a:srgbClr val="F4EEE3"/>
          </a:solidFill>
          <a:ln w="12700">
            <a:solidFill>
              <a:srgbClr val="F4EEE3"/>
            </a:solidFill>
            <a:prstDash val="solid"/>
          </a:ln>
        </p:spPr>
      </p:sp>
      <p:sp>
        <p:nvSpPr>
          <p:cNvPr id="3" name="Shape 1"/>
          <p:cNvSpPr/>
          <p:nvPr/>
        </p:nvSpPr>
        <p:spPr>
          <a:xfrm>
            <a:off x="641668" y="6216332"/>
            <a:ext cx="641668" cy="641668"/>
          </a:xfrm>
          <a:prstGeom prst="rect">
            <a:avLst/>
          </a:prstGeom>
          <a:solidFill>
            <a:srgbClr val="C2432B"/>
          </a:solidFill>
          <a:ln w="12700">
            <a:solidFill>
              <a:srgbClr val="C2432B"/>
            </a:solidFill>
            <a:prstDash val="solid"/>
          </a:ln>
        </p:spPr>
      </p:sp>
      <p:sp>
        <p:nvSpPr>
          <p:cNvPr id="4" name="Shape 2"/>
          <p:cNvSpPr/>
          <p:nvPr/>
        </p:nvSpPr>
        <p:spPr>
          <a:xfrm>
            <a:off x="1283336" y="6216332"/>
            <a:ext cx="641668" cy="641668"/>
          </a:xfrm>
          <a:prstGeom prst="rect">
            <a:avLst/>
          </a:prstGeom>
          <a:solidFill>
            <a:srgbClr val="F4EEE3"/>
          </a:solidFill>
          <a:ln w="12700">
            <a:solidFill>
              <a:srgbClr val="F4EEE3"/>
            </a:solidFill>
            <a:prstDash val="solid"/>
          </a:ln>
        </p:spPr>
      </p:sp>
      <p:sp>
        <p:nvSpPr>
          <p:cNvPr id="5" name="Shape 3"/>
          <p:cNvSpPr/>
          <p:nvPr/>
        </p:nvSpPr>
        <p:spPr>
          <a:xfrm>
            <a:off x="1925005" y="6216332"/>
            <a:ext cx="641668" cy="641668"/>
          </a:xfrm>
          <a:prstGeom prst="rect">
            <a:avLst/>
          </a:prstGeom>
          <a:solidFill>
            <a:srgbClr val="C2432B"/>
          </a:solidFill>
          <a:ln w="12700">
            <a:solidFill>
              <a:srgbClr val="C2432B"/>
            </a:solidFill>
            <a:prstDash val="solid"/>
          </a:ln>
        </p:spPr>
      </p:sp>
      <p:sp>
        <p:nvSpPr>
          <p:cNvPr id="6" name="Shape 4"/>
          <p:cNvSpPr/>
          <p:nvPr/>
        </p:nvSpPr>
        <p:spPr>
          <a:xfrm>
            <a:off x="2566673" y="6216332"/>
            <a:ext cx="641668" cy="641668"/>
          </a:xfrm>
          <a:prstGeom prst="rect">
            <a:avLst/>
          </a:prstGeom>
          <a:solidFill>
            <a:srgbClr val="F4EEE3"/>
          </a:solidFill>
          <a:ln w="12700">
            <a:solidFill>
              <a:srgbClr val="F4EEE3"/>
            </a:solidFill>
            <a:prstDash val="solid"/>
          </a:ln>
        </p:spPr>
      </p:sp>
      <p:sp>
        <p:nvSpPr>
          <p:cNvPr id="7" name="Shape 5"/>
          <p:cNvSpPr/>
          <p:nvPr/>
        </p:nvSpPr>
        <p:spPr>
          <a:xfrm>
            <a:off x="3208341" y="6216332"/>
            <a:ext cx="641668" cy="641668"/>
          </a:xfrm>
          <a:prstGeom prst="rect">
            <a:avLst/>
          </a:prstGeom>
          <a:solidFill>
            <a:srgbClr val="C2432B"/>
          </a:solidFill>
          <a:ln w="12700">
            <a:solidFill>
              <a:srgbClr val="C2432B"/>
            </a:solidFill>
            <a:prstDash val="solid"/>
          </a:ln>
        </p:spPr>
      </p:sp>
      <p:sp>
        <p:nvSpPr>
          <p:cNvPr id="8" name="Shape 6"/>
          <p:cNvSpPr/>
          <p:nvPr/>
        </p:nvSpPr>
        <p:spPr>
          <a:xfrm>
            <a:off x="3850009" y="6216332"/>
            <a:ext cx="641668" cy="641668"/>
          </a:xfrm>
          <a:prstGeom prst="rect">
            <a:avLst/>
          </a:prstGeom>
          <a:solidFill>
            <a:srgbClr val="F4EEE3"/>
          </a:solidFill>
          <a:ln w="12700">
            <a:solidFill>
              <a:srgbClr val="F4EEE3"/>
            </a:solidFill>
            <a:prstDash val="solid"/>
          </a:ln>
        </p:spPr>
      </p:sp>
      <p:sp>
        <p:nvSpPr>
          <p:cNvPr id="9" name="Shape 7"/>
          <p:cNvSpPr/>
          <p:nvPr/>
        </p:nvSpPr>
        <p:spPr>
          <a:xfrm>
            <a:off x="4491677" y="6216332"/>
            <a:ext cx="641668" cy="641668"/>
          </a:xfrm>
          <a:prstGeom prst="rect">
            <a:avLst/>
          </a:prstGeom>
          <a:solidFill>
            <a:srgbClr val="C2432B"/>
          </a:solidFill>
          <a:ln w="12700">
            <a:solidFill>
              <a:srgbClr val="C2432B"/>
            </a:solidFill>
            <a:prstDash val="solid"/>
          </a:ln>
        </p:spPr>
      </p:sp>
      <p:sp>
        <p:nvSpPr>
          <p:cNvPr id="10" name="Shape 8"/>
          <p:cNvSpPr/>
          <p:nvPr/>
        </p:nvSpPr>
        <p:spPr>
          <a:xfrm>
            <a:off x="5133345" y="6216332"/>
            <a:ext cx="641668" cy="641668"/>
          </a:xfrm>
          <a:prstGeom prst="rect">
            <a:avLst/>
          </a:prstGeom>
          <a:solidFill>
            <a:srgbClr val="F4EEE3"/>
          </a:solidFill>
          <a:ln w="12700">
            <a:solidFill>
              <a:srgbClr val="F4EEE3"/>
            </a:solidFill>
            <a:prstDash val="solid"/>
          </a:ln>
        </p:spPr>
      </p:sp>
      <p:sp>
        <p:nvSpPr>
          <p:cNvPr id="11" name="Shape 9"/>
          <p:cNvSpPr/>
          <p:nvPr/>
        </p:nvSpPr>
        <p:spPr>
          <a:xfrm>
            <a:off x="5775014" y="6216332"/>
            <a:ext cx="641668" cy="641668"/>
          </a:xfrm>
          <a:prstGeom prst="rect">
            <a:avLst/>
          </a:prstGeom>
          <a:solidFill>
            <a:srgbClr val="C2432B"/>
          </a:solidFill>
          <a:ln w="12700">
            <a:solidFill>
              <a:srgbClr val="C2432B"/>
            </a:solidFill>
            <a:prstDash val="solid"/>
          </a:ln>
        </p:spPr>
      </p:sp>
      <p:sp>
        <p:nvSpPr>
          <p:cNvPr id="12" name="Shape 10"/>
          <p:cNvSpPr/>
          <p:nvPr/>
        </p:nvSpPr>
        <p:spPr>
          <a:xfrm>
            <a:off x="6416682" y="6216332"/>
            <a:ext cx="641668" cy="641668"/>
          </a:xfrm>
          <a:prstGeom prst="rect">
            <a:avLst/>
          </a:prstGeom>
          <a:solidFill>
            <a:srgbClr val="F4EEE3"/>
          </a:solidFill>
          <a:ln w="12700">
            <a:solidFill>
              <a:srgbClr val="F4EEE3"/>
            </a:solidFill>
            <a:prstDash val="solid"/>
          </a:ln>
        </p:spPr>
      </p:sp>
      <p:sp>
        <p:nvSpPr>
          <p:cNvPr id="13" name="Shape 11"/>
          <p:cNvSpPr/>
          <p:nvPr/>
        </p:nvSpPr>
        <p:spPr>
          <a:xfrm>
            <a:off x="7058350" y="6216332"/>
            <a:ext cx="641668" cy="641668"/>
          </a:xfrm>
          <a:prstGeom prst="rect">
            <a:avLst/>
          </a:prstGeom>
          <a:solidFill>
            <a:srgbClr val="C2432B"/>
          </a:solidFill>
          <a:ln w="12700">
            <a:solidFill>
              <a:srgbClr val="C2432B"/>
            </a:solidFill>
            <a:prstDash val="solid"/>
          </a:ln>
        </p:spPr>
      </p:sp>
      <p:sp>
        <p:nvSpPr>
          <p:cNvPr id="14" name="Shape 12"/>
          <p:cNvSpPr/>
          <p:nvPr/>
        </p:nvSpPr>
        <p:spPr>
          <a:xfrm>
            <a:off x="7700018" y="6216332"/>
            <a:ext cx="641668" cy="641668"/>
          </a:xfrm>
          <a:prstGeom prst="rect">
            <a:avLst/>
          </a:prstGeom>
          <a:solidFill>
            <a:srgbClr val="F4EEE3"/>
          </a:solidFill>
          <a:ln w="12700">
            <a:solidFill>
              <a:srgbClr val="F4EEE3"/>
            </a:solidFill>
            <a:prstDash val="solid"/>
          </a:ln>
        </p:spPr>
      </p:sp>
      <p:sp>
        <p:nvSpPr>
          <p:cNvPr id="15" name="Shape 13"/>
          <p:cNvSpPr/>
          <p:nvPr/>
        </p:nvSpPr>
        <p:spPr>
          <a:xfrm>
            <a:off x="8341686" y="6216332"/>
            <a:ext cx="641668" cy="641668"/>
          </a:xfrm>
          <a:prstGeom prst="rect">
            <a:avLst/>
          </a:prstGeom>
          <a:solidFill>
            <a:srgbClr val="C2432B"/>
          </a:solidFill>
          <a:ln w="12700">
            <a:solidFill>
              <a:srgbClr val="C2432B"/>
            </a:solidFill>
            <a:prstDash val="solid"/>
          </a:ln>
        </p:spPr>
      </p:sp>
      <p:sp>
        <p:nvSpPr>
          <p:cNvPr id="16" name="Shape 14"/>
          <p:cNvSpPr/>
          <p:nvPr/>
        </p:nvSpPr>
        <p:spPr>
          <a:xfrm>
            <a:off x="8983354" y="6216332"/>
            <a:ext cx="641668" cy="641668"/>
          </a:xfrm>
          <a:prstGeom prst="rect">
            <a:avLst/>
          </a:prstGeom>
          <a:solidFill>
            <a:srgbClr val="F4EEE3"/>
          </a:solidFill>
          <a:ln w="12700">
            <a:solidFill>
              <a:srgbClr val="F4EEE3"/>
            </a:solidFill>
            <a:prstDash val="solid"/>
          </a:ln>
        </p:spPr>
      </p:sp>
      <p:sp>
        <p:nvSpPr>
          <p:cNvPr id="17" name="Shape 15"/>
          <p:cNvSpPr/>
          <p:nvPr/>
        </p:nvSpPr>
        <p:spPr>
          <a:xfrm>
            <a:off x="9625023" y="6216332"/>
            <a:ext cx="641668" cy="641668"/>
          </a:xfrm>
          <a:prstGeom prst="rect">
            <a:avLst/>
          </a:prstGeom>
          <a:solidFill>
            <a:srgbClr val="C2432B"/>
          </a:solidFill>
          <a:ln w="12700">
            <a:solidFill>
              <a:srgbClr val="C2432B"/>
            </a:solidFill>
            <a:prstDash val="solid"/>
          </a:ln>
        </p:spPr>
      </p:sp>
      <p:sp>
        <p:nvSpPr>
          <p:cNvPr id="18" name="Shape 16"/>
          <p:cNvSpPr/>
          <p:nvPr/>
        </p:nvSpPr>
        <p:spPr>
          <a:xfrm>
            <a:off x="10266691" y="6216332"/>
            <a:ext cx="641668" cy="641668"/>
          </a:xfrm>
          <a:prstGeom prst="rect">
            <a:avLst/>
          </a:prstGeom>
          <a:solidFill>
            <a:srgbClr val="F4EEE3"/>
          </a:solidFill>
          <a:ln w="12700">
            <a:solidFill>
              <a:srgbClr val="F4EEE3"/>
            </a:solidFill>
            <a:prstDash val="solid"/>
          </a:ln>
        </p:spPr>
      </p:sp>
      <p:sp>
        <p:nvSpPr>
          <p:cNvPr id="19" name="Shape 17"/>
          <p:cNvSpPr/>
          <p:nvPr/>
        </p:nvSpPr>
        <p:spPr>
          <a:xfrm>
            <a:off x="10908359" y="6216332"/>
            <a:ext cx="641668" cy="641668"/>
          </a:xfrm>
          <a:prstGeom prst="rect">
            <a:avLst/>
          </a:prstGeom>
          <a:solidFill>
            <a:srgbClr val="C2432B"/>
          </a:solidFill>
          <a:ln w="12700">
            <a:solidFill>
              <a:srgbClr val="C2432B"/>
            </a:solidFill>
            <a:prstDash val="solid"/>
          </a:ln>
        </p:spPr>
      </p:sp>
      <p:sp>
        <p:nvSpPr>
          <p:cNvPr id="20" name="Shape 18"/>
          <p:cNvSpPr/>
          <p:nvPr/>
        </p:nvSpPr>
        <p:spPr>
          <a:xfrm>
            <a:off x="11550027" y="6216332"/>
            <a:ext cx="641668" cy="641668"/>
          </a:xfrm>
          <a:prstGeom prst="rect">
            <a:avLst/>
          </a:prstGeom>
          <a:solidFill>
            <a:srgbClr val="F4EEE3"/>
          </a:solidFill>
          <a:ln w="12700">
            <a:solidFill>
              <a:srgbClr val="F4EEE3"/>
            </a:solidFill>
            <a:prstDash val="solid"/>
          </a:ln>
        </p:spPr>
      </p:sp>
      <p:sp>
        <p:nvSpPr>
          <p:cNvPr id="21" name="Text 19"/>
          <p:cNvSpPr/>
          <p:nvPr/>
        </p:nvSpPr>
        <p:spPr>
          <a:xfrm>
            <a:off x="640080" y="548640"/>
            <a:ext cx="3657600" cy="274320"/>
          </a:xfrm>
          <a:prstGeom prst="rect">
            <a:avLst/>
          </a:prstGeom>
          <a:noFill/>
          <a:ln/>
        </p:spPr>
        <p:txBody>
          <a:bodyPr wrap="square" lIns="0" tIns="0" rIns="0" bIns="0" rtlCol="0" anchor="ctr"/>
          <a:lstStyle/>
          <a:p>
            <a:pPr marL="0" indent="0">
              <a:buNone/>
            </a:pPr>
            <a:r>
              <a:rPr lang="en-US" sz="1000" b="1" kern="0" spc="500" dirty="0">
                <a:solidFill>
                  <a:srgbClr val="F4EEE3"/>
                </a:solidFill>
                <a:latin typeface="Montserrat" pitchFamily="34" charset="0"/>
                <a:ea typeface="Montserrat" pitchFamily="34" charset="-122"/>
                <a:cs typeface="Montserrat" pitchFamily="34" charset="-120"/>
              </a:rPr>
              <a:t>POPTABLES</a:t>
            </a:r>
            <a:endParaRPr lang="en-US" sz="1000" dirty="0"/>
          </a:p>
        </p:txBody>
      </p:sp>
      <p:sp>
        <p:nvSpPr>
          <p:cNvPr id="22" name="Shape 20"/>
          <p:cNvSpPr/>
          <p:nvPr/>
        </p:nvSpPr>
        <p:spPr>
          <a:xfrm>
            <a:off x="11002975" y="603504"/>
            <a:ext cx="146304" cy="146304"/>
          </a:xfrm>
          <a:prstGeom prst="rect">
            <a:avLst/>
          </a:prstGeom>
          <a:solidFill>
            <a:srgbClr val="C8963A"/>
          </a:solidFill>
          <a:ln w="12700">
            <a:solidFill>
              <a:srgbClr val="C8963A"/>
            </a:solidFill>
            <a:prstDash val="solid"/>
          </a:ln>
        </p:spPr>
      </p:sp>
      <p:sp>
        <p:nvSpPr>
          <p:cNvPr id="23" name="Text 21"/>
          <p:cNvSpPr/>
          <p:nvPr/>
        </p:nvSpPr>
        <p:spPr>
          <a:xfrm>
            <a:off x="11222431" y="603504"/>
            <a:ext cx="146304" cy="146304"/>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24" name="Text 22"/>
          <p:cNvSpPr/>
          <p:nvPr/>
        </p:nvSpPr>
        <p:spPr>
          <a:xfrm>
            <a:off x="11441887" y="603504"/>
            <a:ext cx="146304" cy="146304"/>
          </a:xfrm>
          <a:prstGeom prst="triangle">
            <a:avLst/>
          </a:prstGeom>
          <a:solidFill>
            <a:srgbClr val="8FA593"/>
          </a:solidFill>
          <a:ln>
            <a:solidFill>
              <a:srgbClr val="8FA593"/>
            </a:solidFill>
          </a:ln>
        </p:spPr>
        <p:txBody>
          <a:bodyPr wrap="square" rtlCol="0" anchor="ctr"/>
          <a:lstStyle/>
          <a:p>
            <a:pPr marL="0" indent="0">
              <a:buNone/>
            </a:pPr>
            <a:endParaRPr lang="en-US" dirty="0"/>
          </a:p>
        </p:txBody>
      </p:sp>
      <p:sp>
        <p:nvSpPr>
          <p:cNvPr id="25" name="Titre"/>
          <p:cNvSpPr>
            <a:spLocks noGrp="1"/>
          </p:cNvSpPr>
          <p:nvPr>
            <p:ph type="title" idx="123" hasCustomPrompt="1"/>
          </p:nvPr>
        </p:nvSpPr>
        <p:spPr>
          <a:xfrm>
            <a:off x="640080" y="1737360"/>
            <a:ext cx="8229600" cy="1463040"/>
          </a:xfrm>
          <a:prstGeom prst="rect">
            <a:avLst/>
          </a:prstGeom>
          <a:noFill/>
          <a:ln/>
        </p:spPr>
        <p:txBody>
          <a:bodyPr wrap="square" rtlCol="0"/>
          <a:lstStyle>
            <a:lvl1pPr marL="0" indent="0" algn="l">
              <a:buNone/>
              <a:defRPr lang="en-US" sz="6400" dirty="0">
                <a:solidFill>
                  <a:srgbClr val="F4EEE3"/>
                </a:solidFill>
                <a:latin typeface="Playfair Display" pitchFamily="34" charset="0"/>
                <a:ea typeface="Playfair Display" pitchFamily="34" charset="-122"/>
                <a:cs typeface="Playfair Display" pitchFamily="34" charset="-120"/>
              </a:defRPr>
            </a:lvl1pPr>
          </a:lstStyle>
          <a:p>
            <a:pPr marL="0" indent="0" algn="l">
              <a:buNone/>
            </a:pPr>
            <a:r>
              <a:rPr lang="en-US" sz="6400" dirty="0">
                <a:solidFill>
                  <a:srgbClr val="F4EEE3"/>
                </a:solidFill>
                <a:latin typeface="Playfair Display" pitchFamily="34" charset="0"/>
                <a:ea typeface="Playfair Display" pitchFamily="34" charset="-122"/>
                <a:cs typeface="Playfair Display" pitchFamily="34" charset="-120"/>
              </a:rPr>
              <a:t>Merci</a:t>
            </a:r>
            <a:endParaRPr lang="en-US" sz="6400" dirty="0"/>
          </a:p>
        </p:txBody>
      </p:sp>
      <p:sp>
        <p:nvSpPr>
          <p:cNvPr id="26" name="Shape 23"/>
          <p:cNvSpPr/>
          <p:nvPr/>
        </p:nvSpPr>
        <p:spPr>
          <a:xfrm>
            <a:off x="640080" y="3429000"/>
            <a:ext cx="731520" cy="54864"/>
          </a:xfrm>
          <a:prstGeom prst="rect">
            <a:avLst/>
          </a:prstGeom>
          <a:solidFill>
            <a:srgbClr val="C8963A"/>
          </a:solidFill>
          <a:ln w="12700">
            <a:solidFill>
              <a:srgbClr val="C8963A"/>
            </a:solidFill>
            <a:prstDash val="solid"/>
          </a:ln>
        </p:spPr>
      </p:sp>
      <p:sp>
        <p:nvSpPr>
          <p:cNvPr id="27" name="Contact"/>
          <p:cNvSpPr>
            <a:spLocks noGrp="1"/>
          </p:cNvSpPr>
          <p:nvPr>
            <p:ph type="body" idx="125" hasCustomPrompt="1"/>
          </p:nvPr>
        </p:nvSpPr>
        <p:spPr>
          <a:xfrm>
            <a:off x="640080" y="3657600"/>
            <a:ext cx="6400800" cy="1463040"/>
          </a:xfrm>
          <a:prstGeom prst="rect">
            <a:avLst/>
          </a:prstGeom>
          <a:noFill/>
          <a:ln/>
        </p:spPr>
        <p:txBody>
          <a:bodyPr wrap="square" rtlCol="0"/>
          <a:lstStyle>
            <a:lvl1pPr marL="0" indent="0" algn="l">
              <a:buNone/>
              <a:defRPr lang="en-US" sz="1400" dirty="0">
                <a:solidFill>
                  <a:srgbClr val="D9D2E3"/>
                </a:solidFill>
                <a:latin typeface="Montserrat" pitchFamily="34" charset="0"/>
                <a:ea typeface="Montserrat" pitchFamily="34" charset="-122"/>
                <a:cs typeface="Montserrat" pitchFamily="34" charset="-120"/>
              </a:defRPr>
            </a:lvl1pPr>
          </a:lstStyle>
          <a:p>
            <a:pPr marL="0" indent="0" algn="l">
              <a:buNone/>
            </a:pPr>
            <a:r>
              <a:rPr lang="en-US" sz="1400" dirty="0">
                <a:solidFill>
                  <a:srgbClr val="D9D2E3"/>
                </a:solidFill>
                <a:latin typeface="Montserrat" pitchFamily="34" charset="0"/>
                <a:ea typeface="Montserrat" pitchFamily="34" charset="-122"/>
                <a:cs typeface="Montserrat" pitchFamily="34" charset="-120"/>
              </a:rPr>
              <a:t>Nom · fonction</a:t>
            </a:r>
            <a:endParaRPr lang="en-US" sz="1400" dirty="0"/>
          </a:p>
          <a:p>
            <a:pPr marL="0" indent="0" algn="l">
              <a:buNone/>
            </a:pPr>
            <a:r>
              <a:rPr lang="en-US" sz="1400" dirty="0">
                <a:solidFill>
                  <a:srgbClr val="D9D2E3"/>
                </a:solidFill>
                <a:latin typeface="Montserrat" pitchFamily="34" charset="0"/>
                <a:ea typeface="Montserrat" pitchFamily="34" charset="-122"/>
                <a:cs typeface="Montserrat" pitchFamily="34" charset="-120"/>
              </a:rPr>
              <a:t>adresse@poptables.com</a:t>
            </a:r>
            <a:endParaRPr lang="en-US" sz="14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ce réservé pour une image  8">
            <a:extLst>
              <a:ext uri="{FF2B5EF4-FFF2-40B4-BE49-F238E27FC236}">
                <a16:creationId xmlns:a16="http://schemas.microsoft.com/office/drawing/2014/main" id="{C6D9D2D4-73FA-76CD-648E-A2666CFDA9CC}"/>
              </a:ext>
            </a:extLst>
          </p:cNvPr>
          <p:cNvPicPr>
            <a:picLocks noGrp="1" noChangeAspect="1"/>
          </p:cNvPicPr>
          <p:nvPr>
            <p:ph type="pic" idx="101"/>
          </p:nvPr>
        </p:nvPicPr>
        <p:blipFill>
          <a:blip r:embed="rId3"/>
          <a:srcRect t="1504" b="1504"/>
          <a:stretch>
            <a:fillRect/>
          </a:stretch>
        </p:blipFill>
        <p:spPr>
          <a:xfrm>
            <a:off x="5143500" y="-94593"/>
            <a:ext cx="7048195" cy="7063514"/>
          </a:xfrm>
        </p:spPr>
      </p:pic>
      <p:sp>
        <p:nvSpPr>
          <p:cNvPr id="3" name="Text 6"/>
          <p:cNvSpPr>
            <a:spLocks noGrp="1"/>
          </p:cNvSpPr>
          <p:nvPr>
            <p:ph type="title" idx="107" hasCustomPrompt="1"/>
          </p:nvPr>
        </p:nvSpPr>
        <p:spPr>
          <a:xfrm>
            <a:off x="640080" y="2103120"/>
            <a:ext cx="4114800" cy="2011680"/>
          </a:xfrm>
          <a:prstGeom prst="rect">
            <a:avLst/>
          </a:prstGeom>
          <a:noFill/>
          <a:ln/>
        </p:spPr>
        <p:txBody>
          <a:bodyPr wrap="square" lIns="0" tIns="0" rIns="0" bIns="0" rtlCol="0" anchor="b"/>
          <a:lstStyle/>
          <a:p>
            <a:pPr marL="0" indent="0" algn="l">
              <a:buNone/>
            </a:pPr>
            <a:r>
              <a:rPr lang="en-US" sz="6000" dirty="0" err="1"/>
              <a:t>Vers</a:t>
            </a:r>
            <a:r>
              <a:rPr lang="en-US" sz="6000" dirty="0"/>
              <a:t> </a:t>
            </a:r>
            <a:r>
              <a:rPr lang="en-US" sz="6000" dirty="0" err="1"/>
              <a:t>l’inattendu</a:t>
            </a:r>
            <a:endParaRPr lang="en-US" sz="6000" dirty="0"/>
          </a:p>
        </p:txBody>
      </p:sp>
      <p:sp>
        <p:nvSpPr>
          <p:cNvPr id="5" name="Text 6"/>
          <p:cNvSpPr>
            <a:spLocks noGrp="1"/>
          </p:cNvSpPr>
          <p:nvPr>
            <p:ph type="body" idx="109" hasCustomPrompt="1"/>
          </p:nvPr>
        </p:nvSpPr>
        <p:spPr>
          <a:xfrm>
            <a:off x="640080" y="6035040"/>
            <a:ext cx="4023360" cy="274320"/>
          </a:xfrm>
          <a:prstGeom prst="rect">
            <a:avLst/>
          </a:prstGeom>
          <a:noFill/>
          <a:ln/>
        </p:spPr>
        <p:txBody>
          <a:bodyPr wrap="square" lIns="0" tIns="0" rIns="0" bIns="0" rtlCol="0" anchor="t"/>
          <a:lstStyle/>
          <a:p>
            <a:pPr marL="0" indent="0" algn="l">
              <a:buNone/>
            </a:pPr>
            <a:r>
              <a:rPr lang="en-US" sz="900" b="1" kern="0" spc="300" dirty="0">
                <a:solidFill>
                  <a:srgbClr val="C8963A"/>
                </a:solidFill>
                <a:latin typeface="Montserrat" pitchFamily="34" charset="0"/>
                <a:ea typeface="Montserrat" pitchFamily="34" charset="-122"/>
                <a:cs typeface="Montserrat" pitchFamily="34" charset="-120"/>
              </a:rPr>
              <a:t>PARIS · NOVEMBRE 2026</a:t>
            </a:r>
            <a:endParaRPr lang="en-US" sz="900" dirty="0"/>
          </a:p>
        </p:txBody>
      </p:sp>
      <p:sp>
        <p:nvSpPr>
          <p:cNvPr id="11" name="Espace réservé du texte 10">
            <a:extLst>
              <a:ext uri="{FF2B5EF4-FFF2-40B4-BE49-F238E27FC236}">
                <a16:creationId xmlns:a16="http://schemas.microsoft.com/office/drawing/2014/main" id="{130E7954-24F2-C4BA-AB91-AAA23A0202B8}"/>
              </a:ext>
            </a:extLst>
          </p:cNvPr>
          <p:cNvSpPr>
            <a:spLocks noGrp="1"/>
          </p:cNvSpPr>
          <p:nvPr>
            <p:ph type="body" idx="108"/>
          </p:nvPr>
        </p:nvSpPr>
        <p:spPr/>
        <p:txBody>
          <a:bodyPr/>
          <a:lstStyle/>
          <a:p>
            <a:endParaRPr lang="en-GB"/>
          </a:p>
        </p:txBody>
      </p:sp>
    </p:spTree>
    <p:extLst>
      <p:ext uri="{BB962C8B-B14F-4D97-AF65-F5344CB8AC3E}">
        <p14:creationId xmlns:p14="http://schemas.microsoft.com/office/powerpoint/2010/main" val="8519244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6"/>
          </p:nvPr>
        </p:nvSpPr>
        <p:spPr/>
        <p:txBody>
          <a:bodyPr/>
          <a:lstStyle/>
          <a:p>
            <a:r>
              <a:t>PHILOSOPHIE DU PROJET</a:t>
            </a:r>
          </a:p>
        </p:txBody>
      </p:sp>
      <p:sp>
        <p:nvSpPr>
          <p:cNvPr id="3" name="Title 2"/>
          <p:cNvSpPr>
            <a:spLocks noGrp="1"/>
          </p:cNvSpPr>
          <p:nvPr>
            <p:ph type="title" idx="107"/>
          </p:nvPr>
        </p:nvSpPr>
        <p:spPr/>
        <p:txBody>
          <a:bodyPr/>
          <a:lstStyle/>
          <a:p>
            <a:r>
              <a:rPr dirty="0"/>
              <a:t>Un chef introuvable. Un lieu </a:t>
            </a:r>
            <a:r>
              <a:rPr dirty="0" err="1"/>
              <a:t>mystérieux</a:t>
            </a:r>
            <a:r>
              <a:rPr dirty="0"/>
              <a:t>. Une nuit </a:t>
            </a:r>
            <a:r>
              <a:rPr dirty="0" err="1"/>
              <a:t>éphémère</a:t>
            </a:r>
            <a:r>
              <a:rPr dirty="0"/>
              <a:t>.</a:t>
            </a:r>
          </a:p>
        </p:txBody>
      </p:sp>
      <p:sp>
        <p:nvSpPr>
          <p:cNvPr id="4" name="Text Placeholder 3"/>
          <p:cNvSpPr>
            <a:spLocks noGrp="1"/>
          </p:cNvSpPr>
          <p:nvPr>
            <p:ph type="body" idx="108"/>
          </p:nvPr>
        </p:nvSpPr>
        <p:spPr/>
        <p:txBody>
          <a:bodyPr/>
          <a:lstStyle/>
          <a:p>
            <a:pPr>
              <a:spcAft>
                <a:spcPts val="1200"/>
              </a:spcAft>
            </a:pPr>
            <a:r>
              <a:rPr sz="2400" dirty="0" err="1"/>
              <a:t>Bref</a:t>
            </a:r>
            <a:r>
              <a:rPr sz="2400" dirty="0"/>
              <a:t>, un coup d’un </a:t>
            </a:r>
            <a:r>
              <a:rPr sz="2400" dirty="0" err="1"/>
              <a:t>soir</a:t>
            </a:r>
            <a:r>
              <a:rPr sz="2400" dirty="0"/>
              <a:t>…</a:t>
            </a:r>
          </a:p>
          <a:p>
            <a:pPr>
              <a:spcAft>
                <a:spcPts val="1200"/>
              </a:spcAft>
            </a:pPr>
            <a:r>
              <a:rPr sz="2400" dirty="0"/>
              <a:t>Une pièce jamais </a:t>
            </a:r>
            <a:r>
              <a:rPr sz="2400" dirty="0" err="1"/>
              <a:t>rejouée</a:t>
            </a:r>
            <a:r>
              <a:rPr sz="2400" dirty="0"/>
              <a:t>, à jamais </a:t>
            </a:r>
            <a:r>
              <a:rPr sz="2400" dirty="0" err="1"/>
              <a:t>inscrite</a:t>
            </a:r>
            <a:r>
              <a:rPr sz="2400" dirty="0"/>
              <a:t> dans son </a:t>
            </a:r>
            <a:r>
              <a:rPr sz="2400" dirty="0" err="1"/>
              <a:t>cœur</a:t>
            </a:r>
            <a:r>
              <a:rPr sz="2400" dirty="0"/>
              <a:t>.</a:t>
            </a:r>
          </a:p>
        </p:txBody>
      </p:sp>
      <p:sp>
        <p:nvSpPr>
          <p:cNvPr id="5" name="Text Placeholder 4"/>
          <p:cNvSpPr>
            <a:spLocks noGrp="1"/>
          </p:cNvSpPr>
          <p:nvPr>
            <p:ph type="body" idx="110"/>
          </p:nvPr>
        </p:nvSpPr>
        <p:spPr/>
        <p:txBody>
          <a:bodyPr/>
          <a:lstStyle/>
          <a:p>
            <a:r>
              <a:rPr sz="2800" dirty="0"/>
              <a:t>« On ne se </a:t>
            </a:r>
            <a:r>
              <a:rPr sz="2800" dirty="0" err="1"/>
              <a:t>baigne</a:t>
            </a:r>
            <a:r>
              <a:rPr sz="2800" dirty="0"/>
              <a:t> jamais deux </a:t>
            </a:r>
            <a:r>
              <a:rPr sz="2800" dirty="0" err="1"/>
              <a:t>fois</a:t>
            </a:r>
            <a:r>
              <a:rPr sz="2800" dirty="0"/>
              <a:t> dans le </a:t>
            </a:r>
            <a:r>
              <a:rPr sz="2800" dirty="0" err="1"/>
              <a:t>même</a:t>
            </a:r>
            <a:r>
              <a:rPr sz="2800" dirty="0"/>
              <a:t> </a:t>
            </a:r>
            <a:r>
              <a:rPr sz="2800" dirty="0" err="1"/>
              <a:t>fleuve</a:t>
            </a:r>
            <a:r>
              <a:rPr sz="2800" dirty="0"/>
              <a:t>. »</a:t>
            </a:r>
          </a:p>
          <a:p>
            <a:r>
              <a:rPr sz="1200" dirty="0" err="1"/>
              <a:t>Héraclite</a:t>
            </a:r>
            <a:endParaRPr sz="1200" dirty="0"/>
          </a:p>
        </p:txBody>
      </p:sp>
      <p:sp>
        <p:nvSpPr>
          <p:cNvPr id="6" name="Slide Number Placeholder 0">
            <a:extLst>
              <a:ext uri="{FF2B5EF4-FFF2-40B4-BE49-F238E27FC236}">
                <a16:creationId xmlns:a16="http://schemas.microsoft.com/office/drawing/2014/main" id="{DC0E316C-7248-C415-AAA3-354E96269799}"/>
              </a:ext>
            </a:extLst>
          </p:cNvPr>
          <p:cNvSpPr>
            <a:spLocks noGrp="1"/>
          </p:cNvSpPr>
          <p:nvPr>
            <p:ph type="sldNum" sz="quarter" idx="4294967295"/>
          </p:nvPr>
        </p:nvSpPr>
        <p:spPr>
          <a:xfrm>
            <a:off x="11002975" y="6455664"/>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6"/>
          </p:nvPr>
        </p:nvSpPr>
        <p:spPr/>
        <p:txBody>
          <a:bodyPr/>
          <a:lstStyle/>
          <a:p>
            <a:r>
              <a:t>PROBLÈME ET CIBLE</a:t>
            </a:r>
          </a:p>
        </p:txBody>
      </p:sp>
      <p:sp>
        <p:nvSpPr>
          <p:cNvPr id="3" name="Title 2"/>
          <p:cNvSpPr>
            <a:spLocks noGrp="1"/>
          </p:cNvSpPr>
          <p:nvPr>
            <p:ph type="title" idx="107"/>
          </p:nvPr>
        </p:nvSpPr>
        <p:spPr/>
        <p:txBody>
          <a:bodyPr/>
          <a:lstStyle/>
          <a:p>
            <a:r>
              <a:rPr dirty="0" err="1"/>
              <a:t>Privilégiés</a:t>
            </a:r>
            <a:r>
              <a:rPr dirty="0"/>
              <a:t>, </a:t>
            </a:r>
            <a:r>
              <a:rPr dirty="0" err="1"/>
              <a:t>peut-être</a:t>
            </a:r>
            <a:r>
              <a:rPr dirty="0"/>
              <a:t>. Rebelles, </a:t>
            </a:r>
            <a:r>
              <a:rPr dirty="0" err="1"/>
              <a:t>souvent</a:t>
            </a:r>
            <a:r>
              <a:rPr dirty="0"/>
              <a:t>. </a:t>
            </a:r>
            <a:r>
              <a:rPr dirty="0" err="1"/>
              <a:t>Hédonistes</a:t>
            </a:r>
            <a:r>
              <a:rPr dirty="0"/>
              <a:t>, </a:t>
            </a:r>
            <a:r>
              <a:rPr dirty="0" err="1"/>
              <a:t>toujours</a:t>
            </a:r>
            <a:endParaRPr dirty="0"/>
          </a:p>
        </p:txBody>
      </p:sp>
      <p:sp>
        <p:nvSpPr>
          <p:cNvPr id="4" name="Description"/>
          <p:cNvSpPr txBox="1"/>
          <p:nvPr/>
        </p:nvSpPr>
        <p:spPr>
          <a:xfrm>
            <a:off x="640080" y="2011680"/>
            <a:ext cx="10908792" cy="548640"/>
          </a:xfrm>
          <a:prstGeom prst="rect">
            <a:avLst/>
          </a:prstGeom>
          <a:noFill/>
        </p:spPr>
        <p:txBody>
          <a:bodyPr wrap="square" lIns="0" tIns="0" rIns="0" bIns="0">
            <a:spAutoFit/>
          </a:bodyPr>
          <a:lstStyle/>
          <a:p>
            <a:pPr>
              <a:spcAft>
                <a:spcPts val="0"/>
              </a:spcAft>
            </a:pPr>
            <a:r>
              <a:rPr sz="1250" b="0" i="0">
                <a:solidFill>
                  <a:srgbClr val="6B6670"/>
                </a:solidFill>
                <a:latin typeface="Montserrat"/>
              </a:rPr>
              <a:t>Pop Tables, maison de moments gastronomiques éphémères : un chef rare dans un restaurant d’exception, le soir où la route est inaccessible au plus grand nombre. Un pour tous ou tous pour un. Des drops pour éveiller la curiosité.</a:t>
            </a:r>
          </a:p>
        </p:txBody>
      </p:sp>
      <p:sp>
        <p:nvSpPr>
          <p:cNvPr id="5" name="Filet 1"/>
          <p:cNvSpPr/>
          <p:nvPr/>
        </p:nvSpPr>
        <p:spPr>
          <a:xfrm>
            <a:off x="640080" y="2743200"/>
            <a:ext cx="3392423" cy="73152"/>
          </a:xfrm>
          <a:prstGeom prst="rect">
            <a:avLst/>
          </a:prstGeom>
          <a:solidFill>
            <a:srgbClr val="C24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itre 1"/>
          <p:cNvSpPr txBox="1"/>
          <p:nvPr/>
        </p:nvSpPr>
        <p:spPr>
          <a:xfrm>
            <a:off x="640080" y="2944368"/>
            <a:ext cx="3392423" cy="411480"/>
          </a:xfrm>
          <a:prstGeom prst="rect">
            <a:avLst/>
          </a:prstGeom>
          <a:noFill/>
        </p:spPr>
        <p:txBody>
          <a:bodyPr wrap="square" lIns="0" tIns="0" rIns="0" bIns="0">
            <a:spAutoFit/>
          </a:bodyPr>
          <a:lstStyle/>
          <a:p>
            <a:pPr>
              <a:spcAft>
                <a:spcPts val="0"/>
              </a:spcAft>
            </a:pPr>
            <a:r>
              <a:rPr sz="1700" b="0" i="0">
                <a:solidFill>
                  <a:srgbClr val="1E1B2E"/>
                </a:solidFill>
                <a:latin typeface="Playfair Display"/>
              </a:rPr>
              <a:t>Le profil</a:t>
            </a:r>
          </a:p>
        </p:txBody>
      </p:sp>
      <p:sp>
        <p:nvSpPr>
          <p:cNvPr id="7" name="Texte 1"/>
          <p:cNvSpPr txBox="1"/>
          <p:nvPr/>
        </p:nvSpPr>
        <p:spPr>
          <a:xfrm>
            <a:off x="640080" y="3456432"/>
            <a:ext cx="3392423" cy="1685077"/>
          </a:xfrm>
          <a:prstGeom prst="rect">
            <a:avLst/>
          </a:prstGeom>
          <a:noFill/>
        </p:spPr>
        <p:txBody>
          <a:bodyPr wrap="square" lIns="0" tIns="0" rIns="0" bIns="0">
            <a:spAutoFit/>
          </a:bodyPr>
          <a:lstStyle/>
          <a:p>
            <a:pPr>
              <a:spcAft>
                <a:spcPts val="700"/>
              </a:spcAft>
            </a:pPr>
            <a:r>
              <a:rPr sz="1150" b="1" i="0" dirty="0">
                <a:solidFill>
                  <a:srgbClr val="26232F"/>
                </a:solidFill>
                <a:latin typeface="Montserrat"/>
              </a:rPr>
              <a:t>Libres. </a:t>
            </a:r>
            <a:r>
              <a:rPr sz="1150" b="0" i="0" dirty="0" err="1">
                <a:solidFill>
                  <a:srgbClr val="26232F"/>
                </a:solidFill>
                <a:latin typeface="Montserrat"/>
              </a:rPr>
              <a:t>Ils</a:t>
            </a:r>
            <a:r>
              <a:rPr sz="1150" b="0" i="0" dirty="0">
                <a:solidFill>
                  <a:srgbClr val="26232F"/>
                </a:solidFill>
                <a:latin typeface="Montserrat"/>
              </a:rPr>
              <a:t> font </a:t>
            </a:r>
            <a:r>
              <a:rPr sz="1150" b="0" i="0" dirty="0" err="1">
                <a:solidFill>
                  <a:srgbClr val="26232F"/>
                </a:solidFill>
                <a:latin typeface="Montserrat"/>
              </a:rPr>
              <a:t>ce</a:t>
            </a:r>
            <a:r>
              <a:rPr sz="1150" b="0" i="0" dirty="0">
                <a:solidFill>
                  <a:srgbClr val="26232F"/>
                </a:solidFill>
                <a:latin typeface="Montserrat"/>
              </a:rPr>
              <a:t> </a:t>
            </a:r>
            <a:r>
              <a:rPr sz="1150" b="0" i="0" dirty="0" err="1">
                <a:solidFill>
                  <a:srgbClr val="26232F"/>
                </a:solidFill>
                <a:latin typeface="Montserrat"/>
              </a:rPr>
              <a:t>qu’ils</a:t>
            </a:r>
            <a:r>
              <a:rPr sz="1150" b="0" i="0" dirty="0">
                <a:solidFill>
                  <a:srgbClr val="26232F"/>
                </a:solidFill>
                <a:latin typeface="Montserrat"/>
              </a:rPr>
              <a:t> </a:t>
            </a:r>
            <a:r>
              <a:rPr sz="1150" b="0" i="0" dirty="0" err="1">
                <a:solidFill>
                  <a:srgbClr val="26232F"/>
                </a:solidFill>
                <a:latin typeface="Montserrat"/>
              </a:rPr>
              <a:t>ont</a:t>
            </a:r>
            <a:r>
              <a:rPr sz="1150" b="0" i="0" dirty="0">
                <a:solidFill>
                  <a:srgbClr val="26232F"/>
                </a:solidFill>
                <a:latin typeface="Montserrat"/>
              </a:rPr>
              <a:t> </a:t>
            </a:r>
            <a:r>
              <a:rPr sz="1150" b="0" i="0" dirty="0" err="1">
                <a:solidFill>
                  <a:srgbClr val="26232F"/>
                </a:solidFill>
                <a:latin typeface="Montserrat"/>
              </a:rPr>
              <a:t>envie</a:t>
            </a:r>
            <a:r>
              <a:rPr sz="1150" b="0" i="0" dirty="0">
                <a:solidFill>
                  <a:srgbClr val="26232F"/>
                </a:solidFill>
                <a:latin typeface="Montserrat"/>
              </a:rPr>
              <a:t> de faire, sans </a:t>
            </a:r>
            <a:r>
              <a:rPr sz="1150" b="0" i="0" dirty="0" err="1">
                <a:solidFill>
                  <a:srgbClr val="26232F"/>
                </a:solidFill>
                <a:latin typeface="Montserrat"/>
              </a:rPr>
              <a:t>règles</a:t>
            </a:r>
            <a:r>
              <a:rPr sz="1150" b="0" i="0" dirty="0">
                <a:solidFill>
                  <a:srgbClr val="26232F"/>
                </a:solidFill>
                <a:latin typeface="Montserrat"/>
              </a:rPr>
              <a:t> </a:t>
            </a:r>
            <a:r>
              <a:rPr sz="1150" b="0" i="0" dirty="0" err="1">
                <a:solidFill>
                  <a:srgbClr val="26232F"/>
                </a:solidFill>
                <a:latin typeface="Montserrat"/>
              </a:rPr>
              <a:t>imposées</a:t>
            </a:r>
            <a:r>
              <a:rPr sz="1150" b="0" i="0" dirty="0">
                <a:solidFill>
                  <a:srgbClr val="26232F"/>
                </a:solidFill>
                <a:latin typeface="Montserrat"/>
              </a:rPr>
              <a:t>, que </a:t>
            </a:r>
            <a:r>
              <a:rPr sz="1150" b="0" i="0" dirty="0" err="1">
                <a:solidFill>
                  <a:srgbClr val="26232F"/>
                </a:solidFill>
                <a:latin typeface="Montserrat"/>
              </a:rPr>
              <a:t>cela</a:t>
            </a:r>
            <a:r>
              <a:rPr sz="1150" b="0" i="0" dirty="0">
                <a:solidFill>
                  <a:srgbClr val="26232F"/>
                </a:solidFill>
                <a:latin typeface="Montserrat"/>
              </a:rPr>
              <a:t> </a:t>
            </a:r>
            <a:r>
              <a:rPr sz="1150" b="0" i="0" dirty="0" err="1">
                <a:solidFill>
                  <a:srgbClr val="26232F"/>
                </a:solidFill>
                <a:latin typeface="Montserrat"/>
              </a:rPr>
              <a:t>plaise</a:t>
            </a:r>
            <a:r>
              <a:rPr sz="1150" b="0" i="0" dirty="0">
                <a:solidFill>
                  <a:srgbClr val="26232F"/>
                </a:solidFill>
                <a:latin typeface="Montserrat"/>
              </a:rPr>
              <a:t> </a:t>
            </a:r>
            <a:r>
              <a:rPr sz="1150" b="0" i="0" dirty="0" err="1">
                <a:solidFill>
                  <a:srgbClr val="26232F"/>
                </a:solidFill>
                <a:latin typeface="Montserrat"/>
              </a:rPr>
              <a:t>ou</a:t>
            </a:r>
            <a:r>
              <a:rPr sz="1150" b="0" i="0" dirty="0">
                <a:solidFill>
                  <a:srgbClr val="26232F"/>
                </a:solidFill>
                <a:latin typeface="Montserrat"/>
              </a:rPr>
              <a:t> non.</a:t>
            </a:r>
          </a:p>
          <a:p>
            <a:pPr>
              <a:spcAft>
                <a:spcPts val="700"/>
              </a:spcAft>
            </a:pPr>
            <a:r>
              <a:rPr sz="1150" b="1" i="0" dirty="0" err="1">
                <a:solidFill>
                  <a:srgbClr val="26232F"/>
                </a:solidFill>
                <a:latin typeface="Montserrat"/>
              </a:rPr>
              <a:t>Entourés</a:t>
            </a:r>
            <a:r>
              <a:rPr sz="1150" b="1" i="0" dirty="0">
                <a:solidFill>
                  <a:srgbClr val="26232F"/>
                </a:solidFill>
                <a:latin typeface="Montserrat"/>
              </a:rPr>
              <a:t>. </a:t>
            </a:r>
            <a:r>
              <a:rPr sz="1150" b="0" i="0" dirty="0" err="1">
                <a:solidFill>
                  <a:srgbClr val="26232F"/>
                </a:solidFill>
                <a:latin typeface="Montserrat"/>
              </a:rPr>
              <a:t>Ils</a:t>
            </a:r>
            <a:r>
              <a:rPr sz="1150" b="0" i="0" dirty="0">
                <a:solidFill>
                  <a:srgbClr val="26232F"/>
                </a:solidFill>
                <a:latin typeface="Montserrat"/>
              </a:rPr>
              <a:t> </a:t>
            </a:r>
            <a:r>
              <a:rPr sz="1150" b="0" i="0" dirty="0" err="1">
                <a:solidFill>
                  <a:srgbClr val="26232F"/>
                </a:solidFill>
                <a:latin typeface="Montserrat"/>
              </a:rPr>
              <a:t>aiment</a:t>
            </a:r>
            <a:r>
              <a:rPr sz="1150" b="0" i="0" dirty="0">
                <a:solidFill>
                  <a:srgbClr val="26232F"/>
                </a:solidFill>
                <a:latin typeface="Montserrat"/>
              </a:rPr>
              <a:t> </a:t>
            </a:r>
            <a:r>
              <a:rPr sz="1150" b="0" i="0" dirty="0" err="1">
                <a:solidFill>
                  <a:srgbClr val="26232F"/>
                </a:solidFill>
                <a:latin typeface="Montserrat"/>
              </a:rPr>
              <a:t>recevoir</a:t>
            </a:r>
            <a:r>
              <a:rPr sz="1150" b="0" i="0" dirty="0">
                <a:solidFill>
                  <a:srgbClr val="26232F"/>
                </a:solidFill>
                <a:latin typeface="Montserrat"/>
              </a:rPr>
              <a:t> et </a:t>
            </a:r>
            <a:r>
              <a:rPr sz="1150" b="0" i="0" dirty="0" err="1">
                <a:solidFill>
                  <a:srgbClr val="26232F"/>
                </a:solidFill>
                <a:latin typeface="Montserrat"/>
              </a:rPr>
              <a:t>vivent</a:t>
            </a:r>
            <a:r>
              <a:rPr sz="1150" b="0" i="0" dirty="0">
                <a:solidFill>
                  <a:srgbClr val="26232F"/>
                </a:solidFill>
                <a:latin typeface="Montserrat"/>
              </a:rPr>
              <a:t> </a:t>
            </a:r>
            <a:r>
              <a:rPr sz="1150" b="0" i="0" dirty="0" err="1">
                <a:solidFill>
                  <a:srgbClr val="26232F"/>
                </a:solidFill>
                <a:latin typeface="Montserrat"/>
              </a:rPr>
              <a:t>en</a:t>
            </a:r>
            <a:r>
              <a:rPr sz="1150" b="0" i="0" dirty="0">
                <a:solidFill>
                  <a:srgbClr val="26232F"/>
                </a:solidFill>
                <a:latin typeface="Montserrat"/>
              </a:rPr>
              <a:t> </a:t>
            </a:r>
            <a:r>
              <a:rPr sz="1150" b="0" i="0" dirty="0" err="1">
                <a:solidFill>
                  <a:srgbClr val="26232F"/>
                </a:solidFill>
                <a:latin typeface="Montserrat"/>
              </a:rPr>
              <a:t>tribu</a:t>
            </a:r>
            <a:r>
              <a:rPr sz="1150" b="0" i="0" dirty="0">
                <a:solidFill>
                  <a:srgbClr val="26232F"/>
                </a:solidFill>
                <a:latin typeface="Montserrat"/>
              </a:rPr>
              <a:t> </a:t>
            </a:r>
            <a:r>
              <a:rPr sz="1150" b="0" i="0" dirty="0" err="1">
                <a:solidFill>
                  <a:srgbClr val="26232F"/>
                </a:solidFill>
                <a:latin typeface="Montserrat"/>
              </a:rPr>
              <a:t>parmi</a:t>
            </a:r>
            <a:r>
              <a:rPr sz="1150" b="0" i="0" dirty="0">
                <a:solidFill>
                  <a:srgbClr val="26232F"/>
                </a:solidFill>
                <a:latin typeface="Montserrat"/>
              </a:rPr>
              <a:t> </a:t>
            </a:r>
            <a:r>
              <a:rPr sz="1150" b="0" i="0" dirty="0" err="1">
                <a:solidFill>
                  <a:srgbClr val="26232F"/>
                </a:solidFill>
                <a:latin typeface="Montserrat"/>
              </a:rPr>
              <a:t>ceux</a:t>
            </a:r>
            <a:r>
              <a:rPr sz="1150" b="0" i="0" dirty="0">
                <a:solidFill>
                  <a:srgbClr val="26232F"/>
                </a:solidFill>
                <a:latin typeface="Montserrat"/>
              </a:rPr>
              <a:t> </a:t>
            </a:r>
            <a:r>
              <a:rPr sz="1150" b="0" i="0" dirty="0" err="1">
                <a:solidFill>
                  <a:srgbClr val="26232F"/>
                </a:solidFill>
                <a:latin typeface="Montserrat"/>
              </a:rPr>
              <a:t>qu’ils</a:t>
            </a:r>
            <a:r>
              <a:rPr sz="1150" b="0" i="0" dirty="0">
                <a:solidFill>
                  <a:srgbClr val="26232F"/>
                </a:solidFill>
                <a:latin typeface="Montserrat"/>
              </a:rPr>
              <a:t> </a:t>
            </a:r>
            <a:r>
              <a:rPr sz="1150" b="0" i="0" dirty="0" err="1">
                <a:solidFill>
                  <a:srgbClr val="26232F"/>
                </a:solidFill>
                <a:latin typeface="Montserrat"/>
              </a:rPr>
              <a:t>aiment</a:t>
            </a:r>
            <a:r>
              <a:rPr sz="1150" b="0" i="0" dirty="0">
                <a:solidFill>
                  <a:srgbClr val="26232F"/>
                </a:solidFill>
                <a:latin typeface="Montserrat"/>
              </a:rPr>
              <a:t>. </a:t>
            </a:r>
            <a:r>
              <a:rPr sz="1150" b="0" i="0" dirty="0" err="1">
                <a:solidFill>
                  <a:srgbClr val="26232F"/>
                </a:solidFill>
                <a:latin typeface="Montserrat"/>
              </a:rPr>
              <a:t>Ils</a:t>
            </a:r>
            <a:r>
              <a:rPr sz="1150" b="0" i="0" dirty="0">
                <a:solidFill>
                  <a:srgbClr val="26232F"/>
                </a:solidFill>
                <a:latin typeface="Montserrat"/>
              </a:rPr>
              <a:t> ne </a:t>
            </a:r>
            <a:r>
              <a:rPr sz="1150" b="0" i="0" dirty="0" err="1">
                <a:solidFill>
                  <a:srgbClr val="26232F"/>
                </a:solidFill>
                <a:latin typeface="Montserrat"/>
              </a:rPr>
              <a:t>sont</a:t>
            </a:r>
            <a:r>
              <a:rPr sz="1150" b="0" i="0" dirty="0">
                <a:solidFill>
                  <a:srgbClr val="26232F"/>
                </a:solidFill>
                <a:latin typeface="Montserrat"/>
              </a:rPr>
              <a:t> jamais </a:t>
            </a:r>
            <a:r>
              <a:rPr sz="1150" b="0" i="0" dirty="0" err="1">
                <a:solidFill>
                  <a:srgbClr val="26232F"/>
                </a:solidFill>
                <a:latin typeface="Montserrat"/>
              </a:rPr>
              <a:t>exclusifs</a:t>
            </a:r>
            <a:r>
              <a:rPr sz="1150" b="0" i="0" dirty="0">
                <a:solidFill>
                  <a:srgbClr val="26232F"/>
                </a:solidFill>
                <a:latin typeface="Montserrat"/>
              </a:rPr>
              <a:t>.</a:t>
            </a:r>
          </a:p>
          <a:p>
            <a:pPr>
              <a:spcAft>
                <a:spcPts val="700"/>
              </a:spcAft>
            </a:pPr>
            <a:r>
              <a:rPr sz="1150" b="1" i="0" dirty="0" err="1">
                <a:solidFill>
                  <a:srgbClr val="26232F"/>
                </a:solidFill>
                <a:latin typeface="Montserrat"/>
              </a:rPr>
              <a:t>Généreux</a:t>
            </a:r>
            <a:r>
              <a:rPr sz="1150" b="1" i="0" dirty="0">
                <a:solidFill>
                  <a:srgbClr val="26232F"/>
                </a:solidFill>
                <a:latin typeface="Montserrat"/>
              </a:rPr>
              <a:t>. </a:t>
            </a:r>
            <a:r>
              <a:rPr sz="1150" b="0" i="0" dirty="0" err="1">
                <a:solidFill>
                  <a:srgbClr val="26232F"/>
                </a:solidFill>
                <a:latin typeface="Montserrat"/>
              </a:rPr>
              <a:t>Ils</a:t>
            </a:r>
            <a:r>
              <a:rPr sz="1150" b="0" i="0" dirty="0">
                <a:solidFill>
                  <a:srgbClr val="26232F"/>
                </a:solidFill>
                <a:latin typeface="Montserrat"/>
              </a:rPr>
              <a:t> </a:t>
            </a:r>
            <a:r>
              <a:rPr sz="1150" b="0" i="0" dirty="0" err="1">
                <a:solidFill>
                  <a:srgbClr val="26232F"/>
                </a:solidFill>
                <a:latin typeface="Montserrat"/>
              </a:rPr>
              <a:t>aiment</a:t>
            </a:r>
            <a:r>
              <a:rPr sz="1150" b="0" i="0" dirty="0">
                <a:solidFill>
                  <a:srgbClr val="26232F"/>
                </a:solidFill>
                <a:latin typeface="Montserrat"/>
              </a:rPr>
              <a:t> </a:t>
            </a:r>
            <a:r>
              <a:rPr sz="1150" b="0" i="0" dirty="0" err="1">
                <a:solidFill>
                  <a:srgbClr val="26232F"/>
                </a:solidFill>
                <a:latin typeface="Montserrat"/>
              </a:rPr>
              <a:t>offrir</a:t>
            </a:r>
            <a:r>
              <a:rPr sz="1150" b="0" i="0" dirty="0">
                <a:solidFill>
                  <a:srgbClr val="26232F"/>
                </a:solidFill>
                <a:latin typeface="Montserrat"/>
              </a:rPr>
              <a:t> et faire plaisir aux </a:t>
            </a:r>
            <a:r>
              <a:rPr sz="1150" b="0" i="0" dirty="0" err="1">
                <a:solidFill>
                  <a:srgbClr val="26232F"/>
                </a:solidFill>
                <a:latin typeface="Montserrat"/>
              </a:rPr>
              <a:t>autres</a:t>
            </a:r>
            <a:r>
              <a:rPr sz="1150" b="0" i="0" dirty="0">
                <a:solidFill>
                  <a:srgbClr val="26232F"/>
                </a:solidFill>
                <a:latin typeface="Montserrat"/>
              </a:rPr>
              <a:t>.</a:t>
            </a:r>
          </a:p>
          <a:p>
            <a:pPr>
              <a:spcAft>
                <a:spcPts val="700"/>
              </a:spcAft>
            </a:pPr>
            <a:r>
              <a:rPr sz="1150" b="1" i="0" dirty="0">
                <a:solidFill>
                  <a:srgbClr val="26232F"/>
                </a:solidFill>
                <a:latin typeface="Montserrat"/>
              </a:rPr>
              <a:t>Une richesse </a:t>
            </a:r>
            <a:r>
              <a:rPr sz="1150" b="0" i="0" dirty="0">
                <a:solidFill>
                  <a:srgbClr val="26232F"/>
                </a:solidFill>
                <a:latin typeface="Montserrat"/>
              </a:rPr>
              <a:t>de </a:t>
            </a:r>
            <a:r>
              <a:rPr sz="1150" b="0" i="0" dirty="0" err="1">
                <a:solidFill>
                  <a:srgbClr val="26232F"/>
                </a:solidFill>
                <a:latin typeface="Montserrat"/>
              </a:rPr>
              <a:t>cœur</a:t>
            </a:r>
            <a:r>
              <a:rPr lang="fr-FR" sz="1150" dirty="0">
                <a:solidFill>
                  <a:srgbClr val="26232F"/>
                </a:solidFill>
                <a:latin typeface="Montserrat"/>
              </a:rPr>
              <a:t>, pas toujours </a:t>
            </a:r>
            <a:r>
              <a:rPr sz="1150" b="0" i="0" dirty="0">
                <a:solidFill>
                  <a:srgbClr val="26232F"/>
                </a:solidFill>
                <a:latin typeface="Montserrat"/>
              </a:rPr>
              <a:t>de raison.</a:t>
            </a:r>
          </a:p>
        </p:txBody>
      </p:sp>
      <p:sp>
        <p:nvSpPr>
          <p:cNvPr id="8" name="Filet 2"/>
          <p:cNvSpPr/>
          <p:nvPr/>
        </p:nvSpPr>
        <p:spPr>
          <a:xfrm>
            <a:off x="4398264" y="2743200"/>
            <a:ext cx="3392423" cy="73152"/>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itre 2"/>
          <p:cNvSpPr txBox="1"/>
          <p:nvPr/>
        </p:nvSpPr>
        <p:spPr>
          <a:xfrm>
            <a:off x="4398264" y="2944368"/>
            <a:ext cx="3392423" cy="411480"/>
          </a:xfrm>
          <a:prstGeom prst="rect">
            <a:avLst/>
          </a:prstGeom>
          <a:noFill/>
        </p:spPr>
        <p:txBody>
          <a:bodyPr wrap="square" lIns="0" tIns="0" rIns="0" bIns="0">
            <a:spAutoFit/>
          </a:bodyPr>
          <a:lstStyle/>
          <a:p>
            <a:pPr>
              <a:spcAft>
                <a:spcPts val="0"/>
              </a:spcAft>
            </a:pPr>
            <a:r>
              <a:rPr sz="1700" b="0" i="0">
                <a:solidFill>
                  <a:srgbClr val="1E1B2E"/>
                </a:solidFill>
                <a:latin typeface="Playfair Display"/>
              </a:rPr>
              <a:t>Les cibles</a:t>
            </a:r>
          </a:p>
        </p:txBody>
      </p:sp>
      <p:sp>
        <p:nvSpPr>
          <p:cNvPr id="10" name="Texte 2"/>
          <p:cNvSpPr txBox="1"/>
          <p:nvPr/>
        </p:nvSpPr>
        <p:spPr>
          <a:xfrm>
            <a:off x="4398264" y="3456432"/>
            <a:ext cx="3392423" cy="2743200"/>
          </a:xfrm>
          <a:prstGeom prst="rect">
            <a:avLst/>
          </a:prstGeom>
          <a:noFill/>
        </p:spPr>
        <p:txBody>
          <a:bodyPr wrap="square" lIns="0" tIns="0" rIns="0" bIns="0">
            <a:spAutoFit/>
          </a:bodyPr>
          <a:lstStyle/>
          <a:p>
            <a:pPr>
              <a:spcAft>
                <a:spcPts val="700"/>
              </a:spcAft>
            </a:pPr>
            <a:r>
              <a:rPr sz="1150" b="1" i="0">
                <a:solidFill>
                  <a:srgbClr val="26232F"/>
                </a:solidFill>
                <a:latin typeface="Montserrat"/>
              </a:rPr>
              <a:t>La culture du « drop ». </a:t>
            </a:r>
            <a:r>
              <a:rPr sz="1150" b="0" i="0">
                <a:solidFill>
                  <a:srgbClr val="26232F"/>
                </a:solidFill>
                <a:latin typeface="Montserrat"/>
              </a:rPr>
              <a:t>Foodies, clientèle aisée, résidents et visiteurs.</a:t>
            </a:r>
          </a:p>
          <a:p>
            <a:pPr>
              <a:spcAft>
                <a:spcPts val="700"/>
              </a:spcAft>
            </a:pPr>
            <a:r>
              <a:rPr sz="1150" b="1" i="0">
                <a:solidFill>
                  <a:srgbClr val="26232F"/>
                </a:solidFill>
                <a:latin typeface="Montserrat"/>
              </a:rPr>
              <a:t>Privatisation entre amis. </a:t>
            </a:r>
            <a:r>
              <a:rPr sz="1150" b="0" i="0">
                <a:solidFill>
                  <a:srgbClr val="26232F"/>
                </a:solidFill>
                <a:latin typeface="Montserrat"/>
              </a:rPr>
              <a:t>Bandes d’amis, célébrations, clubs.</a:t>
            </a:r>
          </a:p>
          <a:p>
            <a:pPr>
              <a:spcAft>
                <a:spcPts val="700"/>
              </a:spcAft>
            </a:pPr>
            <a:r>
              <a:rPr sz="1150" b="1" i="0">
                <a:solidFill>
                  <a:srgbClr val="26232F"/>
                </a:solidFill>
                <a:latin typeface="Montserrat"/>
              </a:rPr>
              <a:t>Privatisation d’entreprise. </a:t>
            </a:r>
            <a:r>
              <a:rPr sz="1150" b="0" i="0">
                <a:solidFill>
                  <a:srgbClr val="26232F"/>
                </a:solidFill>
                <a:latin typeface="Montserrat"/>
              </a:rPr>
              <a:t>Dirigeants qui reçoivent, maisons de luxe, mais pas « Fashion Week only ».</a:t>
            </a:r>
          </a:p>
          <a:p>
            <a:pPr>
              <a:spcAft>
                <a:spcPts val="700"/>
              </a:spcAft>
            </a:pPr>
            <a:r>
              <a:rPr sz="1150" b="1" i="0">
                <a:solidFill>
                  <a:srgbClr val="26232F"/>
                </a:solidFill>
                <a:latin typeface="Montserrat"/>
              </a:rPr>
              <a:t>Prescripteurs. </a:t>
            </a:r>
            <a:r>
              <a:rPr sz="1150" b="0" i="0">
                <a:solidFill>
                  <a:srgbClr val="26232F"/>
                </a:solidFill>
                <a:latin typeface="Montserrat"/>
              </a:rPr>
              <a:t>Concierges, conciergeries, banques privées.</a:t>
            </a:r>
          </a:p>
        </p:txBody>
      </p:sp>
      <p:sp>
        <p:nvSpPr>
          <p:cNvPr id="11" name="Filet 3"/>
          <p:cNvSpPr/>
          <p:nvPr/>
        </p:nvSpPr>
        <p:spPr>
          <a:xfrm>
            <a:off x="8156447" y="2743200"/>
            <a:ext cx="3392423" cy="73152"/>
          </a:xfrm>
          <a:prstGeom prst="rect">
            <a:avLst/>
          </a:prstGeom>
          <a:solidFill>
            <a:srgbClr val="8FA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itre 3"/>
          <p:cNvSpPr txBox="1"/>
          <p:nvPr/>
        </p:nvSpPr>
        <p:spPr>
          <a:xfrm>
            <a:off x="8156447" y="2944368"/>
            <a:ext cx="3392423" cy="411480"/>
          </a:xfrm>
          <a:prstGeom prst="rect">
            <a:avLst/>
          </a:prstGeom>
          <a:noFill/>
        </p:spPr>
        <p:txBody>
          <a:bodyPr wrap="square" lIns="0" tIns="0" rIns="0" bIns="0">
            <a:spAutoFit/>
          </a:bodyPr>
          <a:lstStyle/>
          <a:p>
            <a:pPr>
              <a:spcAft>
                <a:spcPts val="0"/>
              </a:spcAft>
            </a:pPr>
            <a:r>
              <a:rPr sz="1700" b="0" i="0">
                <a:solidFill>
                  <a:srgbClr val="1E1B2E"/>
                </a:solidFill>
                <a:latin typeface="Playfair Display"/>
              </a:rPr>
              <a:t>Leurs irritants</a:t>
            </a:r>
          </a:p>
        </p:txBody>
      </p:sp>
      <p:sp>
        <p:nvSpPr>
          <p:cNvPr id="13" name="Texte 3"/>
          <p:cNvSpPr txBox="1"/>
          <p:nvPr/>
        </p:nvSpPr>
        <p:spPr>
          <a:xfrm>
            <a:off x="8156447" y="3456432"/>
            <a:ext cx="3392423" cy="1685077"/>
          </a:xfrm>
          <a:prstGeom prst="rect">
            <a:avLst/>
          </a:prstGeom>
          <a:noFill/>
        </p:spPr>
        <p:txBody>
          <a:bodyPr wrap="square" lIns="0" tIns="0" rIns="0" bIns="0">
            <a:spAutoFit/>
          </a:bodyPr>
          <a:lstStyle/>
          <a:p>
            <a:pPr>
              <a:spcAft>
                <a:spcPts val="700"/>
              </a:spcAft>
            </a:pPr>
            <a:r>
              <a:rPr sz="1150" b="1" i="0" dirty="0">
                <a:solidFill>
                  <a:srgbClr val="26232F"/>
                </a:solidFill>
                <a:latin typeface="Montserrat"/>
              </a:rPr>
              <a:t>Tout </a:t>
            </a:r>
            <a:r>
              <a:rPr sz="1150" b="1" i="0" dirty="0" err="1">
                <a:solidFill>
                  <a:srgbClr val="26232F"/>
                </a:solidFill>
                <a:latin typeface="Montserrat"/>
              </a:rPr>
              <a:t>est</a:t>
            </a:r>
            <a:r>
              <a:rPr sz="1150" b="1" i="0" dirty="0">
                <a:solidFill>
                  <a:srgbClr val="26232F"/>
                </a:solidFill>
                <a:latin typeface="Montserrat"/>
              </a:rPr>
              <a:t> </a:t>
            </a:r>
            <a:r>
              <a:rPr sz="1150" b="1" i="0" dirty="0" err="1">
                <a:solidFill>
                  <a:srgbClr val="26232F"/>
                </a:solidFill>
                <a:latin typeface="Montserrat"/>
              </a:rPr>
              <a:t>réservable</a:t>
            </a:r>
            <a:r>
              <a:rPr sz="1150" b="1" i="0" dirty="0">
                <a:solidFill>
                  <a:srgbClr val="26232F"/>
                </a:solidFill>
                <a:latin typeface="Montserrat"/>
              </a:rPr>
              <a:t>. </a:t>
            </a:r>
            <a:r>
              <a:rPr sz="1150" b="0" i="0" dirty="0">
                <a:solidFill>
                  <a:srgbClr val="26232F"/>
                </a:solidFill>
                <a:latin typeface="Montserrat"/>
              </a:rPr>
              <a:t>Les </a:t>
            </a:r>
            <a:r>
              <a:rPr sz="1150" b="0" i="0" dirty="0" err="1">
                <a:solidFill>
                  <a:srgbClr val="26232F"/>
                </a:solidFill>
                <a:latin typeface="Montserrat"/>
              </a:rPr>
              <a:t>grandes</a:t>
            </a:r>
            <a:r>
              <a:rPr sz="1150" b="0" i="0" dirty="0">
                <a:solidFill>
                  <a:srgbClr val="26232F"/>
                </a:solidFill>
                <a:latin typeface="Montserrat"/>
              </a:rPr>
              <a:t> tables, </a:t>
            </a:r>
            <a:r>
              <a:rPr sz="1150" b="0" i="0" dirty="0" err="1">
                <a:solidFill>
                  <a:srgbClr val="26232F"/>
                </a:solidFill>
                <a:latin typeface="Montserrat"/>
              </a:rPr>
              <a:t>ils</a:t>
            </a:r>
            <a:r>
              <a:rPr sz="1150" b="0" i="0" dirty="0">
                <a:solidFill>
                  <a:srgbClr val="26232F"/>
                </a:solidFill>
                <a:latin typeface="Montserrat"/>
              </a:rPr>
              <a:t> les </a:t>
            </a:r>
            <a:r>
              <a:rPr sz="1150" b="0" i="0" dirty="0" err="1">
                <a:solidFill>
                  <a:srgbClr val="26232F"/>
                </a:solidFill>
                <a:latin typeface="Montserrat"/>
              </a:rPr>
              <a:t>ont</a:t>
            </a:r>
            <a:r>
              <a:rPr sz="1150" b="0" i="0" dirty="0">
                <a:solidFill>
                  <a:srgbClr val="26232F"/>
                </a:solidFill>
                <a:latin typeface="Montserrat"/>
              </a:rPr>
              <a:t> déjà </a:t>
            </a:r>
            <a:r>
              <a:rPr sz="1150" b="0" i="0" dirty="0" err="1">
                <a:solidFill>
                  <a:srgbClr val="26232F"/>
                </a:solidFill>
                <a:latin typeface="Montserrat"/>
              </a:rPr>
              <a:t>faites</a:t>
            </a:r>
            <a:r>
              <a:rPr sz="1150" b="0" i="0" dirty="0">
                <a:solidFill>
                  <a:srgbClr val="26232F"/>
                </a:solidFill>
                <a:latin typeface="Montserrat"/>
              </a:rPr>
              <a:t>.</a:t>
            </a:r>
          </a:p>
          <a:p>
            <a:pPr>
              <a:spcAft>
                <a:spcPts val="700"/>
              </a:spcAft>
            </a:pPr>
            <a:r>
              <a:rPr sz="1150" b="1" i="0" dirty="0">
                <a:solidFill>
                  <a:srgbClr val="26232F"/>
                </a:solidFill>
                <a:latin typeface="Montserrat"/>
              </a:rPr>
              <a:t>Trop </a:t>
            </a:r>
            <a:r>
              <a:rPr lang="fr-FR" sz="1150" b="1" dirty="0">
                <a:solidFill>
                  <a:srgbClr val="26232F"/>
                </a:solidFill>
                <a:latin typeface="Montserrat"/>
              </a:rPr>
              <a:t>conventionnel</a:t>
            </a:r>
            <a:r>
              <a:rPr sz="1150" b="1" i="0" dirty="0">
                <a:solidFill>
                  <a:srgbClr val="26232F"/>
                </a:solidFill>
                <a:latin typeface="Montserrat"/>
              </a:rPr>
              <a:t>. </a:t>
            </a:r>
            <a:r>
              <a:rPr sz="1150" b="0" i="0" dirty="0">
                <a:solidFill>
                  <a:srgbClr val="26232F"/>
                </a:solidFill>
                <a:latin typeface="Montserrat"/>
              </a:rPr>
              <a:t>Carte, </a:t>
            </a:r>
            <a:r>
              <a:rPr sz="1150" b="0" i="0" dirty="0" err="1">
                <a:solidFill>
                  <a:srgbClr val="26232F"/>
                </a:solidFill>
                <a:latin typeface="Montserrat"/>
              </a:rPr>
              <a:t>horaires</a:t>
            </a:r>
            <a:r>
              <a:rPr sz="1150" b="0" i="0" dirty="0">
                <a:solidFill>
                  <a:srgbClr val="26232F"/>
                </a:solidFill>
                <a:latin typeface="Montserrat"/>
              </a:rPr>
              <a:t>, codes : le </a:t>
            </a:r>
            <a:r>
              <a:rPr lang="fr-FR" sz="1150" b="0" i="0" dirty="0">
                <a:solidFill>
                  <a:srgbClr val="26232F"/>
                </a:solidFill>
                <a:latin typeface="Montserrat"/>
              </a:rPr>
              <a:t>cadre est déjà connu du plus grand nombre. </a:t>
            </a:r>
            <a:endParaRPr sz="1150" b="0" i="0" dirty="0">
              <a:solidFill>
                <a:srgbClr val="26232F"/>
              </a:solidFill>
              <a:latin typeface="Montserrat"/>
            </a:endParaRPr>
          </a:p>
          <a:p>
            <a:pPr>
              <a:spcAft>
                <a:spcPts val="700"/>
              </a:spcAft>
            </a:pPr>
            <a:r>
              <a:rPr sz="1150" b="1" i="0" dirty="0" err="1">
                <a:solidFill>
                  <a:srgbClr val="26232F"/>
                </a:solidFill>
                <a:latin typeface="Montserrat"/>
              </a:rPr>
              <a:t>Recevoir</a:t>
            </a:r>
            <a:r>
              <a:rPr sz="1150" b="1" i="0" dirty="0">
                <a:solidFill>
                  <a:srgbClr val="26232F"/>
                </a:solidFill>
                <a:latin typeface="Montserrat"/>
              </a:rPr>
              <a:t>, un </a:t>
            </a:r>
            <a:r>
              <a:rPr sz="1150" b="1" i="0" dirty="0" err="1">
                <a:solidFill>
                  <a:srgbClr val="26232F"/>
                </a:solidFill>
                <a:latin typeface="Montserrat"/>
              </a:rPr>
              <a:t>casse</a:t>
            </a:r>
            <a:r>
              <a:rPr sz="1150" b="1" i="0" dirty="0">
                <a:solidFill>
                  <a:srgbClr val="26232F"/>
                </a:solidFill>
                <a:latin typeface="Montserrat"/>
              </a:rPr>
              <a:t>-tête. </a:t>
            </a:r>
            <a:r>
              <a:rPr sz="1150" b="0" i="0" dirty="0" err="1">
                <a:solidFill>
                  <a:srgbClr val="26232F"/>
                </a:solidFill>
                <a:latin typeface="Montserrat"/>
              </a:rPr>
              <a:t>Réunir</a:t>
            </a:r>
            <a:r>
              <a:rPr sz="1150" b="0" i="0" dirty="0">
                <a:solidFill>
                  <a:srgbClr val="26232F"/>
                </a:solidFill>
                <a:latin typeface="Montserrat"/>
              </a:rPr>
              <a:t> </a:t>
            </a:r>
            <a:r>
              <a:rPr sz="1150" b="0" i="0" dirty="0" err="1">
                <a:solidFill>
                  <a:srgbClr val="26232F"/>
                </a:solidFill>
                <a:latin typeface="Montserrat"/>
              </a:rPr>
              <a:t>ceux</a:t>
            </a:r>
            <a:r>
              <a:rPr sz="1150" b="0" i="0" dirty="0">
                <a:solidFill>
                  <a:srgbClr val="26232F"/>
                </a:solidFill>
                <a:latin typeface="Montserrat"/>
              </a:rPr>
              <a:t> </a:t>
            </a:r>
            <a:r>
              <a:rPr sz="1150" b="0" i="0" dirty="0" err="1">
                <a:solidFill>
                  <a:srgbClr val="26232F"/>
                </a:solidFill>
                <a:latin typeface="Montserrat"/>
              </a:rPr>
              <a:t>qu’on</a:t>
            </a:r>
            <a:r>
              <a:rPr sz="1150" b="0" i="0" dirty="0">
                <a:solidFill>
                  <a:srgbClr val="26232F"/>
                </a:solidFill>
                <a:latin typeface="Montserrat"/>
              </a:rPr>
              <a:t> </a:t>
            </a:r>
            <a:r>
              <a:rPr sz="1150" b="0" i="0" dirty="0" err="1">
                <a:solidFill>
                  <a:srgbClr val="26232F"/>
                </a:solidFill>
                <a:latin typeface="Montserrat"/>
              </a:rPr>
              <a:t>aime</a:t>
            </a:r>
            <a:r>
              <a:rPr sz="1150" b="0" i="0" dirty="0">
                <a:solidFill>
                  <a:srgbClr val="26232F"/>
                </a:solidFill>
                <a:latin typeface="Montserrat"/>
              </a:rPr>
              <a:t> pour des instants </a:t>
            </a:r>
            <a:r>
              <a:rPr sz="1150" b="0" i="0" dirty="0" err="1">
                <a:solidFill>
                  <a:srgbClr val="26232F"/>
                </a:solidFill>
                <a:latin typeface="Montserrat"/>
              </a:rPr>
              <a:t>vraiment</a:t>
            </a:r>
            <a:r>
              <a:rPr sz="1150" b="0" i="0" dirty="0">
                <a:solidFill>
                  <a:srgbClr val="26232F"/>
                </a:solidFill>
                <a:latin typeface="Montserrat"/>
              </a:rPr>
              <a:t> </a:t>
            </a:r>
            <a:r>
              <a:rPr sz="1150" b="0" i="0" dirty="0" err="1">
                <a:solidFill>
                  <a:srgbClr val="26232F"/>
                </a:solidFill>
                <a:latin typeface="Montserrat"/>
              </a:rPr>
              <a:t>uniques</a:t>
            </a:r>
            <a:r>
              <a:rPr sz="1150" b="0" i="0" dirty="0">
                <a:solidFill>
                  <a:srgbClr val="26232F"/>
                </a:solidFill>
                <a:latin typeface="Montserrat"/>
              </a:rPr>
              <a:t>.</a:t>
            </a:r>
          </a:p>
          <a:p>
            <a:pPr>
              <a:spcAft>
                <a:spcPts val="700"/>
              </a:spcAft>
            </a:pPr>
            <a:r>
              <a:rPr sz="1150" b="1" i="0" dirty="0">
                <a:solidFill>
                  <a:srgbClr val="26232F"/>
                </a:solidFill>
                <a:latin typeface="Montserrat"/>
              </a:rPr>
              <a:t>Le rare se </a:t>
            </a:r>
            <a:r>
              <a:rPr sz="1150" b="1" i="0" dirty="0" err="1">
                <a:solidFill>
                  <a:srgbClr val="26232F"/>
                </a:solidFill>
                <a:latin typeface="Montserrat"/>
              </a:rPr>
              <a:t>banalise</a:t>
            </a:r>
            <a:r>
              <a:rPr sz="1150" b="1" i="0" dirty="0">
                <a:solidFill>
                  <a:srgbClr val="26232F"/>
                </a:solidFill>
                <a:latin typeface="Montserrat"/>
              </a:rPr>
              <a:t>. </a:t>
            </a:r>
            <a:r>
              <a:rPr sz="1150" b="0" i="0" dirty="0">
                <a:solidFill>
                  <a:srgbClr val="26232F"/>
                </a:solidFill>
                <a:latin typeface="Montserrat"/>
              </a:rPr>
              <a:t>Ce qui </a:t>
            </a:r>
            <a:r>
              <a:rPr sz="1150" b="0" i="0" dirty="0" err="1">
                <a:solidFill>
                  <a:srgbClr val="26232F"/>
                </a:solidFill>
                <a:latin typeface="Montserrat"/>
              </a:rPr>
              <a:t>est</a:t>
            </a:r>
            <a:r>
              <a:rPr sz="1150" b="0" i="0" dirty="0">
                <a:solidFill>
                  <a:srgbClr val="26232F"/>
                </a:solidFill>
                <a:latin typeface="Montserrat"/>
              </a:rPr>
              <a:t> </a:t>
            </a:r>
            <a:r>
              <a:rPr sz="1150" b="0" i="0" dirty="0" err="1">
                <a:solidFill>
                  <a:srgbClr val="26232F"/>
                </a:solidFill>
                <a:latin typeface="Montserrat"/>
              </a:rPr>
              <a:t>exclusif</a:t>
            </a:r>
            <a:r>
              <a:rPr sz="1150" b="0" i="0" dirty="0">
                <a:solidFill>
                  <a:srgbClr val="26232F"/>
                </a:solidFill>
                <a:latin typeface="Montserrat"/>
              </a:rPr>
              <a:t> </a:t>
            </a:r>
            <a:r>
              <a:rPr sz="1150" b="0" i="0" dirty="0" err="1">
                <a:solidFill>
                  <a:srgbClr val="26232F"/>
                </a:solidFill>
                <a:latin typeface="Montserrat"/>
              </a:rPr>
              <a:t>appartient</a:t>
            </a:r>
            <a:r>
              <a:rPr sz="1150" b="0" i="0" dirty="0">
                <a:solidFill>
                  <a:srgbClr val="26232F"/>
                </a:solidFill>
                <a:latin typeface="Montserrat"/>
              </a:rPr>
              <a:t> trop </a:t>
            </a:r>
            <a:r>
              <a:rPr sz="1150" b="0" i="0" dirty="0" err="1">
                <a:solidFill>
                  <a:srgbClr val="26232F"/>
                </a:solidFill>
                <a:latin typeface="Montserrat"/>
              </a:rPr>
              <a:t>vite</a:t>
            </a:r>
            <a:r>
              <a:rPr sz="1150" b="0" i="0" dirty="0">
                <a:solidFill>
                  <a:srgbClr val="26232F"/>
                </a:solidFill>
                <a:latin typeface="Montserrat"/>
              </a:rPr>
              <a:t> au plus grand </a:t>
            </a:r>
            <a:r>
              <a:rPr sz="1150" b="0" i="0" dirty="0" err="1">
                <a:solidFill>
                  <a:srgbClr val="26232F"/>
                </a:solidFill>
                <a:latin typeface="Montserrat"/>
              </a:rPr>
              <a:t>nombre</a:t>
            </a:r>
            <a:r>
              <a:rPr sz="1150" b="0" i="0" dirty="0">
                <a:solidFill>
                  <a:srgbClr val="26232F"/>
                </a:solidFill>
                <a:latin typeface="Montserrat"/>
              </a:rPr>
              <a:t>.</a:t>
            </a:r>
          </a:p>
        </p:txBody>
      </p:sp>
      <p:sp>
        <p:nvSpPr>
          <p:cNvPr id="14" name="Slide Number Placeholder 0">
            <a:extLst>
              <a:ext uri="{FF2B5EF4-FFF2-40B4-BE49-F238E27FC236}">
                <a16:creationId xmlns:a16="http://schemas.microsoft.com/office/drawing/2014/main" id="{579473FE-EE37-EAAD-DE7E-06504E9C1FD1}"/>
              </a:ext>
            </a:extLst>
          </p:cNvPr>
          <p:cNvSpPr>
            <a:spLocks noGrp="1"/>
          </p:cNvSpPr>
          <p:nvPr>
            <p:ph type="sldNum" sz="quarter" idx="4294967295"/>
          </p:nvPr>
        </p:nvSpPr>
        <p:spPr>
          <a:xfrm>
            <a:off x="11002975" y="6455664"/>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6"/>
          </p:nvPr>
        </p:nvSpPr>
        <p:spPr/>
        <p:txBody>
          <a:bodyPr/>
          <a:lstStyle/>
          <a:p>
            <a:r>
              <a:t>PLAN MARKETING</a:t>
            </a:r>
          </a:p>
        </p:txBody>
      </p:sp>
      <p:sp>
        <p:nvSpPr>
          <p:cNvPr id="3" name="Title 2"/>
          <p:cNvSpPr>
            <a:spLocks noGrp="1"/>
          </p:cNvSpPr>
          <p:nvPr>
            <p:ph type="title" idx="107"/>
          </p:nvPr>
        </p:nvSpPr>
        <p:spPr/>
        <p:txBody>
          <a:bodyPr/>
          <a:lstStyle/>
          <a:p>
            <a:r>
              <a:t>Le drop crée le désir, les privatisations créent la valeur</a:t>
            </a:r>
          </a:p>
        </p:txBody>
      </p:sp>
      <p:sp>
        <p:nvSpPr>
          <p:cNvPr id="4" name="Filet 1"/>
          <p:cNvSpPr/>
          <p:nvPr/>
        </p:nvSpPr>
        <p:spPr>
          <a:xfrm>
            <a:off x="640080" y="2331720"/>
            <a:ext cx="3392423" cy="73152"/>
          </a:xfrm>
          <a:prstGeom prst="rect">
            <a:avLst/>
          </a:prstGeom>
          <a:solidFill>
            <a:srgbClr val="C24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itre 1"/>
          <p:cNvSpPr txBox="1"/>
          <p:nvPr/>
        </p:nvSpPr>
        <p:spPr>
          <a:xfrm>
            <a:off x="640080" y="2532888"/>
            <a:ext cx="3392423" cy="411480"/>
          </a:xfrm>
          <a:prstGeom prst="rect">
            <a:avLst/>
          </a:prstGeom>
          <a:noFill/>
        </p:spPr>
        <p:txBody>
          <a:bodyPr wrap="square" lIns="0" tIns="0" rIns="0" bIns="0">
            <a:spAutoFit/>
          </a:bodyPr>
          <a:lstStyle/>
          <a:p>
            <a:pPr>
              <a:spcAft>
                <a:spcPts val="0"/>
              </a:spcAft>
            </a:pPr>
            <a:r>
              <a:rPr sz="1700" b="0" i="0">
                <a:solidFill>
                  <a:srgbClr val="1E1B2E"/>
                </a:solidFill>
                <a:latin typeface="Playfair Display"/>
              </a:rPr>
              <a:t>Faire désirer : le drop</a:t>
            </a:r>
          </a:p>
        </p:txBody>
      </p:sp>
      <p:sp>
        <p:nvSpPr>
          <p:cNvPr id="6" name="Texte 1"/>
          <p:cNvSpPr txBox="1"/>
          <p:nvPr/>
        </p:nvSpPr>
        <p:spPr>
          <a:xfrm>
            <a:off x="640080" y="3044952"/>
            <a:ext cx="3392423" cy="2128788"/>
          </a:xfrm>
          <a:prstGeom prst="rect">
            <a:avLst/>
          </a:prstGeom>
          <a:noFill/>
        </p:spPr>
        <p:txBody>
          <a:bodyPr wrap="square" lIns="0" tIns="0" rIns="0" bIns="0">
            <a:spAutoFit/>
          </a:bodyPr>
          <a:lstStyle/>
          <a:p>
            <a:pPr>
              <a:spcAft>
                <a:spcPts val="700"/>
              </a:spcAft>
            </a:pPr>
            <a:r>
              <a:rPr sz="1150" b="1" i="0" dirty="0">
                <a:solidFill>
                  <a:srgbClr val="26232F"/>
                </a:solidFill>
                <a:latin typeface="Montserrat"/>
              </a:rPr>
              <a:t>Une soirée par </a:t>
            </a:r>
            <a:r>
              <a:rPr sz="1150" b="1" i="0" dirty="0" err="1">
                <a:solidFill>
                  <a:srgbClr val="26232F"/>
                </a:solidFill>
                <a:latin typeface="Montserrat"/>
              </a:rPr>
              <a:t>mois</a:t>
            </a:r>
            <a:r>
              <a:rPr sz="1150" b="1" i="0" dirty="0">
                <a:solidFill>
                  <a:srgbClr val="26232F"/>
                </a:solidFill>
                <a:latin typeface="Montserrat"/>
              </a:rPr>
              <a:t> et par </a:t>
            </a:r>
            <a:r>
              <a:rPr sz="1150" b="1" i="0" dirty="0" err="1">
                <a:solidFill>
                  <a:srgbClr val="26232F"/>
                </a:solidFill>
                <a:latin typeface="Montserrat"/>
              </a:rPr>
              <a:t>ville</a:t>
            </a:r>
            <a:r>
              <a:rPr sz="1150" b="1" i="0" dirty="0">
                <a:solidFill>
                  <a:srgbClr val="26232F"/>
                </a:solidFill>
                <a:latin typeface="Montserrat"/>
              </a:rPr>
              <a:t>, </a:t>
            </a:r>
            <a:r>
              <a:rPr sz="1150" b="0" i="0" dirty="0" err="1">
                <a:solidFill>
                  <a:srgbClr val="26232F"/>
                </a:solidFill>
                <a:latin typeface="Montserrat"/>
              </a:rPr>
              <a:t>annoncée</a:t>
            </a:r>
            <a:r>
              <a:rPr sz="1150" b="0" i="0" dirty="0">
                <a:solidFill>
                  <a:srgbClr val="26232F"/>
                </a:solidFill>
                <a:latin typeface="Montserrat"/>
              </a:rPr>
              <a:t> </a:t>
            </a:r>
            <a:r>
              <a:rPr sz="1150" b="0" i="0" dirty="0" err="1">
                <a:solidFill>
                  <a:srgbClr val="26232F"/>
                </a:solidFill>
                <a:latin typeface="Montserrat"/>
              </a:rPr>
              <a:t>comme</a:t>
            </a:r>
            <a:r>
              <a:rPr sz="1150" b="0" i="0" dirty="0">
                <a:solidFill>
                  <a:srgbClr val="26232F"/>
                </a:solidFill>
                <a:latin typeface="Montserrat"/>
              </a:rPr>
              <a:t> un « secret </a:t>
            </a:r>
            <a:r>
              <a:rPr sz="1150" b="0" i="0" dirty="0" err="1">
                <a:solidFill>
                  <a:srgbClr val="26232F"/>
                </a:solidFill>
                <a:latin typeface="Montserrat"/>
              </a:rPr>
              <a:t>partagé</a:t>
            </a:r>
            <a:r>
              <a:rPr sz="1150" b="0" i="0" dirty="0">
                <a:solidFill>
                  <a:srgbClr val="26232F"/>
                </a:solidFill>
                <a:latin typeface="Montserrat"/>
              </a:rPr>
              <a:t> ».</a:t>
            </a:r>
          </a:p>
          <a:p>
            <a:pPr>
              <a:spcAft>
                <a:spcPts val="700"/>
              </a:spcAft>
            </a:pPr>
            <a:r>
              <a:rPr sz="1150" b="1" i="0" dirty="0">
                <a:solidFill>
                  <a:srgbClr val="26232F"/>
                </a:solidFill>
                <a:latin typeface="Montserrat"/>
              </a:rPr>
              <a:t>La </a:t>
            </a:r>
            <a:r>
              <a:rPr sz="1150" b="1" i="0" dirty="0" err="1">
                <a:solidFill>
                  <a:srgbClr val="26232F"/>
                </a:solidFill>
                <a:latin typeface="Montserrat"/>
              </a:rPr>
              <a:t>liste</a:t>
            </a:r>
            <a:r>
              <a:rPr sz="1150" b="1" i="0" dirty="0">
                <a:solidFill>
                  <a:srgbClr val="26232F"/>
                </a:solidFill>
                <a:latin typeface="Montserrat"/>
              </a:rPr>
              <a:t> </a:t>
            </a:r>
            <a:r>
              <a:rPr sz="1150" b="1" i="0" dirty="0" err="1">
                <a:solidFill>
                  <a:srgbClr val="26232F"/>
                </a:solidFill>
                <a:latin typeface="Montserrat"/>
              </a:rPr>
              <a:t>privée</a:t>
            </a:r>
            <a:r>
              <a:rPr sz="1150" b="1" i="0" dirty="0">
                <a:solidFill>
                  <a:srgbClr val="26232F"/>
                </a:solidFill>
                <a:latin typeface="Montserrat"/>
              </a:rPr>
              <a:t> </a:t>
            </a:r>
            <a:r>
              <a:rPr sz="1150" b="0" i="0" dirty="0">
                <a:solidFill>
                  <a:srgbClr val="26232F"/>
                </a:solidFill>
                <a:latin typeface="Montserrat"/>
              </a:rPr>
              <a:t>a 48 </a:t>
            </a:r>
            <a:r>
              <a:rPr sz="1150" b="0" i="0" dirty="0" err="1">
                <a:solidFill>
                  <a:srgbClr val="26232F"/>
                </a:solidFill>
                <a:latin typeface="Montserrat"/>
              </a:rPr>
              <a:t>heures</a:t>
            </a:r>
            <a:r>
              <a:rPr sz="1150" b="0" i="0" dirty="0">
                <a:solidFill>
                  <a:srgbClr val="26232F"/>
                </a:solidFill>
                <a:latin typeface="Montserrat"/>
              </a:rPr>
              <a:t> </a:t>
            </a:r>
            <a:r>
              <a:rPr sz="1150" b="0" i="0" dirty="0" err="1">
                <a:solidFill>
                  <a:srgbClr val="26232F"/>
                </a:solidFill>
                <a:latin typeface="Montserrat"/>
              </a:rPr>
              <a:t>d’avance</a:t>
            </a:r>
            <a:r>
              <a:rPr sz="1150" b="0" i="0" dirty="0">
                <a:solidFill>
                  <a:srgbClr val="26232F"/>
                </a:solidFill>
                <a:latin typeface="Montserrat"/>
              </a:rPr>
              <a:t> ; la vente se </a:t>
            </a:r>
            <a:r>
              <a:rPr sz="1150" b="0" i="0" dirty="0" err="1">
                <a:solidFill>
                  <a:srgbClr val="26232F"/>
                </a:solidFill>
                <a:latin typeface="Montserrat"/>
              </a:rPr>
              <a:t>ferme</a:t>
            </a:r>
            <a:r>
              <a:rPr sz="1150" b="0" i="0" dirty="0">
                <a:solidFill>
                  <a:srgbClr val="26232F"/>
                </a:solidFill>
                <a:latin typeface="Montserrat"/>
              </a:rPr>
              <a:t> </a:t>
            </a:r>
            <a:r>
              <a:rPr sz="1150" b="0" i="0" dirty="0" err="1">
                <a:solidFill>
                  <a:srgbClr val="26232F"/>
                </a:solidFill>
                <a:latin typeface="Montserrat"/>
              </a:rPr>
              <a:t>quand</a:t>
            </a:r>
            <a:r>
              <a:rPr sz="1150" b="0" i="0" dirty="0">
                <a:solidFill>
                  <a:srgbClr val="26232F"/>
                </a:solidFill>
                <a:latin typeface="Montserrat"/>
              </a:rPr>
              <a:t> la salle </a:t>
            </a:r>
            <a:r>
              <a:rPr sz="1150" b="0" i="0" dirty="0" err="1">
                <a:solidFill>
                  <a:srgbClr val="26232F"/>
                </a:solidFill>
                <a:latin typeface="Montserrat"/>
              </a:rPr>
              <a:t>est</a:t>
            </a:r>
            <a:r>
              <a:rPr sz="1150" b="0" i="0" dirty="0">
                <a:solidFill>
                  <a:srgbClr val="26232F"/>
                </a:solidFill>
                <a:latin typeface="Montserrat"/>
              </a:rPr>
              <a:t> </a:t>
            </a:r>
            <a:r>
              <a:rPr sz="1150" b="0" i="0" dirty="0" err="1">
                <a:solidFill>
                  <a:srgbClr val="26232F"/>
                </a:solidFill>
                <a:latin typeface="Montserrat"/>
              </a:rPr>
              <a:t>pleine</a:t>
            </a:r>
            <a:r>
              <a:rPr sz="1150" b="0" i="0" dirty="0">
                <a:solidFill>
                  <a:srgbClr val="26232F"/>
                </a:solidFill>
                <a:latin typeface="Montserrat"/>
              </a:rPr>
              <a:t>.</a:t>
            </a:r>
          </a:p>
          <a:p>
            <a:pPr>
              <a:spcAft>
                <a:spcPts val="700"/>
              </a:spcAft>
            </a:pPr>
            <a:r>
              <a:rPr sz="1150" b="1" i="0" dirty="0">
                <a:solidFill>
                  <a:srgbClr val="26232F"/>
                </a:solidFill>
                <a:latin typeface="Montserrat"/>
              </a:rPr>
              <a:t>Le chef </a:t>
            </a:r>
            <a:r>
              <a:rPr sz="1150" b="1" i="0" dirty="0" err="1">
                <a:solidFill>
                  <a:srgbClr val="26232F"/>
                </a:solidFill>
                <a:latin typeface="Montserrat"/>
              </a:rPr>
              <a:t>signe</a:t>
            </a:r>
            <a:r>
              <a:rPr sz="1150" b="1" i="0" dirty="0">
                <a:solidFill>
                  <a:srgbClr val="26232F"/>
                </a:solidFill>
                <a:latin typeface="Montserrat"/>
              </a:rPr>
              <a:t> </a:t>
            </a:r>
            <a:r>
              <a:rPr sz="1150" b="1" i="0" dirty="0" err="1">
                <a:solidFill>
                  <a:srgbClr val="26232F"/>
                </a:solidFill>
                <a:latin typeface="Montserrat"/>
              </a:rPr>
              <a:t>chaque</a:t>
            </a:r>
            <a:r>
              <a:rPr sz="1150" b="1" i="0" dirty="0">
                <a:solidFill>
                  <a:srgbClr val="26232F"/>
                </a:solidFill>
                <a:latin typeface="Montserrat"/>
              </a:rPr>
              <a:t> drop ; </a:t>
            </a:r>
            <a:r>
              <a:rPr sz="1150" b="0" i="0" dirty="0">
                <a:solidFill>
                  <a:srgbClr val="26232F"/>
                </a:solidFill>
                <a:latin typeface="Montserrat"/>
              </a:rPr>
              <a:t>le lieu </a:t>
            </a:r>
            <a:r>
              <a:rPr sz="1150" b="0" i="0" dirty="0" err="1">
                <a:solidFill>
                  <a:srgbClr val="26232F"/>
                </a:solidFill>
                <a:latin typeface="Montserrat"/>
              </a:rPr>
              <a:t>reste</a:t>
            </a:r>
            <a:r>
              <a:rPr sz="1150" b="0" i="0" dirty="0">
                <a:solidFill>
                  <a:srgbClr val="26232F"/>
                </a:solidFill>
                <a:latin typeface="Montserrat"/>
              </a:rPr>
              <a:t> </a:t>
            </a:r>
            <a:r>
              <a:rPr sz="1150" b="0" i="0" dirty="0" err="1">
                <a:solidFill>
                  <a:srgbClr val="26232F"/>
                </a:solidFill>
                <a:latin typeface="Montserrat"/>
              </a:rPr>
              <a:t>suggéré</a:t>
            </a:r>
            <a:r>
              <a:rPr sz="1150" b="0" i="0" dirty="0">
                <a:solidFill>
                  <a:srgbClr val="26232F"/>
                </a:solidFill>
                <a:latin typeface="Montserrat"/>
              </a:rPr>
              <a:t> (type, arrondissement) </a:t>
            </a:r>
            <a:r>
              <a:rPr sz="1150" b="0" i="0" dirty="0" err="1">
                <a:solidFill>
                  <a:srgbClr val="26232F"/>
                </a:solidFill>
                <a:latin typeface="Montserrat"/>
              </a:rPr>
              <a:t>jusqu’au</a:t>
            </a:r>
            <a:r>
              <a:rPr sz="1150" b="0" i="0" dirty="0">
                <a:solidFill>
                  <a:srgbClr val="26232F"/>
                </a:solidFill>
                <a:latin typeface="Montserrat"/>
              </a:rPr>
              <a:t> jour </a:t>
            </a:r>
            <a:r>
              <a:rPr sz="1150" b="0" i="0" dirty="0" err="1">
                <a:solidFill>
                  <a:srgbClr val="26232F"/>
                </a:solidFill>
                <a:latin typeface="Montserrat"/>
              </a:rPr>
              <a:t>même</a:t>
            </a:r>
            <a:r>
              <a:rPr sz="1150" b="0" i="0" dirty="0">
                <a:solidFill>
                  <a:srgbClr val="26232F"/>
                </a:solidFill>
                <a:latin typeface="Montserrat"/>
              </a:rPr>
              <a:t>.</a:t>
            </a:r>
            <a:endParaRPr lang="fr-FR" sz="1150" b="0" i="0" dirty="0">
              <a:solidFill>
                <a:srgbClr val="26232F"/>
              </a:solidFill>
              <a:latin typeface="Montserrat"/>
            </a:endParaRPr>
          </a:p>
          <a:p>
            <a:pPr>
              <a:spcAft>
                <a:spcPts val="700"/>
              </a:spcAft>
            </a:pPr>
            <a:r>
              <a:rPr lang="fr-FR" sz="1150" b="1" dirty="0">
                <a:solidFill>
                  <a:srgbClr val="26232F"/>
                </a:solidFill>
                <a:latin typeface="Montserrat"/>
              </a:rPr>
              <a:t>IYKYK, </a:t>
            </a:r>
            <a:r>
              <a:rPr lang="fr-FR" sz="1150" b="1" i="1" dirty="0">
                <a:solidFill>
                  <a:srgbClr val="26232F"/>
                </a:solidFill>
                <a:latin typeface="Montserrat"/>
              </a:rPr>
              <a:t>If </a:t>
            </a:r>
            <a:r>
              <a:rPr lang="fr-FR" sz="1150" b="1" i="1" dirty="0" err="1">
                <a:solidFill>
                  <a:srgbClr val="26232F"/>
                </a:solidFill>
                <a:latin typeface="Montserrat"/>
              </a:rPr>
              <a:t>you</a:t>
            </a:r>
            <a:r>
              <a:rPr lang="fr-FR" sz="1150" b="1" i="1" dirty="0">
                <a:solidFill>
                  <a:srgbClr val="26232F"/>
                </a:solidFill>
                <a:latin typeface="Montserrat"/>
              </a:rPr>
              <a:t> know, </a:t>
            </a:r>
            <a:r>
              <a:rPr lang="fr-FR" sz="1150" b="1" i="1" dirty="0" err="1">
                <a:solidFill>
                  <a:srgbClr val="26232F"/>
                </a:solidFill>
                <a:latin typeface="Montserrat"/>
              </a:rPr>
              <a:t>you</a:t>
            </a:r>
            <a:r>
              <a:rPr lang="fr-FR" sz="1150" b="1" i="1" dirty="0">
                <a:solidFill>
                  <a:srgbClr val="26232F"/>
                </a:solidFill>
                <a:latin typeface="Montserrat"/>
              </a:rPr>
              <a:t> know</a:t>
            </a:r>
            <a:r>
              <a:rPr lang="fr-FR" sz="1150" dirty="0">
                <a:solidFill>
                  <a:srgbClr val="26232F"/>
                </a:solidFill>
                <a:latin typeface="Montserrat"/>
              </a:rPr>
              <a:t>. Pas de téléphone, pas de photos. </a:t>
            </a:r>
            <a:endParaRPr lang="fr-FR" sz="1150" b="0" i="1" dirty="0">
              <a:solidFill>
                <a:srgbClr val="26232F"/>
              </a:solidFill>
              <a:latin typeface="Montserrat"/>
            </a:endParaRPr>
          </a:p>
          <a:p>
            <a:pPr>
              <a:spcAft>
                <a:spcPts val="700"/>
              </a:spcAft>
            </a:pPr>
            <a:endParaRPr sz="1150" b="0" i="0" dirty="0">
              <a:solidFill>
                <a:srgbClr val="26232F"/>
              </a:solidFill>
              <a:latin typeface="Montserrat"/>
            </a:endParaRPr>
          </a:p>
        </p:txBody>
      </p:sp>
      <p:sp>
        <p:nvSpPr>
          <p:cNvPr id="7" name="Filet 2"/>
          <p:cNvSpPr/>
          <p:nvPr/>
        </p:nvSpPr>
        <p:spPr>
          <a:xfrm>
            <a:off x="4398264" y="2331720"/>
            <a:ext cx="3392423" cy="73152"/>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itre 2"/>
          <p:cNvSpPr txBox="1"/>
          <p:nvPr/>
        </p:nvSpPr>
        <p:spPr>
          <a:xfrm>
            <a:off x="4398264" y="2532888"/>
            <a:ext cx="3392423" cy="411480"/>
          </a:xfrm>
          <a:prstGeom prst="rect">
            <a:avLst/>
          </a:prstGeom>
          <a:noFill/>
        </p:spPr>
        <p:txBody>
          <a:bodyPr wrap="square" lIns="0" tIns="0" rIns="0" bIns="0">
            <a:spAutoFit/>
          </a:bodyPr>
          <a:lstStyle/>
          <a:p>
            <a:pPr>
              <a:spcAft>
                <a:spcPts val="0"/>
              </a:spcAft>
            </a:pPr>
            <a:r>
              <a:rPr sz="1700" b="0" i="0">
                <a:solidFill>
                  <a:srgbClr val="1E1B2E"/>
                </a:solidFill>
                <a:latin typeface="Playfair Display"/>
              </a:rPr>
              <a:t>Faire prescrire</a:t>
            </a:r>
          </a:p>
        </p:txBody>
      </p:sp>
      <p:sp>
        <p:nvSpPr>
          <p:cNvPr id="9" name="Texte 2"/>
          <p:cNvSpPr txBox="1"/>
          <p:nvPr/>
        </p:nvSpPr>
        <p:spPr>
          <a:xfrm>
            <a:off x="4398264" y="3044952"/>
            <a:ext cx="3392423" cy="1241365"/>
          </a:xfrm>
          <a:prstGeom prst="rect">
            <a:avLst/>
          </a:prstGeom>
          <a:noFill/>
        </p:spPr>
        <p:txBody>
          <a:bodyPr wrap="square" lIns="0" tIns="0" rIns="0" bIns="0">
            <a:spAutoFit/>
          </a:bodyPr>
          <a:lstStyle/>
          <a:p>
            <a:pPr>
              <a:spcAft>
                <a:spcPts val="700"/>
              </a:spcAft>
            </a:pPr>
            <a:r>
              <a:rPr sz="1150" b="1" i="0" dirty="0">
                <a:solidFill>
                  <a:srgbClr val="26232F"/>
                </a:solidFill>
                <a:latin typeface="Montserrat"/>
              </a:rPr>
              <a:t>Les concierges des palaces </a:t>
            </a:r>
            <a:r>
              <a:rPr sz="1150" b="1" i="0" dirty="0" err="1">
                <a:solidFill>
                  <a:srgbClr val="26232F"/>
                </a:solidFill>
                <a:latin typeface="Montserrat"/>
              </a:rPr>
              <a:t>parisiens</a:t>
            </a:r>
            <a:r>
              <a:rPr sz="1150" b="1" i="0" dirty="0">
                <a:solidFill>
                  <a:srgbClr val="26232F"/>
                </a:solidFill>
                <a:latin typeface="Montserrat"/>
              </a:rPr>
              <a:t>, </a:t>
            </a:r>
            <a:r>
              <a:rPr sz="1150" b="0" i="0" dirty="0" err="1">
                <a:solidFill>
                  <a:srgbClr val="26232F"/>
                </a:solidFill>
                <a:latin typeface="Montserrat"/>
              </a:rPr>
              <a:t>invités</a:t>
            </a:r>
            <a:r>
              <a:rPr sz="1150" b="0" i="0" dirty="0">
                <a:solidFill>
                  <a:srgbClr val="26232F"/>
                </a:solidFill>
                <a:latin typeface="Montserrat"/>
              </a:rPr>
              <a:t> aux </a:t>
            </a:r>
            <a:r>
              <a:rPr sz="1150" b="0" i="0" dirty="0" err="1">
                <a:solidFill>
                  <a:srgbClr val="26232F"/>
                </a:solidFill>
                <a:latin typeface="Montserrat"/>
              </a:rPr>
              <a:t>pilotes</a:t>
            </a:r>
            <a:r>
              <a:rPr sz="1150" b="0" i="0" dirty="0">
                <a:solidFill>
                  <a:srgbClr val="26232F"/>
                </a:solidFill>
                <a:latin typeface="Montserrat"/>
              </a:rPr>
              <a:t> et au </a:t>
            </a:r>
            <a:r>
              <a:rPr sz="1150" b="0" i="0" dirty="0" err="1">
                <a:solidFill>
                  <a:srgbClr val="26232F"/>
                </a:solidFill>
                <a:latin typeface="Montserrat"/>
              </a:rPr>
              <a:t>lancement</a:t>
            </a:r>
            <a:r>
              <a:rPr sz="1150" b="0" i="0" dirty="0">
                <a:solidFill>
                  <a:srgbClr val="26232F"/>
                </a:solidFill>
                <a:latin typeface="Montserrat"/>
              </a:rPr>
              <a:t>, </a:t>
            </a:r>
            <a:r>
              <a:rPr sz="1150" b="0" i="0" dirty="0" err="1">
                <a:solidFill>
                  <a:srgbClr val="26232F"/>
                </a:solidFill>
                <a:latin typeface="Montserrat"/>
              </a:rPr>
              <a:t>puis</a:t>
            </a:r>
            <a:r>
              <a:rPr sz="1150" b="0" i="0" dirty="0">
                <a:solidFill>
                  <a:srgbClr val="26232F"/>
                </a:solidFill>
                <a:latin typeface="Montserrat"/>
              </a:rPr>
              <a:t> </a:t>
            </a:r>
            <a:r>
              <a:rPr sz="1150" b="0" i="0" dirty="0" err="1">
                <a:solidFill>
                  <a:srgbClr val="26232F"/>
                </a:solidFill>
                <a:latin typeface="Montserrat"/>
              </a:rPr>
              <a:t>une</a:t>
            </a:r>
            <a:r>
              <a:rPr sz="1150" b="0" i="0" dirty="0">
                <a:solidFill>
                  <a:srgbClr val="26232F"/>
                </a:solidFill>
                <a:latin typeface="Montserrat"/>
              </a:rPr>
              <a:t> place </a:t>
            </a:r>
            <a:r>
              <a:rPr sz="1150" b="0" i="0" dirty="0" err="1">
                <a:solidFill>
                  <a:srgbClr val="26232F"/>
                </a:solidFill>
                <a:latin typeface="Montserrat"/>
              </a:rPr>
              <a:t>offerte</a:t>
            </a:r>
            <a:r>
              <a:rPr sz="1150" b="0" i="0" dirty="0">
                <a:solidFill>
                  <a:srgbClr val="26232F"/>
                </a:solidFill>
                <a:latin typeface="Montserrat"/>
              </a:rPr>
              <a:t> par soirée.</a:t>
            </a:r>
          </a:p>
          <a:p>
            <a:pPr>
              <a:spcAft>
                <a:spcPts val="700"/>
              </a:spcAft>
            </a:pPr>
            <a:r>
              <a:rPr sz="1150" b="1" i="0" dirty="0">
                <a:solidFill>
                  <a:srgbClr val="26232F"/>
                </a:solidFill>
                <a:latin typeface="Montserrat"/>
              </a:rPr>
              <a:t>Des </a:t>
            </a:r>
            <a:r>
              <a:rPr sz="1150" b="1" i="0" dirty="0" err="1">
                <a:solidFill>
                  <a:srgbClr val="26232F"/>
                </a:solidFill>
                <a:latin typeface="Montserrat"/>
              </a:rPr>
              <a:t>créateurs</a:t>
            </a:r>
            <a:r>
              <a:rPr sz="1150" b="1" i="0" dirty="0">
                <a:solidFill>
                  <a:srgbClr val="26232F"/>
                </a:solidFill>
                <a:latin typeface="Montserrat"/>
              </a:rPr>
              <a:t> </a:t>
            </a:r>
            <a:r>
              <a:rPr sz="1150" b="1" i="0" dirty="0" err="1">
                <a:solidFill>
                  <a:srgbClr val="26232F"/>
                </a:solidFill>
                <a:latin typeface="Montserrat"/>
              </a:rPr>
              <a:t>invités</a:t>
            </a:r>
            <a:r>
              <a:rPr sz="1150" b="1" i="0" dirty="0">
                <a:solidFill>
                  <a:srgbClr val="26232F"/>
                </a:solidFill>
                <a:latin typeface="Montserrat"/>
              </a:rPr>
              <a:t> </a:t>
            </a:r>
            <a:r>
              <a:rPr sz="1150" b="0" i="0" dirty="0" err="1">
                <a:solidFill>
                  <a:srgbClr val="26232F"/>
                </a:solidFill>
                <a:latin typeface="Montserrat"/>
              </a:rPr>
              <a:t>comme</a:t>
            </a:r>
            <a:r>
              <a:rPr sz="1150" b="0" i="0" dirty="0">
                <a:solidFill>
                  <a:srgbClr val="26232F"/>
                </a:solidFill>
                <a:latin typeface="Montserrat"/>
              </a:rPr>
              <a:t> </a:t>
            </a:r>
            <a:r>
              <a:rPr sz="1150" b="0" i="0" dirty="0" err="1">
                <a:solidFill>
                  <a:srgbClr val="26232F"/>
                </a:solidFill>
                <a:latin typeface="Montserrat"/>
              </a:rPr>
              <a:t>convives</a:t>
            </a:r>
            <a:r>
              <a:rPr sz="1150" b="0" i="0" dirty="0">
                <a:solidFill>
                  <a:srgbClr val="26232F"/>
                </a:solidFill>
                <a:latin typeface="Montserrat"/>
              </a:rPr>
              <a:t>, jamais </a:t>
            </a:r>
            <a:r>
              <a:rPr sz="1150" b="0" i="0" dirty="0" err="1">
                <a:solidFill>
                  <a:srgbClr val="26232F"/>
                </a:solidFill>
                <a:latin typeface="Montserrat"/>
              </a:rPr>
              <a:t>rémunérés</a:t>
            </a:r>
            <a:r>
              <a:rPr sz="1150" b="0" i="0" dirty="0">
                <a:solidFill>
                  <a:srgbClr val="26232F"/>
                </a:solidFill>
                <a:latin typeface="Montserrat"/>
              </a:rPr>
              <a:t>.</a:t>
            </a:r>
          </a:p>
          <a:p>
            <a:pPr>
              <a:spcAft>
                <a:spcPts val="700"/>
              </a:spcAft>
            </a:pPr>
            <a:r>
              <a:rPr sz="1150" b="1" i="0" dirty="0">
                <a:solidFill>
                  <a:srgbClr val="26232F"/>
                </a:solidFill>
                <a:latin typeface="Montserrat"/>
              </a:rPr>
              <a:t>Un message dans la </a:t>
            </a:r>
            <a:r>
              <a:rPr sz="1150" b="1" i="0" dirty="0" err="1">
                <a:solidFill>
                  <a:srgbClr val="26232F"/>
                </a:solidFill>
                <a:latin typeface="Montserrat"/>
              </a:rPr>
              <a:t>presse</a:t>
            </a:r>
            <a:r>
              <a:rPr sz="1150" b="1" i="0" dirty="0">
                <a:solidFill>
                  <a:srgbClr val="26232F"/>
                </a:solidFill>
                <a:latin typeface="Montserrat"/>
              </a:rPr>
              <a:t> </a:t>
            </a:r>
            <a:r>
              <a:rPr sz="1150" b="0" i="0" dirty="0">
                <a:solidFill>
                  <a:srgbClr val="26232F"/>
                </a:solidFill>
                <a:latin typeface="Montserrat"/>
              </a:rPr>
              <a:t>rare et </a:t>
            </a:r>
            <a:r>
              <a:rPr sz="1150" b="0" i="0" dirty="0" err="1">
                <a:solidFill>
                  <a:srgbClr val="26232F"/>
                </a:solidFill>
                <a:latin typeface="Montserrat"/>
              </a:rPr>
              <a:t>sélectif</a:t>
            </a:r>
            <a:r>
              <a:rPr sz="1150" b="0" i="0" dirty="0">
                <a:solidFill>
                  <a:srgbClr val="26232F"/>
                </a:solidFill>
                <a:latin typeface="Montserrat"/>
              </a:rPr>
              <a:t>.</a:t>
            </a:r>
          </a:p>
        </p:txBody>
      </p:sp>
      <p:sp>
        <p:nvSpPr>
          <p:cNvPr id="10" name="Filet 3"/>
          <p:cNvSpPr/>
          <p:nvPr/>
        </p:nvSpPr>
        <p:spPr>
          <a:xfrm>
            <a:off x="8156447" y="2331720"/>
            <a:ext cx="3392423" cy="73152"/>
          </a:xfrm>
          <a:prstGeom prst="rect">
            <a:avLst/>
          </a:prstGeom>
          <a:solidFill>
            <a:srgbClr val="8FA5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itre 3"/>
          <p:cNvSpPr txBox="1"/>
          <p:nvPr/>
        </p:nvSpPr>
        <p:spPr>
          <a:xfrm>
            <a:off x="8156447" y="2532888"/>
            <a:ext cx="3392423" cy="411480"/>
          </a:xfrm>
          <a:prstGeom prst="rect">
            <a:avLst/>
          </a:prstGeom>
          <a:noFill/>
        </p:spPr>
        <p:txBody>
          <a:bodyPr wrap="square" lIns="0" tIns="0" rIns="0" bIns="0">
            <a:spAutoFit/>
          </a:bodyPr>
          <a:lstStyle/>
          <a:p>
            <a:pPr>
              <a:spcAft>
                <a:spcPts val="0"/>
              </a:spcAft>
            </a:pPr>
            <a:r>
              <a:rPr sz="1700" b="0" i="0">
                <a:solidFill>
                  <a:srgbClr val="1E1B2E"/>
                </a:solidFill>
                <a:latin typeface="Playfair Display"/>
              </a:rPr>
              <a:t>Privatisations : un pour tous</a:t>
            </a:r>
          </a:p>
        </p:txBody>
      </p:sp>
      <p:sp>
        <p:nvSpPr>
          <p:cNvPr id="12" name="Texte 3"/>
          <p:cNvSpPr txBox="1"/>
          <p:nvPr/>
        </p:nvSpPr>
        <p:spPr>
          <a:xfrm>
            <a:off x="8156447" y="3044952"/>
            <a:ext cx="3392423" cy="1241365"/>
          </a:xfrm>
          <a:prstGeom prst="rect">
            <a:avLst/>
          </a:prstGeom>
          <a:noFill/>
        </p:spPr>
        <p:txBody>
          <a:bodyPr wrap="square" lIns="0" tIns="0" rIns="0" bIns="0">
            <a:spAutoFit/>
          </a:bodyPr>
          <a:lstStyle/>
          <a:p>
            <a:pPr>
              <a:spcAft>
                <a:spcPts val="700"/>
              </a:spcAft>
            </a:pPr>
            <a:r>
              <a:rPr lang="fr-FR" sz="1150" b="1" dirty="0">
                <a:solidFill>
                  <a:srgbClr val="26232F"/>
                </a:solidFill>
                <a:latin typeface="Montserrat"/>
              </a:rPr>
              <a:t>Une part prépondérante des revenus, </a:t>
            </a:r>
            <a:r>
              <a:rPr lang="fr-FR" sz="1150" dirty="0">
                <a:solidFill>
                  <a:srgbClr val="26232F"/>
                </a:solidFill>
                <a:latin typeface="Montserrat"/>
              </a:rPr>
              <a:t>portée par des évènements clés en main.</a:t>
            </a:r>
            <a:endParaRPr sz="1150" b="0" i="0" dirty="0">
              <a:solidFill>
                <a:srgbClr val="26232F"/>
              </a:solidFill>
              <a:latin typeface="Montserrat"/>
            </a:endParaRPr>
          </a:p>
          <a:p>
            <a:pPr>
              <a:spcAft>
                <a:spcPts val="700"/>
              </a:spcAft>
            </a:pPr>
            <a:r>
              <a:rPr sz="1150" b="1" i="0" dirty="0">
                <a:solidFill>
                  <a:srgbClr val="26232F"/>
                </a:solidFill>
                <a:latin typeface="Montserrat"/>
              </a:rPr>
              <a:t>Les </a:t>
            </a:r>
            <a:r>
              <a:rPr lang="fr-FR" sz="1150" b="1" i="0" dirty="0">
                <a:solidFill>
                  <a:srgbClr val="26232F"/>
                </a:solidFill>
                <a:latin typeface="Montserrat"/>
              </a:rPr>
              <a:t>clubs &amp; cercles de gastronomes</a:t>
            </a:r>
            <a:r>
              <a:rPr lang="fr-FR" sz="1150" i="0" dirty="0">
                <a:solidFill>
                  <a:srgbClr val="26232F"/>
                </a:solidFill>
                <a:latin typeface="Montserrat"/>
              </a:rPr>
              <a:t>, les entreprises</a:t>
            </a:r>
            <a:r>
              <a:rPr sz="1150" i="0" dirty="0">
                <a:solidFill>
                  <a:srgbClr val="26232F"/>
                </a:solidFill>
                <a:latin typeface="Montserrat"/>
              </a:rPr>
              <a:t>, les </a:t>
            </a:r>
            <a:r>
              <a:rPr sz="1150" i="0" dirty="0" err="1">
                <a:solidFill>
                  <a:srgbClr val="26232F"/>
                </a:solidFill>
                <a:latin typeface="Montserrat"/>
              </a:rPr>
              <a:t>maisons</a:t>
            </a:r>
            <a:r>
              <a:rPr sz="1150" i="0" dirty="0">
                <a:solidFill>
                  <a:srgbClr val="26232F"/>
                </a:solidFill>
                <a:latin typeface="Montserrat"/>
              </a:rPr>
              <a:t> de luxe</a:t>
            </a:r>
            <a:r>
              <a:rPr lang="fr-FR" sz="1150" i="0" dirty="0">
                <a:solidFill>
                  <a:srgbClr val="26232F"/>
                </a:solidFill>
                <a:latin typeface="Montserrat"/>
              </a:rPr>
              <a:t>.</a:t>
            </a:r>
            <a:endParaRPr sz="1150" i="0" dirty="0">
              <a:solidFill>
                <a:srgbClr val="26232F"/>
              </a:solidFill>
              <a:latin typeface="Montserrat"/>
            </a:endParaRPr>
          </a:p>
          <a:p>
            <a:pPr>
              <a:spcAft>
                <a:spcPts val="700"/>
              </a:spcAft>
            </a:pPr>
            <a:r>
              <a:rPr sz="1150" b="1" i="0" dirty="0">
                <a:solidFill>
                  <a:srgbClr val="26232F"/>
                </a:solidFill>
                <a:latin typeface="Montserrat"/>
              </a:rPr>
              <a:t>Un prix fix</a:t>
            </a:r>
            <a:r>
              <a:rPr lang="fr-FR" sz="1150" b="1" i="0" dirty="0">
                <a:solidFill>
                  <a:srgbClr val="26232F"/>
                </a:solidFill>
                <a:latin typeface="Montserrat"/>
              </a:rPr>
              <a:t>é</a:t>
            </a:r>
            <a:r>
              <a:rPr sz="1150" b="1" i="0" dirty="0">
                <a:solidFill>
                  <a:srgbClr val="26232F"/>
                </a:solidFill>
                <a:latin typeface="Montserrat"/>
              </a:rPr>
              <a:t>, </a:t>
            </a:r>
            <a:r>
              <a:rPr sz="1150" b="0" i="0" dirty="0">
                <a:solidFill>
                  <a:srgbClr val="26232F"/>
                </a:solidFill>
                <a:latin typeface="Montserrat"/>
              </a:rPr>
              <a:t>la salle </a:t>
            </a:r>
            <a:r>
              <a:rPr sz="1150" b="0" i="0" dirty="0" err="1">
                <a:solidFill>
                  <a:srgbClr val="26232F"/>
                </a:solidFill>
                <a:latin typeface="Montserrat"/>
              </a:rPr>
              <a:t>entière</a:t>
            </a:r>
            <a:r>
              <a:rPr sz="1150" b="0" i="0" dirty="0">
                <a:solidFill>
                  <a:srgbClr val="26232F"/>
                </a:solidFill>
                <a:latin typeface="Montserrat"/>
              </a:rPr>
              <a:t>, un </a:t>
            </a:r>
            <a:r>
              <a:rPr sz="1150" b="0" i="0" dirty="0" err="1">
                <a:solidFill>
                  <a:srgbClr val="26232F"/>
                </a:solidFill>
                <a:latin typeface="Montserrat"/>
              </a:rPr>
              <a:t>interlocuteur</a:t>
            </a:r>
            <a:r>
              <a:rPr sz="1150" b="0" i="0" dirty="0">
                <a:solidFill>
                  <a:srgbClr val="26232F"/>
                </a:solidFill>
                <a:latin typeface="Montserrat"/>
              </a:rPr>
              <a:t> unique.</a:t>
            </a:r>
          </a:p>
        </p:txBody>
      </p:sp>
      <p:sp>
        <p:nvSpPr>
          <p:cNvPr id="15" name="Slide Number Placeholder 0">
            <a:extLst>
              <a:ext uri="{FF2B5EF4-FFF2-40B4-BE49-F238E27FC236}">
                <a16:creationId xmlns:a16="http://schemas.microsoft.com/office/drawing/2014/main" id="{E05E29E1-0FA3-9FBC-7C0B-C8E7A006DB83}"/>
              </a:ext>
            </a:extLst>
          </p:cNvPr>
          <p:cNvSpPr>
            <a:spLocks noGrp="1"/>
          </p:cNvSpPr>
          <p:nvPr>
            <p:ph type="sldNum" sz="quarter" idx="4294967295"/>
          </p:nvPr>
        </p:nvSpPr>
        <p:spPr>
          <a:xfrm>
            <a:off x="11002975" y="6455664"/>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6"/>
          <p:cNvSpPr>
            <a:spLocks noGrp="1"/>
          </p:cNvSpPr>
          <p:nvPr>
            <p:ph type="body" idx="106" hasCustomPrompt="1"/>
          </p:nvPr>
        </p:nvSpPr>
        <p:spPr>
          <a:xfrm>
            <a:off x="640080" y="914400"/>
            <a:ext cx="8229600" cy="274320"/>
          </a:xfrm>
          <a:prstGeom prst="rect">
            <a:avLst/>
          </a:prstGeom>
          <a:noFill/>
          <a:ln/>
        </p:spPr>
        <p:txBody>
          <a:bodyPr wrap="square" lIns="0" tIns="0" rIns="0" bIns="0" rtlCol="0" anchor="t"/>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LES OFFRES ET LE PRIX</a:t>
            </a:r>
            <a:endParaRPr lang="en-US" sz="1000" dirty="0"/>
          </a:p>
        </p:txBody>
      </p:sp>
      <p:sp>
        <p:nvSpPr>
          <p:cNvPr id="3" name="Text 6"/>
          <p:cNvSpPr>
            <a:spLocks noGrp="1"/>
          </p:cNvSpPr>
          <p:nvPr>
            <p:ph type="title" idx="107" hasCustomPrompt="1"/>
          </p:nvPr>
        </p:nvSpPr>
        <p:spPr>
          <a:xfrm>
            <a:off x="640080" y="1234440"/>
            <a:ext cx="10911535" cy="914400"/>
          </a:xfrm>
          <a:prstGeom prst="rect">
            <a:avLst/>
          </a:prstGeom>
          <a:noFill/>
          <a:ln/>
        </p:spPr>
        <p:txBody>
          <a:bodyPr wrap="square" lIns="0" tIns="0" rIns="0" bIns="0" rtlCol="0" anchor="t"/>
          <a:lstStyle/>
          <a:p>
            <a:pPr marL="0" indent="0" algn="l">
              <a:buNone/>
            </a:pPr>
            <a:r>
              <a:rPr lang="en-US" sz="2800" dirty="0">
                <a:solidFill>
                  <a:srgbClr val="1E1B2E"/>
                </a:solidFill>
                <a:latin typeface="Playfair Display" pitchFamily="34" charset="0"/>
                <a:ea typeface="Playfair Display" pitchFamily="34" charset="-122"/>
                <a:cs typeface="Playfair Display" pitchFamily="34" charset="-120"/>
              </a:rPr>
              <a:t>Deux offres, une même promesse :</a:t>
            </a:r>
            <a:br>
              <a:rPr lang="en-US" sz="2800" dirty="0">
                <a:solidFill>
                  <a:srgbClr val="1E1B2E"/>
                </a:solidFill>
                <a:latin typeface="Playfair Display" pitchFamily="34" charset="0"/>
                <a:ea typeface="Playfair Display" pitchFamily="34" charset="-122"/>
                <a:cs typeface="Playfair Display" pitchFamily="34" charset="-120"/>
              </a:rPr>
            </a:br>
            <a:r>
              <a:rPr lang="en-US" sz="2800" dirty="0">
                <a:solidFill>
                  <a:srgbClr val="1E1B2E"/>
                </a:solidFill>
                <a:latin typeface="Playfair Display" pitchFamily="34" charset="0"/>
                <a:ea typeface="Playfair Display" pitchFamily="34" charset="-122"/>
                <a:cs typeface="Playfair Display" pitchFamily="34" charset="-120"/>
              </a:rPr>
              <a:t>une soirée qui ne se rejoue jamais</a:t>
            </a:r>
            <a:endParaRPr lang="en-US" sz="2800" dirty="0"/>
          </a:p>
        </p:txBody>
      </p:sp>
      <p:sp>
        <p:nvSpPr>
          <p:cNvPr id="41" name="Bloc offre A"/>
          <p:cNvSpPr/>
          <p:nvPr/>
        </p:nvSpPr>
        <p:spPr>
          <a:xfrm>
            <a:off x="640080" y="2331720"/>
            <a:ext cx="5349240" cy="3840480"/>
          </a:xfrm>
          <a:prstGeom prst="roundRect">
            <a:avLst>
              <a:gd name="adj" fmla="val 4000"/>
            </a:avLst>
          </a:prstGeom>
          <a:solidFill>
            <a:srgbClr val="1E1B2E"/>
          </a:solidFill>
          <a:ln>
            <a:noFill/>
          </a:ln>
        </p:spPr>
        <p:txBody>
          <a:bodyPr rtlCol="0" anchor="ctr"/>
          <a:lstStyle/>
          <a:p>
            <a:endParaRPr lang="fr-FR"/>
          </a:p>
        </p:txBody>
      </p:sp>
      <p:sp>
        <p:nvSpPr>
          <p:cNvPr id="42" name="Titre offre A"/>
          <p:cNvSpPr txBox="1"/>
          <p:nvPr/>
        </p:nvSpPr>
        <p:spPr>
          <a:xfrm>
            <a:off x="914400" y="2587752"/>
            <a:ext cx="4800600" cy="237744"/>
          </a:xfrm>
          <a:prstGeom prst="rect">
            <a:avLst/>
          </a:prstGeom>
          <a:noFill/>
          <a:ln>
            <a:noFill/>
          </a:ln>
        </p:spPr>
        <p:txBody>
          <a:bodyPr wrap="square" lIns="0" tIns="0" rIns="0" bIns="0" rtlCol="0" anchor="ctr"/>
          <a:lstStyle/>
          <a:p>
            <a:pPr marL="0" indent="0" algn="l">
              <a:buNone/>
            </a:pPr>
            <a:r>
              <a:rPr lang="fr-FR" sz="1000" b="1" spc="250" dirty="0">
                <a:solidFill>
                  <a:srgbClr val="C8963A"/>
                </a:solidFill>
                <a:latin typeface="Montserrat" pitchFamily="34" charset="0"/>
                <a:ea typeface="Montserrat" pitchFamily="34" charset="-122"/>
                <a:cs typeface="Montserrat" pitchFamily="34" charset="-120"/>
              </a:rPr>
              <a:t>OFFRE B2C · PLACES À L’UNITÉ</a:t>
            </a:r>
          </a:p>
        </p:txBody>
      </p:sp>
      <p:sp>
        <p:nvSpPr>
          <p:cNvPr id="43" name="Accroche offre A"/>
          <p:cNvSpPr txBox="1"/>
          <p:nvPr/>
        </p:nvSpPr>
        <p:spPr>
          <a:xfrm>
            <a:off x="914400" y="2880360"/>
            <a:ext cx="4800600" cy="365760"/>
          </a:xfrm>
          <a:prstGeom prst="rect">
            <a:avLst/>
          </a:prstGeom>
          <a:noFill/>
          <a:ln>
            <a:noFill/>
          </a:ln>
        </p:spPr>
        <p:txBody>
          <a:bodyPr wrap="square" lIns="0" tIns="0" rIns="0" bIns="0" rtlCol="0" anchor="ctr"/>
          <a:lstStyle/>
          <a:p>
            <a:pPr marL="0" indent="0" algn="l">
              <a:buNone/>
            </a:pPr>
            <a:r>
              <a:rPr lang="fr-FR" sz="1700" i="1" dirty="0">
                <a:solidFill>
                  <a:srgbClr val="F4EEE3"/>
                </a:solidFill>
                <a:latin typeface="Playfair Display" pitchFamily="34" charset="0"/>
                <a:ea typeface="Playfair Display" pitchFamily="34" charset="-122"/>
                <a:cs typeface="Playfair Display" pitchFamily="34" charset="-120"/>
              </a:rPr>
              <a:t>Une place à la table</a:t>
            </a:r>
          </a:p>
        </p:txBody>
      </p:sp>
      <p:sp>
        <p:nvSpPr>
          <p:cNvPr id="44" name="Filet"/>
          <p:cNvSpPr/>
          <p:nvPr/>
        </p:nvSpPr>
        <p:spPr>
          <a:xfrm>
            <a:off x="914400" y="3383279"/>
            <a:ext cx="4800600" cy="7315"/>
          </a:xfrm>
          <a:prstGeom prst="rect">
            <a:avLst/>
          </a:prstGeom>
          <a:solidFill>
            <a:srgbClr val="3A3650"/>
          </a:solidFill>
          <a:ln>
            <a:noFill/>
          </a:ln>
        </p:spPr>
        <p:txBody>
          <a:bodyPr rtlCol="0" anchor="ctr"/>
          <a:lstStyle/>
          <a:p>
            <a:endParaRPr lang="fr-FR"/>
          </a:p>
        </p:txBody>
      </p:sp>
      <p:sp>
        <p:nvSpPr>
          <p:cNvPr id="45" name="Soirée A1"/>
          <p:cNvSpPr txBox="1"/>
          <p:nvPr/>
        </p:nvSpPr>
        <p:spPr>
          <a:xfrm>
            <a:off x="914400" y="3401568"/>
            <a:ext cx="3291840" cy="347472"/>
          </a:xfrm>
          <a:prstGeom prst="rect">
            <a:avLst/>
          </a:prstGeom>
          <a:noFill/>
          <a:ln>
            <a:noFill/>
          </a:ln>
        </p:spPr>
        <p:txBody>
          <a:bodyPr wrap="square" lIns="0" tIns="0" rIns="0" bIns="0" rtlCol="0" anchor="ctr"/>
          <a:lstStyle/>
          <a:p>
            <a:pPr marL="0" indent="0" algn="l">
              <a:buNone/>
            </a:pPr>
            <a:r>
              <a:rPr lang="fr-FR" sz="2200" dirty="0">
                <a:solidFill>
                  <a:srgbClr val="F4EEE3"/>
                </a:solidFill>
                <a:latin typeface="Playfair Display" pitchFamily="34" charset="0"/>
                <a:ea typeface="Playfair Display" pitchFamily="34" charset="-122"/>
                <a:cs typeface="Playfair Display" pitchFamily="34" charset="-120"/>
              </a:rPr>
              <a:t>Premier soir</a:t>
            </a:r>
          </a:p>
        </p:txBody>
      </p:sp>
      <p:sp>
        <p:nvSpPr>
          <p:cNvPr id="46" name="Promesse A1"/>
          <p:cNvSpPr txBox="1"/>
          <p:nvPr/>
        </p:nvSpPr>
        <p:spPr>
          <a:xfrm>
            <a:off x="914400" y="3749039"/>
            <a:ext cx="3657600" cy="201168"/>
          </a:xfrm>
          <a:prstGeom prst="rect">
            <a:avLst/>
          </a:prstGeom>
          <a:noFill/>
          <a:ln>
            <a:noFill/>
          </a:ln>
        </p:spPr>
        <p:txBody>
          <a:bodyPr wrap="square" lIns="0" tIns="0" rIns="0" bIns="0" rtlCol="0" anchor="ctr"/>
          <a:lstStyle/>
          <a:p>
            <a:pPr marL="0" indent="0" algn="l">
              <a:buNone/>
            </a:pPr>
            <a:r>
              <a:rPr lang="fr-FR" sz="1050" i="1" dirty="0">
                <a:solidFill>
                  <a:srgbClr val="C8963A"/>
                </a:solidFill>
                <a:latin typeface="Montserrat" pitchFamily="34" charset="0"/>
                <a:ea typeface="Montserrat" pitchFamily="34" charset="-122"/>
                <a:cs typeface="Montserrat" pitchFamily="34" charset="-120"/>
              </a:rPr>
              <a:t>« J’étais là avant. »</a:t>
            </a:r>
          </a:p>
        </p:txBody>
      </p:sp>
      <p:sp>
        <p:nvSpPr>
          <p:cNvPr id="47" name="Détail A1"/>
          <p:cNvSpPr txBox="1"/>
          <p:nvPr/>
        </p:nvSpPr>
        <p:spPr>
          <a:xfrm>
            <a:off x="914400" y="3931920"/>
            <a:ext cx="3657600" cy="182880"/>
          </a:xfrm>
          <a:prstGeom prst="rect">
            <a:avLst/>
          </a:prstGeom>
          <a:noFill/>
          <a:ln>
            <a:noFill/>
          </a:ln>
        </p:spPr>
        <p:txBody>
          <a:bodyPr wrap="square" lIns="0" tIns="0" rIns="0" bIns="0" rtlCol="0" anchor="ctr"/>
          <a:lstStyle/>
          <a:p>
            <a:pPr marL="0" indent="0" algn="l">
              <a:buNone/>
            </a:pPr>
            <a:r>
              <a:rPr lang="fr-FR" sz="900" dirty="0">
                <a:solidFill>
                  <a:srgbClr val="CFC8BA"/>
                </a:solidFill>
                <a:latin typeface="Montserrat" pitchFamily="34" charset="0"/>
                <a:ea typeface="Montserrat" pitchFamily="34" charset="-122"/>
                <a:cs typeface="Montserrat" pitchFamily="34" charset="-120"/>
              </a:rPr>
              <a:t>Chef montant · 40 couverts · 6 temps</a:t>
            </a:r>
          </a:p>
        </p:txBody>
      </p:sp>
      <p:sp>
        <p:nvSpPr>
          <p:cNvPr id="48" name="Prix A1"/>
          <p:cNvSpPr txBox="1"/>
          <p:nvPr/>
        </p:nvSpPr>
        <p:spPr>
          <a:xfrm>
            <a:off x="4160520" y="3419856"/>
            <a:ext cx="1554480" cy="329184"/>
          </a:xfrm>
          <a:prstGeom prst="rect">
            <a:avLst/>
          </a:prstGeom>
          <a:noFill/>
          <a:ln>
            <a:noFill/>
          </a:ln>
        </p:spPr>
        <p:txBody>
          <a:bodyPr wrap="square" lIns="0" tIns="0" rIns="0" bIns="0" rtlCol="0" anchor="ctr"/>
          <a:lstStyle/>
          <a:p>
            <a:pPr marL="0" indent="0" algn="r">
              <a:buNone/>
            </a:pPr>
            <a:r>
              <a:rPr lang="fr-FR" sz="1800" dirty="0">
                <a:solidFill>
                  <a:srgbClr val="C8963A"/>
                </a:solidFill>
                <a:latin typeface="Playfair Display" pitchFamily="34" charset="0"/>
                <a:ea typeface="Playfair Display" pitchFamily="34" charset="-122"/>
                <a:cs typeface="Playfair Display" pitchFamily="34" charset="-120"/>
              </a:rPr>
              <a:t>290 €</a:t>
            </a:r>
            <a:r>
              <a:rPr lang="fr-FR" sz="800" b="1" dirty="0">
                <a:solidFill>
                  <a:srgbClr val="CFC8BA"/>
                </a:solidFill>
                <a:latin typeface="Montserrat" pitchFamily="34" charset="0"/>
                <a:ea typeface="Montserrat" pitchFamily="34" charset="-122"/>
                <a:cs typeface="Montserrat" pitchFamily="34" charset="-120"/>
              </a:rPr>
              <a:t> TTC</a:t>
            </a:r>
          </a:p>
        </p:txBody>
      </p:sp>
      <p:sp>
        <p:nvSpPr>
          <p:cNvPr id="49" name="Unité A1"/>
          <p:cNvSpPr txBox="1"/>
          <p:nvPr/>
        </p:nvSpPr>
        <p:spPr>
          <a:xfrm>
            <a:off x="4160520" y="3749039"/>
            <a:ext cx="1554480" cy="182880"/>
          </a:xfrm>
          <a:prstGeom prst="rect">
            <a:avLst/>
          </a:prstGeom>
          <a:noFill/>
          <a:ln>
            <a:noFill/>
          </a:ln>
        </p:spPr>
        <p:txBody>
          <a:bodyPr wrap="square" lIns="0" tIns="0" rIns="0" bIns="0" rtlCol="0" anchor="ctr"/>
          <a:lstStyle/>
          <a:p>
            <a:pPr marL="0" indent="0" algn="r">
              <a:buNone/>
            </a:pPr>
            <a:r>
              <a:rPr lang="fr-FR" sz="850" dirty="0">
                <a:solidFill>
                  <a:srgbClr val="CFC8BA"/>
                </a:solidFill>
                <a:latin typeface="Montserrat" pitchFamily="34" charset="0"/>
                <a:ea typeface="Montserrat" pitchFamily="34" charset="-122"/>
                <a:cs typeface="Montserrat" pitchFamily="34" charset="-120"/>
              </a:rPr>
              <a:t>par place</a:t>
            </a:r>
          </a:p>
        </p:txBody>
      </p:sp>
      <p:sp>
        <p:nvSpPr>
          <p:cNvPr id="50" name="Filet"/>
          <p:cNvSpPr/>
          <p:nvPr/>
        </p:nvSpPr>
        <p:spPr>
          <a:xfrm>
            <a:off x="914400" y="4133087"/>
            <a:ext cx="4800600" cy="7315"/>
          </a:xfrm>
          <a:prstGeom prst="rect">
            <a:avLst/>
          </a:prstGeom>
          <a:solidFill>
            <a:srgbClr val="3A3650"/>
          </a:solidFill>
          <a:ln>
            <a:noFill/>
          </a:ln>
        </p:spPr>
        <p:txBody>
          <a:bodyPr rtlCol="0" anchor="ctr"/>
          <a:lstStyle/>
          <a:p>
            <a:endParaRPr lang="fr-FR"/>
          </a:p>
        </p:txBody>
      </p:sp>
      <p:sp>
        <p:nvSpPr>
          <p:cNvPr id="51" name="Soirée A2"/>
          <p:cNvSpPr txBox="1"/>
          <p:nvPr/>
        </p:nvSpPr>
        <p:spPr>
          <a:xfrm>
            <a:off x="914400" y="4151375"/>
            <a:ext cx="3291840" cy="347472"/>
          </a:xfrm>
          <a:prstGeom prst="rect">
            <a:avLst/>
          </a:prstGeom>
          <a:noFill/>
          <a:ln>
            <a:noFill/>
          </a:ln>
        </p:spPr>
        <p:txBody>
          <a:bodyPr wrap="square" lIns="0" tIns="0" rIns="0" bIns="0" rtlCol="0" anchor="ctr"/>
          <a:lstStyle/>
          <a:p>
            <a:pPr marL="0" indent="0" algn="l">
              <a:buNone/>
            </a:pPr>
            <a:r>
              <a:rPr lang="fr-FR" sz="2200" dirty="0">
                <a:solidFill>
                  <a:srgbClr val="F4EEE3"/>
                </a:solidFill>
                <a:latin typeface="Playfair Display" pitchFamily="34" charset="0"/>
                <a:ea typeface="Playfair Display" pitchFamily="34" charset="-122"/>
                <a:cs typeface="Playfair Display" pitchFamily="34" charset="-120"/>
              </a:rPr>
              <a:t>Le Voyage</a:t>
            </a:r>
          </a:p>
        </p:txBody>
      </p:sp>
      <p:sp>
        <p:nvSpPr>
          <p:cNvPr id="52" name="Promesse A2"/>
          <p:cNvSpPr txBox="1"/>
          <p:nvPr/>
        </p:nvSpPr>
        <p:spPr>
          <a:xfrm>
            <a:off x="914400" y="4498848"/>
            <a:ext cx="3657600" cy="201168"/>
          </a:xfrm>
          <a:prstGeom prst="rect">
            <a:avLst/>
          </a:prstGeom>
          <a:noFill/>
          <a:ln>
            <a:noFill/>
          </a:ln>
        </p:spPr>
        <p:txBody>
          <a:bodyPr wrap="square" lIns="0" tIns="0" rIns="0" bIns="0" rtlCol="0" anchor="ctr"/>
          <a:lstStyle/>
          <a:p>
            <a:pPr marL="0" indent="0" algn="l">
              <a:buNone/>
            </a:pPr>
            <a:r>
              <a:rPr lang="fr-FR" sz="1050" i="1" dirty="0">
                <a:solidFill>
                  <a:srgbClr val="C8963A"/>
                </a:solidFill>
                <a:latin typeface="Montserrat" pitchFamily="34" charset="0"/>
                <a:ea typeface="Montserrat" pitchFamily="34" charset="-122"/>
                <a:cs typeface="Montserrat" pitchFamily="34" charset="-120"/>
              </a:rPr>
              <a:t>« Dépaysés pour une nuit. »</a:t>
            </a:r>
          </a:p>
        </p:txBody>
      </p:sp>
      <p:sp>
        <p:nvSpPr>
          <p:cNvPr id="53" name="Détail A2"/>
          <p:cNvSpPr txBox="1"/>
          <p:nvPr/>
        </p:nvSpPr>
        <p:spPr>
          <a:xfrm>
            <a:off x="914400" y="4681727"/>
            <a:ext cx="3657600" cy="182880"/>
          </a:xfrm>
          <a:prstGeom prst="rect">
            <a:avLst/>
          </a:prstGeom>
          <a:noFill/>
          <a:ln>
            <a:noFill/>
          </a:ln>
        </p:spPr>
        <p:txBody>
          <a:bodyPr wrap="square" lIns="0" tIns="0" rIns="0" bIns="0" rtlCol="0" anchor="ctr"/>
          <a:lstStyle/>
          <a:p>
            <a:pPr marL="0" indent="0" algn="l">
              <a:buNone/>
            </a:pPr>
            <a:r>
              <a:rPr lang="fr-FR" sz="900" dirty="0">
                <a:solidFill>
                  <a:srgbClr val="CFC8BA"/>
                </a:solidFill>
                <a:latin typeface="Montserrat" pitchFamily="34" charset="0"/>
                <a:ea typeface="Montserrat" pitchFamily="34" charset="-122"/>
                <a:cs typeface="Montserrat" pitchFamily="34" charset="-120"/>
              </a:rPr>
              <a:t>Chef confirmé · 35 couverts · 7 temps</a:t>
            </a:r>
          </a:p>
        </p:txBody>
      </p:sp>
      <p:sp>
        <p:nvSpPr>
          <p:cNvPr id="54" name="Prix A2"/>
          <p:cNvSpPr txBox="1"/>
          <p:nvPr/>
        </p:nvSpPr>
        <p:spPr>
          <a:xfrm>
            <a:off x="4160520" y="4169663"/>
            <a:ext cx="1554480" cy="329184"/>
          </a:xfrm>
          <a:prstGeom prst="rect">
            <a:avLst/>
          </a:prstGeom>
          <a:noFill/>
          <a:ln>
            <a:noFill/>
          </a:ln>
        </p:spPr>
        <p:txBody>
          <a:bodyPr wrap="square" lIns="0" tIns="0" rIns="0" bIns="0" rtlCol="0" anchor="ctr"/>
          <a:lstStyle/>
          <a:p>
            <a:pPr marL="0" indent="0" algn="r">
              <a:buNone/>
            </a:pPr>
            <a:r>
              <a:rPr lang="fr-FR" sz="1800" dirty="0">
                <a:solidFill>
                  <a:srgbClr val="C8963A"/>
                </a:solidFill>
                <a:latin typeface="Playfair Display" pitchFamily="34" charset="0"/>
                <a:ea typeface="Playfair Display" pitchFamily="34" charset="-122"/>
                <a:cs typeface="Playfair Display" pitchFamily="34" charset="-120"/>
              </a:rPr>
              <a:t>420 €</a:t>
            </a:r>
            <a:r>
              <a:rPr lang="fr-FR" sz="800" b="1" dirty="0">
                <a:solidFill>
                  <a:srgbClr val="CFC8BA"/>
                </a:solidFill>
                <a:latin typeface="Montserrat" pitchFamily="34" charset="0"/>
                <a:ea typeface="Montserrat" pitchFamily="34" charset="-122"/>
                <a:cs typeface="Montserrat" pitchFamily="34" charset="-120"/>
              </a:rPr>
              <a:t> TTC</a:t>
            </a:r>
          </a:p>
        </p:txBody>
      </p:sp>
      <p:sp>
        <p:nvSpPr>
          <p:cNvPr id="55" name="Unité A2"/>
          <p:cNvSpPr txBox="1"/>
          <p:nvPr/>
        </p:nvSpPr>
        <p:spPr>
          <a:xfrm>
            <a:off x="4160520" y="4498848"/>
            <a:ext cx="1554480" cy="182880"/>
          </a:xfrm>
          <a:prstGeom prst="rect">
            <a:avLst/>
          </a:prstGeom>
          <a:noFill/>
          <a:ln>
            <a:noFill/>
          </a:ln>
        </p:spPr>
        <p:txBody>
          <a:bodyPr wrap="square" lIns="0" tIns="0" rIns="0" bIns="0" rtlCol="0" anchor="ctr"/>
          <a:lstStyle/>
          <a:p>
            <a:pPr marL="0" indent="0" algn="r">
              <a:buNone/>
            </a:pPr>
            <a:r>
              <a:rPr lang="fr-FR" sz="850" dirty="0">
                <a:solidFill>
                  <a:srgbClr val="CFC8BA"/>
                </a:solidFill>
                <a:latin typeface="Montserrat" pitchFamily="34" charset="0"/>
                <a:ea typeface="Montserrat" pitchFamily="34" charset="-122"/>
                <a:cs typeface="Montserrat" pitchFamily="34" charset="-120"/>
              </a:rPr>
              <a:t>par place</a:t>
            </a:r>
          </a:p>
        </p:txBody>
      </p:sp>
      <p:sp>
        <p:nvSpPr>
          <p:cNvPr id="56" name="Filet"/>
          <p:cNvSpPr/>
          <p:nvPr/>
        </p:nvSpPr>
        <p:spPr>
          <a:xfrm>
            <a:off x="914400" y="4882896"/>
            <a:ext cx="4800600" cy="7315"/>
          </a:xfrm>
          <a:prstGeom prst="rect">
            <a:avLst/>
          </a:prstGeom>
          <a:solidFill>
            <a:srgbClr val="3A3650"/>
          </a:solidFill>
          <a:ln>
            <a:noFill/>
          </a:ln>
        </p:spPr>
        <p:txBody>
          <a:bodyPr rtlCol="0" anchor="ctr"/>
          <a:lstStyle/>
          <a:p>
            <a:endParaRPr lang="fr-FR"/>
          </a:p>
        </p:txBody>
      </p:sp>
      <p:sp>
        <p:nvSpPr>
          <p:cNvPr id="57" name="Soirée A3"/>
          <p:cNvSpPr txBox="1"/>
          <p:nvPr/>
        </p:nvSpPr>
        <p:spPr>
          <a:xfrm>
            <a:off x="914400" y="4901183"/>
            <a:ext cx="3291840" cy="347472"/>
          </a:xfrm>
          <a:prstGeom prst="rect">
            <a:avLst/>
          </a:prstGeom>
          <a:noFill/>
          <a:ln>
            <a:noFill/>
          </a:ln>
        </p:spPr>
        <p:txBody>
          <a:bodyPr wrap="square" lIns="0" tIns="0" rIns="0" bIns="0" rtlCol="0" anchor="ctr"/>
          <a:lstStyle/>
          <a:p>
            <a:pPr marL="0" indent="0" algn="l">
              <a:buNone/>
            </a:pPr>
            <a:r>
              <a:rPr lang="fr-FR" sz="2200" dirty="0">
                <a:solidFill>
                  <a:srgbClr val="F4EEE3"/>
                </a:solidFill>
                <a:latin typeface="Playfair Display" pitchFamily="34" charset="0"/>
                <a:ea typeface="Playfair Display" pitchFamily="34" charset="-122"/>
                <a:cs typeface="Playfair Display" pitchFamily="34" charset="-120"/>
              </a:rPr>
              <a:t>La Grande Nuit</a:t>
            </a:r>
          </a:p>
        </p:txBody>
      </p:sp>
      <p:sp>
        <p:nvSpPr>
          <p:cNvPr id="58" name="Promesse A3"/>
          <p:cNvSpPr txBox="1"/>
          <p:nvPr/>
        </p:nvSpPr>
        <p:spPr>
          <a:xfrm>
            <a:off x="914400" y="5248656"/>
            <a:ext cx="3657600" cy="201168"/>
          </a:xfrm>
          <a:prstGeom prst="rect">
            <a:avLst/>
          </a:prstGeom>
          <a:noFill/>
          <a:ln>
            <a:noFill/>
          </a:ln>
        </p:spPr>
        <p:txBody>
          <a:bodyPr wrap="square" lIns="0" tIns="0" rIns="0" bIns="0" rtlCol="0" anchor="ctr"/>
          <a:lstStyle/>
          <a:p>
            <a:pPr marL="0" indent="0" algn="l">
              <a:buNone/>
            </a:pPr>
            <a:r>
              <a:rPr lang="fr-FR" sz="1050" i="1" dirty="0">
                <a:solidFill>
                  <a:srgbClr val="C8963A"/>
                </a:solidFill>
                <a:latin typeface="Montserrat" pitchFamily="34" charset="0"/>
                <a:ea typeface="Montserrat" pitchFamily="34" charset="-122"/>
                <a:cs typeface="Montserrat" pitchFamily="34" charset="-120"/>
              </a:rPr>
              <a:t>« Un chef pour qui on traverserait le monde. »</a:t>
            </a:r>
          </a:p>
        </p:txBody>
      </p:sp>
      <p:sp>
        <p:nvSpPr>
          <p:cNvPr id="59" name="Détail A3"/>
          <p:cNvSpPr txBox="1"/>
          <p:nvPr/>
        </p:nvSpPr>
        <p:spPr>
          <a:xfrm>
            <a:off x="914400" y="5431536"/>
            <a:ext cx="3657600" cy="182880"/>
          </a:xfrm>
          <a:prstGeom prst="rect">
            <a:avLst/>
          </a:prstGeom>
          <a:noFill/>
          <a:ln>
            <a:noFill/>
          </a:ln>
        </p:spPr>
        <p:txBody>
          <a:bodyPr wrap="square" lIns="0" tIns="0" rIns="0" bIns="0" rtlCol="0" anchor="ctr"/>
          <a:lstStyle/>
          <a:p>
            <a:pPr marL="0" indent="0" algn="l">
              <a:buNone/>
            </a:pPr>
            <a:r>
              <a:rPr lang="fr-FR" sz="900" dirty="0">
                <a:solidFill>
                  <a:srgbClr val="CFC8BA"/>
                </a:solidFill>
                <a:latin typeface="Montserrat" pitchFamily="34" charset="0"/>
                <a:ea typeface="Montserrat" pitchFamily="34" charset="-122"/>
                <a:cs typeface="Montserrat" pitchFamily="34" charset="-120"/>
              </a:rPr>
              <a:t>Chef étoilé · 30 couverts · 8 à 9 temps</a:t>
            </a:r>
          </a:p>
        </p:txBody>
      </p:sp>
      <p:sp>
        <p:nvSpPr>
          <p:cNvPr id="60" name="Prix A3"/>
          <p:cNvSpPr txBox="1"/>
          <p:nvPr/>
        </p:nvSpPr>
        <p:spPr>
          <a:xfrm>
            <a:off x="4160520" y="4919472"/>
            <a:ext cx="1554480" cy="329184"/>
          </a:xfrm>
          <a:prstGeom prst="rect">
            <a:avLst/>
          </a:prstGeom>
          <a:noFill/>
          <a:ln>
            <a:noFill/>
          </a:ln>
        </p:spPr>
        <p:txBody>
          <a:bodyPr wrap="square" lIns="0" tIns="0" rIns="0" bIns="0" rtlCol="0" anchor="ctr"/>
          <a:lstStyle/>
          <a:p>
            <a:pPr marL="0" indent="0" algn="r">
              <a:buNone/>
            </a:pPr>
            <a:r>
              <a:rPr lang="fr-FR" sz="1800" dirty="0">
                <a:solidFill>
                  <a:srgbClr val="C8963A"/>
                </a:solidFill>
                <a:latin typeface="Playfair Display" pitchFamily="34" charset="0"/>
                <a:ea typeface="Playfair Display" pitchFamily="34" charset="-122"/>
                <a:cs typeface="Playfair Display" pitchFamily="34" charset="-120"/>
              </a:rPr>
              <a:t>690 €</a:t>
            </a:r>
            <a:r>
              <a:rPr lang="fr-FR" sz="800" b="1" dirty="0">
                <a:solidFill>
                  <a:srgbClr val="CFC8BA"/>
                </a:solidFill>
                <a:latin typeface="Montserrat" pitchFamily="34" charset="0"/>
                <a:ea typeface="Montserrat" pitchFamily="34" charset="-122"/>
                <a:cs typeface="Montserrat" pitchFamily="34" charset="-120"/>
              </a:rPr>
              <a:t> TTC</a:t>
            </a:r>
          </a:p>
        </p:txBody>
      </p:sp>
      <p:sp>
        <p:nvSpPr>
          <p:cNvPr id="61" name="Unité A3"/>
          <p:cNvSpPr txBox="1"/>
          <p:nvPr/>
        </p:nvSpPr>
        <p:spPr>
          <a:xfrm>
            <a:off x="4160520" y="5248656"/>
            <a:ext cx="1554480" cy="182880"/>
          </a:xfrm>
          <a:prstGeom prst="rect">
            <a:avLst/>
          </a:prstGeom>
          <a:noFill/>
          <a:ln>
            <a:noFill/>
          </a:ln>
        </p:spPr>
        <p:txBody>
          <a:bodyPr wrap="square" lIns="0" tIns="0" rIns="0" bIns="0" rtlCol="0" anchor="ctr"/>
          <a:lstStyle/>
          <a:p>
            <a:pPr marL="0" indent="0" algn="r">
              <a:buNone/>
            </a:pPr>
            <a:r>
              <a:rPr lang="fr-FR" sz="850" dirty="0">
                <a:solidFill>
                  <a:srgbClr val="CFC8BA"/>
                </a:solidFill>
                <a:latin typeface="Montserrat" pitchFamily="34" charset="0"/>
                <a:ea typeface="Montserrat" pitchFamily="34" charset="-122"/>
                <a:cs typeface="Montserrat" pitchFamily="34" charset="-120"/>
              </a:rPr>
              <a:t>par place</a:t>
            </a:r>
          </a:p>
        </p:txBody>
      </p:sp>
      <p:sp>
        <p:nvSpPr>
          <p:cNvPr id="62" name="Pied A"/>
          <p:cNvSpPr txBox="1"/>
          <p:nvPr/>
        </p:nvSpPr>
        <p:spPr>
          <a:xfrm>
            <a:off x="914400" y="5760720"/>
            <a:ext cx="4800600" cy="274320"/>
          </a:xfrm>
          <a:prstGeom prst="rect">
            <a:avLst/>
          </a:prstGeom>
          <a:noFill/>
          <a:ln>
            <a:noFill/>
          </a:ln>
        </p:spPr>
        <p:txBody>
          <a:bodyPr wrap="square" lIns="0" tIns="0" rIns="0" bIns="0" rtlCol="0" anchor="ctr"/>
          <a:lstStyle/>
          <a:p>
            <a:pPr marL="0" indent="0" algn="l">
              <a:buNone/>
            </a:pPr>
            <a:r>
              <a:rPr lang="fr-FR" sz="1000" b="1" spc="60" dirty="0" err="1">
                <a:solidFill>
                  <a:srgbClr val="C8963A"/>
                </a:solidFill>
                <a:latin typeface="Montserrat" pitchFamily="34" charset="0"/>
              </a:rPr>
              <a:t>Pré-vente</a:t>
            </a:r>
            <a:r>
              <a:rPr lang="fr-FR" sz="1000" b="1" spc="60" dirty="0">
                <a:solidFill>
                  <a:srgbClr val="C8963A"/>
                </a:solidFill>
                <a:latin typeface="Montserrat" pitchFamily="34" charset="0"/>
              </a:rPr>
              <a:t> en drops</a:t>
            </a:r>
          </a:p>
        </p:txBody>
      </p:sp>
      <p:sp>
        <p:nvSpPr>
          <p:cNvPr id="63" name="Bloc offre B"/>
          <p:cNvSpPr/>
          <p:nvPr/>
        </p:nvSpPr>
        <p:spPr>
          <a:xfrm>
            <a:off x="6199632" y="2331720"/>
            <a:ext cx="5349240" cy="3840480"/>
          </a:xfrm>
          <a:prstGeom prst="roundRect">
            <a:avLst>
              <a:gd name="adj" fmla="val 4000"/>
            </a:avLst>
          </a:prstGeom>
          <a:solidFill>
            <a:srgbClr val="C2432B"/>
          </a:solidFill>
          <a:ln>
            <a:noFill/>
          </a:ln>
        </p:spPr>
        <p:txBody>
          <a:bodyPr rtlCol="0" anchor="ctr"/>
          <a:lstStyle/>
          <a:p>
            <a:endParaRPr lang="fr-FR"/>
          </a:p>
        </p:txBody>
      </p:sp>
      <p:sp>
        <p:nvSpPr>
          <p:cNvPr id="64" name="Titre offre B"/>
          <p:cNvSpPr txBox="1"/>
          <p:nvPr/>
        </p:nvSpPr>
        <p:spPr>
          <a:xfrm>
            <a:off x="6473952" y="2587752"/>
            <a:ext cx="4800600" cy="237744"/>
          </a:xfrm>
          <a:prstGeom prst="rect">
            <a:avLst/>
          </a:prstGeom>
          <a:noFill/>
          <a:ln>
            <a:noFill/>
          </a:ln>
        </p:spPr>
        <p:txBody>
          <a:bodyPr wrap="square" lIns="0" tIns="0" rIns="0" bIns="0" rtlCol="0" anchor="ctr"/>
          <a:lstStyle/>
          <a:p>
            <a:pPr marL="0" indent="0" algn="l">
              <a:buNone/>
            </a:pPr>
            <a:r>
              <a:rPr lang="fr-FR" sz="1000" b="1" spc="250" dirty="0">
                <a:solidFill>
                  <a:srgbClr val="F4EEE3"/>
                </a:solidFill>
                <a:latin typeface="Montserrat" pitchFamily="34" charset="0"/>
                <a:ea typeface="Montserrat" pitchFamily="34" charset="-122"/>
                <a:cs typeface="Montserrat" pitchFamily="34" charset="-120"/>
              </a:rPr>
              <a:t>OFFRE B2B · PRIVATISATION </a:t>
            </a:r>
          </a:p>
        </p:txBody>
      </p:sp>
      <p:sp>
        <p:nvSpPr>
          <p:cNvPr id="65" name="Accroche offre B"/>
          <p:cNvSpPr txBox="1"/>
          <p:nvPr/>
        </p:nvSpPr>
        <p:spPr>
          <a:xfrm>
            <a:off x="6473952" y="2880360"/>
            <a:ext cx="4800600" cy="365760"/>
          </a:xfrm>
          <a:prstGeom prst="rect">
            <a:avLst/>
          </a:prstGeom>
          <a:noFill/>
          <a:ln>
            <a:noFill/>
          </a:ln>
        </p:spPr>
        <p:txBody>
          <a:bodyPr wrap="square" lIns="0" tIns="0" rIns="0" bIns="0" rtlCol="0" anchor="ctr"/>
          <a:lstStyle/>
          <a:p>
            <a:pPr marL="0" indent="0" algn="l">
              <a:buNone/>
            </a:pPr>
            <a:r>
              <a:rPr lang="fr-FR" sz="1700" i="1" dirty="0">
                <a:solidFill>
                  <a:srgbClr val="F4EEE3"/>
                </a:solidFill>
                <a:latin typeface="Playfair Display" pitchFamily="34" charset="0"/>
                <a:ea typeface="Playfair Display" pitchFamily="34" charset="-122"/>
                <a:cs typeface="Playfair Display" pitchFamily="34" charset="-120"/>
              </a:rPr>
              <a:t>Un lieu privatisé, 3 offres</a:t>
            </a:r>
          </a:p>
        </p:txBody>
      </p:sp>
      <p:sp>
        <p:nvSpPr>
          <p:cNvPr id="66" name="Filet"/>
          <p:cNvSpPr/>
          <p:nvPr/>
        </p:nvSpPr>
        <p:spPr>
          <a:xfrm>
            <a:off x="6473952" y="3383279"/>
            <a:ext cx="4800600" cy="7315"/>
          </a:xfrm>
          <a:prstGeom prst="rect">
            <a:avLst/>
          </a:prstGeom>
          <a:solidFill>
            <a:srgbClr val="E08A78"/>
          </a:solidFill>
          <a:ln>
            <a:noFill/>
          </a:ln>
        </p:spPr>
        <p:txBody>
          <a:bodyPr rtlCol="0" anchor="ctr"/>
          <a:lstStyle/>
          <a:p>
            <a:endParaRPr lang="fr-FR"/>
          </a:p>
        </p:txBody>
      </p:sp>
      <p:sp>
        <p:nvSpPr>
          <p:cNvPr id="67" name="Chef B1"/>
          <p:cNvSpPr txBox="1"/>
          <p:nvPr/>
        </p:nvSpPr>
        <p:spPr>
          <a:xfrm>
            <a:off x="6473952" y="3401568"/>
            <a:ext cx="3291840" cy="347472"/>
          </a:xfrm>
          <a:prstGeom prst="rect">
            <a:avLst/>
          </a:prstGeom>
          <a:noFill/>
          <a:ln>
            <a:noFill/>
          </a:ln>
        </p:spPr>
        <p:txBody>
          <a:bodyPr wrap="square" lIns="0" tIns="0" rIns="0" bIns="0" rtlCol="0" anchor="ctr"/>
          <a:lstStyle/>
          <a:p>
            <a:pPr marL="0" indent="0" algn="l">
              <a:buNone/>
            </a:pPr>
            <a:r>
              <a:rPr lang="fr-FR" sz="2200" dirty="0">
                <a:solidFill>
                  <a:srgbClr val="F4EEE3"/>
                </a:solidFill>
                <a:latin typeface="Playfair Display" pitchFamily="34" charset="0"/>
                <a:ea typeface="Playfair Display" pitchFamily="34" charset="-122"/>
                <a:cs typeface="Playfair Display" pitchFamily="34" charset="-120"/>
              </a:rPr>
              <a:t>Chef montant</a:t>
            </a:r>
          </a:p>
        </p:txBody>
      </p:sp>
      <p:sp>
        <p:nvSpPr>
          <p:cNvPr id="68" name="Promesse B1"/>
          <p:cNvSpPr txBox="1"/>
          <p:nvPr/>
        </p:nvSpPr>
        <p:spPr>
          <a:xfrm>
            <a:off x="6473952" y="3749039"/>
            <a:ext cx="3657600" cy="201168"/>
          </a:xfrm>
          <a:prstGeom prst="rect">
            <a:avLst/>
          </a:prstGeom>
          <a:noFill/>
          <a:ln>
            <a:noFill/>
          </a:ln>
        </p:spPr>
        <p:txBody>
          <a:bodyPr wrap="square" lIns="0" tIns="0" rIns="0" bIns="0" rtlCol="0" anchor="ctr"/>
          <a:lstStyle/>
          <a:p>
            <a:pPr marL="0" indent="0" algn="l">
              <a:buNone/>
            </a:pPr>
            <a:r>
              <a:rPr lang="fr-FR" sz="1050" i="1" dirty="0">
                <a:solidFill>
                  <a:srgbClr val="F0C9BF"/>
                </a:solidFill>
                <a:latin typeface="Montserrat" pitchFamily="34" charset="0"/>
                <a:ea typeface="Montserrat" pitchFamily="34" charset="-122"/>
                <a:cs typeface="Montserrat" pitchFamily="34" charset="-120"/>
              </a:rPr>
              <a:t>Un talent qu’on découvre avant tout le monde</a:t>
            </a:r>
          </a:p>
        </p:txBody>
      </p:sp>
      <p:sp>
        <p:nvSpPr>
          <p:cNvPr id="70" name="Prix B1"/>
          <p:cNvSpPr txBox="1"/>
          <p:nvPr/>
        </p:nvSpPr>
        <p:spPr>
          <a:xfrm>
            <a:off x="9720072" y="3419856"/>
            <a:ext cx="1554480" cy="329184"/>
          </a:xfrm>
          <a:prstGeom prst="rect">
            <a:avLst/>
          </a:prstGeom>
          <a:noFill/>
          <a:ln>
            <a:noFill/>
          </a:ln>
        </p:spPr>
        <p:txBody>
          <a:bodyPr wrap="square" lIns="0" tIns="0" rIns="0" bIns="0" rtlCol="0" anchor="ctr"/>
          <a:lstStyle/>
          <a:p>
            <a:pPr marL="0" indent="0" algn="r">
              <a:buNone/>
            </a:pPr>
            <a:r>
              <a:rPr lang="fr-FR" sz="1800" dirty="0">
                <a:solidFill>
                  <a:srgbClr val="F4EEE3"/>
                </a:solidFill>
                <a:latin typeface="Playfair Display" pitchFamily="34" charset="0"/>
                <a:ea typeface="Playfair Display" pitchFamily="34" charset="-122"/>
                <a:cs typeface="Playfair Display" pitchFamily="34" charset="-120"/>
              </a:rPr>
              <a:t>250 €</a:t>
            </a:r>
            <a:r>
              <a:rPr lang="fr-FR" sz="800" b="1" dirty="0">
                <a:solidFill>
                  <a:srgbClr val="F0C9BF"/>
                </a:solidFill>
                <a:latin typeface="Montserrat" pitchFamily="34" charset="0"/>
                <a:ea typeface="Montserrat" pitchFamily="34" charset="-122"/>
                <a:cs typeface="Montserrat" pitchFamily="34" charset="-120"/>
              </a:rPr>
              <a:t> HT</a:t>
            </a:r>
          </a:p>
        </p:txBody>
      </p:sp>
      <p:sp>
        <p:nvSpPr>
          <p:cNvPr id="71" name="Unité B1"/>
          <p:cNvSpPr txBox="1"/>
          <p:nvPr/>
        </p:nvSpPr>
        <p:spPr>
          <a:xfrm>
            <a:off x="9720072" y="3749039"/>
            <a:ext cx="1554480" cy="182880"/>
          </a:xfrm>
          <a:prstGeom prst="rect">
            <a:avLst/>
          </a:prstGeom>
          <a:noFill/>
          <a:ln>
            <a:noFill/>
          </a:ln>
        </p:spPr>
        <p:txBody>
          <a:bodyPr wrap="square" lIns="0" tIns="0" rIns="0" bIns="0" rtlCol="0" anchor="ctr"/>
          <a:lstStyle/>
          <a:p>
            <a:pPr marL="0" indent="0" algn="r">
              <a:buNone/>
            </a:pPr>
            <a:r>
              <a:rPr lang="fr-FR" sz="850" dirty="0">
                <a:solidFill>
                  <a:srgbClr val="F0C9BF"/>
                </a:solidFill>
                <a:latin typeface="Montserrat" pitchFamily="34" charset="0"/>
                <a:ea typeface="Montserrat" pitchFamily="34" charset="-122"/>
                <a:cs typeface="Montserrat" pitchFamily="34" charset="-120"/>
              </a:rPr>
              <a:t>par convive</a:t>
            </a:r>
          </a:p>
        </p:txBody>
      </p:sp>
      <p:sp>
        <p:nvSpPr>
          <p:cNvPr id="72" name="Filet"/>
          <p:cNvSpPr/>
          <p:nvPr/>
        </p:nvSpPr>
        <p:spPr>
          <a:xfrm>
            <a:off x="6473952" y="4133087"/>
            <a:ext cx="4800600" cy="7315"/>
          </a:xfrm>
          <a:prstGeom prst="rect">
            <a:avLst/>
          </a:prstGeom>
          <a:solidFill>
            <a:srgbClr val="E08A78"/>
          </a:solidFill>
          <a:ln>
            <a:noFill/>
          </a:ln>
        </p:spPr>
        <p:txBody>
          <a:bodyPr rtlCol="0" anchor="ctr"/>
          <a:lstStyle/>
          <a:p>
            <a:endParaRPr lang="fr-FR"/>
          </a:p>
        </p:txBody>
      </p:sp>
      <p:sp>
        <p:nvSpPr>
          <p:cNvPr id="73" name="Chef B2"/>
          <p:cNvSpPr txBox="1"/>
          <p:nvPr/>
        </p:nvSpPr>
        <p:spPr>
          <a:xfrm>
            <a:off x="6473952" y="4151375"/>
            <a:ext cx="3291840" cy="347472"/>
          </a:xfrm>
          <a:prstGeom prst="rect">
            <a:avLst/>
          </a:prstGeom>
          <a:noFill/>
          <a:ln>
            <a:noFill/>
          </a:ln>
        </p:spPr>
        <p:txBody>
          <a:bodyPr wrap="square" lIns="0" tIns="0" rIns="0" bIns="0" rtlCol="0" anchor="ctr"/>
          <a:lstStyle/>
          <a:p>
            <a:pPr marL="0" indent="0" algn="l">
              <a:buNone/>
            </a:pPr>
            <a:r>
              <a:rPr lang="fr-FR" sz="2200" dirty="0">
                <a:solidFill>
                  <a:srgbClr val="F4EEE3"/>
                </a:solidFill>
                <a:latin typeface="Playfair Display" pitchFamily="34" charset="0"/>
                <a:ea typeface="Playfair Display" pitchFamily="34" charset="-122"/>
                <a:cs typeface="Playfair Display" pitchFamily="34" charset="-120"/>
              </a:rPr>
              <a:t>Chef confirmé</a:t>
            </a:r>
          </a:p>
        </p:txBody>
      </p:sp>
      <p:sp>
        <p:nvSpPr>
          <p:cNvPr id="74" name="Promesse B2"/>
          <p:cNvSpPr txBox="1"/>
          <p:nvPr/>
        </p:nvSpPr>
        <p:spPr>
          <a:xfrm>
            <a:off x="6473952" y="4498848"/>
            <a:ext cx="3657600" cy="201168"/>
          </a:xfrm>
          <a:prstGeom prst="rect">
            <a:avLst/>
          </a:prstGeom>
          <a:noFill/>
          <a:ln>
            <a:noFill/>
          </a:ln>
        </p:spPr>
        <p:txBody>
          <a:bodyPr wrap="square" lIns="0" tIns="0" rIns="0" bIns="0" rtlCol="0" anchor="ctr"/>
          <a:lstStyle/>
          <a:p>
            <a:pPr marL="0" indent="0" algn="l">
              <a:buNone/>
            </a:pPr>
            <a:r>
              <a:rPr lang="fr-FR" sz="1050" i="1" dirty="0">
                <a:solidFill>
                  <a:srgbClr val="F0C9BF"/>
                </a:solidFill>
                <a:latin typeface="Montserrat" pitchFamily="34" charset="0"/>
                <a:ea typeface="Montserrat" pitchFamily="34" charset="-122"/>
                <a:cs typeface="Montserrat" pitchFamily="34" charset="-120"/>
              </a:rPr>
              <a:t>Un chef reconnu dans son pays</a:t>
            </a:r>
          </a:p>
        </p:txBody>
      </p:sp>
      <p:sp>
        <p:nvSpPr>
          <p:cNvPr id="76" name="Prix B2"/>
          <p:cNvSpPr txBox="1"/>
          <p:nvPr/>
        </p:nvSpPr>
        <p:spPr>
          <a:xfrm>
            <a:off x="9720072" y="4169663"/>
            <a:ext cx="1554480" cy="329184"/>
          </a:xfrm>
          <a:prstGeom prst="rect">
            <a:avLst/>
          </a:prstGeom>
          <a:noFill/>
          <a:ln>
            <a:noFill/>
          </a:ln>
        </p:spPr>
        <p:txBody>
          <a:bodyPr wrap="square" lIns="0" tIns="0" rIns="0" bIns="0" rtlCol="0" anchor="ctr"/>
          <a:lstStyle/>
          <a:p>
            <a:pPr marL="0" indent="0" algn="r">
              <a:buNone/>
            </a:pPr>
            <a:r>
              <a:rPr lang="fr-FR" sz="1800" dirty="0">
                <a:solidFill>
                  <a:srgbClr val="F4EEE3"/>
                </a:solidFill>
                <a:latin typeface="Playfair Display" pitchFamily="34" charset="0"/>
                <a:ea typeface="Playfair Display" pitchFamily="34" charset="-122"/>
                <a:cs typeface="Playfair Display" pitchFamily="34" charset="-120"/>
              </a:rPr>
              <a:t>350 €</a:t>
            </a:r>
            <a:r>
              <a:rPr lang="fr-FR" sz="800" b="1" dirty="0">
                <a:solidFill>
                  <a:srgbClr val="F0C9BF"/>
                </a:solidFill>
                <a:latin typeface="Montserrat" pitchFamily="34" charset="0"/>
                <a:ea typeface="Montserrat" pitchFamily="34" charset="-122"/>
                <a:cs typeface="Montserrat" pitchFamily="34" charset="-120"/>
              </a:rPr>
              <a:t> HT</a:t>
            </a:r>
          </a:p>
        </p:txBody>
      </p:sp>
      <p:sp>
        <p:nvSpPr>
          <p:cNvPr id="77" name="Unité B2"/>
          <p:cNvSpPr txBox="1"/>
          <p:nvPr/>
        </p:nvSpPr>
        <p:spPr>
          <a:xfrm>
            <a:off x="9720072" y="4498848"/>
            <a:ext cx="1554480" cy="182880"/>
          </a:xfrm>
          <a:prstGeom prst="rect">
            <a:avLst/>
          </a:prstGeom>
          <a:noFill/>
          <a:ln>
            <a:noFill/>
          </a:ln>
        </p:spPr>
        <p:txBody>
          <a:bodyPr wrap="square" lIns="0" tIns="0" rIns="0" bIns="0" rtlCol="0" anchor="ctr"/>
          <a:lstStyle/>
          <a:p>
            <a:pPr marL="0" indent="0" algn="r">
              <a:buNone/>
            </a:pPr>
            <a:r>
              <a:rPr lang="fr-FR" sz="850" dirty="0">
                <a:solidFill>
                  <a:srgbClr val="F0C9BF"/>
                </a:solidFill>
                <a:latin typeface="Montserrat" pitchFamily="34" charset="0"/>
                <a:ea typeface="Montserrat" pitchFamily="34" charset="-122"/>
                <a:cs typeface="Montserrat" pitchFamily="34" charset="-120"/>
              </a:rPr>
              <a:t>par convive</a:t>
            </a:r>
          </a:p>
        </p:txBody>
      </p:sp>
      <p:sp>
        <p:nvSpPr>
          <p:cNvPr id="78" name="Filet"/>
          <p:cNvSpPr/>
          <p:nvPr/>
        </p:nvSpPr>
        <p:spPr>
          <a:xfrm>
            <a:off x="6473952" y="4882896"/>
            <a:ext cx="4800600" cy="7315"/>
          </a:xfrm>
          <a:prstGeom prst="rect">
            <a:avLst/>
          </a:prstGeom>
          <a:solidFill>
            <a:srgbClr val="E08A78"/>
          </a:solidFill>
          <a:ln>
            <a:noFill/>
          </a:ln>
        </p:spPr>
        <p:txBody>
          <a:bodyPr rtlCol="0" anchor="ctr"/>
          <a:lstStyle/>
          <a:p>
            <a:endParaRPr lang="fr-FR"/>
          </a:p>
        </p:txBody>
      </p:sp>
      <p:sp>
        <p:nvSpPr>
          <p:cNvPr id="79" name="Chef B3"/>
          <p:cNvSpPr txBox="1"/>
          <p:nvPr/>
        </p:nvSpPr>
        <p:spPr>
          <a:xfrm>
            <a:off x="6473952" y="4901183"/>
            <a:ext cx="3291840" cy="347472"/>
          </a:xfrm>
          <a:prstGeom prst="rect">
            <a:avLst/>
          </a:prstGeom>
          <a:noFill/>
          <a:ln>
            <a:noFill/>
          </a:ln>
        </p:spPr>
        <p:txBody>
          <a:bodyPr wrap="square" lIns="0" tIns="0" rIns="0" bIns="0" rtlCol="0" anchor="ctr"/>
          <a:lstStyle/>
          <a:p>
            <a:pPr marL="0" indent="0" algn="l">
              <a:buNone/>
            </a:pPr>
            <a:r>
              <a:rPr lang="fr-FR" sz="2200" dirty="0">
                <a:solidFill>
                  <a:srgbClr val="F4EEE3"/>
                </a:solidFill>
                <a:latin typeface="Playfair Display" pitchFamily="34" charset="0"/>
                <a:ea typeface="Playfair Display" pitchFamily="34" charset="-122"/>
                <a:cs typeface="Playfair Display" pitchFamily="34" charset="-120"/>
              </a:rPr>
              <a:t>Chef étoilé</a:t>
            </a:r>
          </a:p>
        </p:txBody>
      </p:sp>
      <p:sp>
        <p:nvSpPr>
          <p:cNvPr id="80" name="Promesse B3"/>
          <p:cNvSpPr txBox="1"/>
          <p:nvPr/>
        </p:nvSpPr>
        <p:spPr>
          <a:xfrm>
            <a:off x="6473952" y="5248656"/>
            <a:ext cx="3657600" cy="201168"/>
          </a:xfrm>
          <a:prstGeom prst="rect">
            <a:avLst/>
          </a:prstGeom>
          <a:noFill/>
          <a:ln>
            <a:noFill/>
          </a:ln>
        </p:spPr>
        <p:txBody>
          <a:bodyPr wrap="square" lIns="0" tIns="0" rIns="0" bIns="0" rtlCol="0" anchor="ctr"/>
          <a:lstStyle/>
          <a:p>
            <a:pPr marL="0" indent="0" algn="l">
              <a:buNone/>
            </a:pPr>
            <a:r>
              <a:rPr lang="fr-FR" sz="1050" i="1" dirty="0">
                <a:solidFill>
                  <a:srgbClr val="F0C9BF"/>
                </a:solidFill>
                <a:latin typeface="Montserrat" pitchFamily="34" charset="0"/>
                <a:ea typeface="Montserrat" pitchFamily="34" charset="-122"/>
                <a:cs typeface="Montserrat" pitchFamily="34" charset="-120"/>
              </a:rPr>
              <a:t>Une table étoilée, rien que pour vous</a:t>
            </a:r>
          </a:p>
        </p:txBody>
      </p:sp>
      <p:sp>
        <p:nvSpPr>
          <p:cNvPr id="82" name="Prix B3"/>
          <p:cNvSpPr txBox="1"/>
          <p:nvPr/>
        </p:nvSpPr>
        <p:spPr>
          <a:xfrm>
            <a:off x="9720072" y="4919472"/>
            <a:ext cx="1554480" cy="329184"/>
          </a:xfrm>
          <a:prstGeom prst="rect">
            <a:avLst/>
          </a:prstGeom>
          <a:noFill/>
          <a:ln>
            <a:noFill/>
          </a:ln>
        </p:spPr>
        <p:txBody>
          <a:bodyPr wrap="square" lIns="0" tIns="0" rIns="0" bIns="0" rtlCol="0" anchor="ctr"/>
          <a:lstStyle/>
          <a:p>
            <a:pPr marL="0" indent="0" algn="r">
              <a:buNone/>
            </a:pPr>
            <a:r>
              <a:rPr lang="fr-FR" sz="1800" dirty="0">
                <a:solidFill>
                  <a:srgbClr val="F4EEE3"/>
                </a:solidFill>
                <a:latin typeface="Playfair Display" pitchFamily="34" charset="0"/>
                <a:ea typeface="Playfair Display" pitchFamily="34" charset="-122"/>
                <a:cs typeface="Playfair Display" pitchFamily="34" charset="-120"/>
              </a:rPr>
              <a:t>600 €</a:t>
            </a:r>
            <a:r>
              <a:rPr lang="fr-FR" sz="800" b="1" dirty="0">
                <a:solidFill>
                  <a:srgbClr val="F0C9BF"/>
                </a:solidFill>
                <a:latin typeface="Montserrat" pitchFamily="34" charset="0"/>
                <a:ea typeface="Montserrat" pitchFamily="34" charset="-122"/>
                <a:cs typeface="Montserrat" pitchFamily="34" charset="-120"/>
              </a:rPr>
              <a:t> HT</a:t>
            </a:r>
          </a:p>
        </p:txBody>
      </p:sp>
      <p:sp>
        <p:nvSpPr>
          <p:cNvPr id="83" name="Unité B3"/>
          <p:cNvSpPr txBox="1"/>
          <p:nvPr/>
        </p:nvSpPr>
        <p:spPr>
          <a:xfrm>
            <a:off x="9720072" y="5248656"/>
            <a:ext cx="1554480" cy="182880"/>
          </a:xfrm>
          <a:prstGeom prst="rect">
            <a:avLst/>
          </a:prstGeom>
          <a:noFill/>
          <a:ln>
            <a:noFill/>
          </a:ln>
        </p:spPr>
        <p:txBody>
          <a:bodyPr wrap="square" lIns="0" tIns="0" rIns="0" bIns="0" rtlCol="0" anchor="ctr"/>
          <a:lstStyle/>
          <a:p>
            <a:pPr marL="0" indent="0" algn="r">
              <a:buNone/>
            </a:pPr>
            <a:r>
              <a:rPr lang="fr-FR" sz="850" dirty="0">
                <a:solidFill>
                  <a:srgbClr val="F0C9BF"/>
                </a:solidFill>
                <a:latin typeface="Montserrat" pitchFamily="34" charset="0"/>
                <a:ea typeface="Montserrat" pitchFamily="34" charset="-122"/>
                <a:cs typeface="Montserrat" pitchFamily="34" charset="-120"/>
              </a:rPr>
              <a:t>par convive</a:t>
            </a:r>
          </a:p>
        </p:txBody>
      </p:sp>
      <p:sp>
        <p:nvSpPr>
          <p:cNvPr id="84" name="Pied B"/>
          <p:cNvSpPr txBox="1"/>
          <p:nvPr/>
        </p:nvSpPr>
        <p:spPr>
          <a:xfrm>
            <a:off x="6473952" y="5760720"/>
            <a:ext cx="4800600" cy="274320"/>
          </a:xfrm>
          <a:prstGeom prst="rect">
            <a:avLst/>
          </a:prstGeom>
          <a:noFill/>
          <a:ln>
            <a:noFill/>
          </a:ln>
        </p:spPr>
        <p:txBody>
          <a:bodyPr wrap="square" lIns="0" tIns="0" rIns="0" bIns="0" rtlCol="0" anchor="ctr"/>
          <a:lstStyle/>
          <a:p>
            <a:pPr marL="0" indent="0" algn="l">
              <a:buNone/>
            </a:pPr>
            <a:r>
              <a:rPr lang="fr-FR" sz="1000" b="1" spc="60" dirty="0">
                <a:solidFill>
                  <a:srgbClr val="F0C9BF"/>
                </a:solidFill>
                <a:latin typeface="Montserrat" pitchFamily="34" charset="0"/>
                <a:ea typeface="Montserrat" pitchFamily="34" charset="-122"/>
                <a:cs typeface="Montserrat" pitchFamily="34" charset="-120"/>
              </a:rPr>
              <a:t>F</a:t>
            </a:r>
            <a:r>
              <a:rPr lang="fr-FR" sz="1000" b="1" spc="60" dirty="0">
                <a:solidFill>
                  <a:srgbClr val="F0C9BF"/>
                </a:solidFill>
                <a:latin typeface="Montserrat" pitchFamily="34" charset="0"/>
              </a:rPr>
              <a:t>orfait pour le lieu de 6 000 € HT</a:t>
            </a:r>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6"/>
          </p:nvPr>
        </p:nvSpPr>
        <p:spPr/>
        <p:txBody>
          <a:bodyPr/>
          <a:lstStyle/>
          <a:p>
            <a:r>
              <a:t>PLAN COMMERCIAL B2B · ANNÉES 1 À 3</a:t>
            </a:r>
          </a:p>
        </p:txBody>
      </p:sp>
      <p:sp>
        <p:nvSpPr>
          <p:cNvPr id="3" name="Title 2"/>
          <p:cNvSpPr>
            <a:spLocks noGrp="1"/>
          </p:cNvSpPr>
          <p:nvPr>
            <p:ph type="title" idx="107"/>
          </p:nvPr>
        </p:nvSpPr>
        <p:spPr/>
        <p:txBody>
          <a:bodyPr/>
          <a:lstStyle/>
          <a:p>
            <a:r>
              <a:t>De la plage de débarquement à la conquête de l'Europe</a:t>
            </a:r>
          </a:p>
        </p:txBody>
      </p:sp>
      <p:sp>
        <p:nvSpPr>
          <p:cNvPr id="4" name="TextBox 3"/>
          <p:cNvSpPr txBox="1"/>
          <p:nvPr/>
        </p:nvSpPr>
        <p:spPr>
          <a:xfrm>
            <a:off x="722376" y="1828800"/>
            <a:ext cx="10789920" cy="274320"/>
          </a:xfrm>
          <a:prstGeom prst="rect">
            <a:avLst/>
          </a:prstGeom>
          <a:noFill/>
        </p:spPr>
        <p:txBody>
          <a:bodyPr wrap="square" lIns="0" tIns="0" rIns="0" bIns="0" anchor="t">
            <a:spAutoFit/>
          </a:bodyPr>
          <a:lstStyle/>
          <a:p>
            <a:pPr algn="l"/>
            <a:r>
              <a:rPr sz="1200" b="0" i="1">
                <a:solidFill>
                  <a:srgbClr val="6B6670"/>
                </a:solidFill>
                <a:latin typeface="Montserrat"/>
              </a:rPr>
              <a:t>Trois profils clients, trois propositions de valeur, les bons KOL pour convertir l'influence en croissance</a:t>
            </a:r>
          </a:p>
        </p:txBody>
      </p:sp>
      <p:sp>
        <p:nvSpPr>
          <p:cNvPr id="5" name="Rectangle 4"/>
          <p:cNvSpPr/>
          <p:nvPr/>
        </p:nvSpPr>
        <p:spPr>
          <a:xfrm>
            <a:off x="640080" y="2240280"/>
            <a:ext cx="640080" cy="54864"/>
          </a:xfrm>
          <a:prstGeom prst="rect">
            <a:avLst/>
          </a:prstGeom>
          <a:solidFill>
            <a:srgbClr val="C243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40080" y="2377440"/>
            <a:ext cx="3419856" cy="146194"/>
          </a:xfrm>
          <a:prstGeom prst="rect">
            <a:avLst/>
          </a:prstGeom>
          <a:noFill/>
        </p:spPr>
        <p:txBody>
          <a:bodyPr wrap="square" lIns="0" tIns="0" rIns="0" bIns="0" anchor="t">
            <a:spAutoFit/>
          </a:bodyPr>
          <a:lstStyle/>
          <a:p>
            <a:pPr algn="l"/>
            <a:r>
              <a:rPr sz="950" b="1" i="0" dirty="0">
                <a:solidFill>
                  <a:srgbClr val="C2432B"/>
                </a:solidFill>
                <a:latin typeface="Montserrat"/>
              </a:rPr>
              <a:t>01 </a:t>
            </a:r>
            <a:r>
              <a:rPr sz="950" b="1" i="0" dirty="0">
                <a:solidFill>
                  <a:srgbClr val="26232F"/>
                </a:solidFill>
                <a:latin typeface="Montserrat"/>
              </a:rPr>
              <a:t>POTENTIEL</a:t>
            </a:r>
          </a:p>
        </p:txBody>
      </p:sp>
      <p:sp>
        <p:nvSpPr>
          <p:cNvPr id="7" name="TextBox 6"/>
          <p:cNvSpPr txBox="1"/>
          <p:nvPr/>
        </p:nvSpPr>
        <p:spPr>
          <a:xfrm>
            <a:off x="640080" y="2651760"/>
            <a:ext cx="3419856" cy="548640"/>
          </a:xfrm>
          <a:prstGeom prst="rect">
            <a:avLst/>
          </a:prstGeom>
          <a:noFill/>
        </p:spPr>
        <p:txBody>
          <a:bodyPr wrap="square" lIns="0" tIns="0" rIns="0" bIns="0" anchor="t">
            <a:spAutoFit/>
          </a:bodyPr>
          <a:lstStyle/>
          <a:p>
            <a:pPr algn="l"/>
            <a:r>
              <a:rPr sz="3000" b="1" i="0">
                <a:solidFill>
                  <a:srgbClr val="C2432B"/>
                </a:solidFill>
                <a:latin typeface="Playfair Display"/>
              </a:rPr>
              <a:t>≈ 1 300</a:t>
            </a:r>
          </a:p>
        </p:txBody>
      </p:sp>
      <p:sp>
        <p:nvSpPr>
          <p:cNvPr id="8" name="TextBox 7"/>
          <p:cNvSpPr txBox="1"/>
          <p:nvPr/>
        </p:nvSpPr>
        <p:spPr>
          <a:xfrm>
            <a:off x="640080" y="3200400"/>
            <a:ext cx="3419856" cy="274320"/>
          </a:xfrm>
          <a:prstGeom prst="rect">
            <a:avLst/>
          </a:prstGeom>
          <a:noFill/>
        </p:spPr>
        <p:txBody>
          <a:bodyPr wrap="square" lIns="0" tIns="0" rIns="0" bIns="0" anchor="t">
            <a:spAutoFit/>
          </a:bodyPr>
          <a:lstStyle/>
          <a:p>
            <a:pPr algn="l"/>
            <a:r>
              <a:rPr sz="1000" b="0" i="0">
                <a:solidFill>
                  <a:srgbClr val="6B6670"/>
                </a:solidFill>
                <a:latin typeface="Montserrat"/>
              </a:rPr>
              <a:t>cibles B2B à Paris, par catégorie</a:t>
            </a:r>
          </a:p>
        </p:txBody>
      </p:sp>
      <p:sp>
        <p:nvSpPr>
          <p:cNvPr id="9" name="Rectangle 8"/>
          <p:cNvSpPr/>
          <p:nvPr/>
        </p:nvSpPr>
        <p:spPr>
          <a:xfrm>
            <a:off x="4379976" y="2240280"/>
            <a:ext cx="640080" cy="54864"/>
          </a:xfrm>
          <a:prstGeom prst="rect">
            <a:avLst/>
          </a:prstGeom>
          <a:solidFill>
            <a:srgbClr val="C89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79976" y="2377440"/>
            <a:ext cx="3419856" cy="146194"/>
          </a:xfrm>
          <a:prstGeom prst="rect">
            <a:avLst/>
          </a:prstGeom>
          <a:noFill/>
        </p:spPr>
        <p:txBody>
          <a:bodyPr wrap="square" lIns="0" tIns="0" rIns="0" bIns="0" anchor="t">
            <a:spAutoFit/>
          </a:bodyPr>
          <a:lstStyle/>
          <a:p>
            <a:pPr algn="l"/>
            <a:r>
              <a:rPr sz="950" b="1" i="0" dirty="0">
                <a:solidFill>
                  <a:srgbClr val="C8963A"/>
                </a:solidFill>
                <a:latin typeface="Montserrat"/>
              </a:rPr>
              <a:t>02 </a:t>
            </a:r>
            <a:r>
              <a:rPr sz="950" b="1" i="0" dirty="0">
                <a:solidFill>
                  <a:srgbClr val="26232F"/>
                </a:solidFill>
                <a:latin typeface="Montserrat"/>
              </a:rPr>
              <a:t>CIBLE DE TRANSFORMATION</a:t>
            </a:r>
          </a:p>
        </p:txBody>
      </p:sp>
      <p:sp>
        <p:nvSpPr>
          <p:cNvPr id="11" name="TextBox 10"/>
          <p:cNvSpPr txBox="1"/>
          <p:nvPr/>
        </p:nvSpPr>
        <p:spPr>
          <a:xfrm>
            <a:off x="4379976" y="2651760"/>
            <a:ext cx="3419856" cy="548640"/>
          </a:xfrm>
          <a:prstGeom prst="rect">
            <a:avLst/>
          </a:prstGeom>
          <a:noFill/>
        </p:spPr>
        <p:txBody>
          <a:bodyPr wrap="square" lIns="0" tIns="0" rIns="0" bIns="0" anchor="t">
            <a:spAutoFit/>
          </a:bodyPr>
          <a:lstStyle/>
          <a:p>
            <a:pPr algn="l"/>
            <a:r>
              <a:rPr sz="3000" b="1" i="0">
                <a:solidFill>
                  <a:srgbClr val="C8963A"/>
                </a:solidFill>
                <a:latin typeface="Playfair Display"/>
              </a:rPr>
              <a:t>3 %</a:t>
            </a:r>
          </a:p>
        </p:txBody>
      </p:sp>
      <p:sp>
        <p:nvSpPr>
          <p:cNvPr id="12" name="TextBox 11"/>
          <p:cNvSpPr txBox="1"/>
          <p:nvPr/>
        </p:nvSpPr>
        <p:spPr>
          <a:xfrm>
            <a:off x="4379976" y="3200400"/>
            <a:ext cx="3419856" cy="274320"/>
          </a:xfrm>
          <a:prstGeom prst="rect">
            <a:avLst/>
          </a:prstGeom>
          <a:noFill/>
        </p:spPr>
        <p:txBody>
          <a:bodyPr wrap="square" lIns="0" tIns="0" rIns="0" bIns="0" anchor="t">
            <a:spAutoFit/>
          </a:bodyPr>
          <a:lstStyle/>
          <a:p>
            <a:pPr algn="l"/>
            <a:r>
              <a:rPr sz="1000" b="0" i="0">
                <a:solidFill>
                  <a:srgbClr val="6B6670"/>
                </a:solidFill>
                <a:latin typeface="Montserrat"/>
              </a:rPr>
              <a:t>de mon potentiel transformé en événements</a:t>
            </a:r>
          </a:p>
        </p:txBody>
      </p:sp>
      <p:sp>
        <p:nvSpPr>
          <p:cNvPr id="13" name="Rectangle 12"/>
          <p:cNvSpPr/>
          <p:nvPr/>
        </p:nvSpPr>
        <p:spPr>
          <a:xfrm>
            <a:off x="8129016" y="2240280"/>
            <a:ext cx="640080" cy="54864"/>
          </a:xfrm>
          <a:prstGeom prst="rect">
            <a:avLst/>
          </a:prstGeom>
          <a:solidFill>
            <a:srgbClr val="8FA5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29016" y="2377440"/>
            <a:ext cx="3419856" cy="146194"/>
          </a:xfrm>
          <a:prstGeom prst="rect">
            <a:avLst/>
          </a:prstGeom>
          <a:noFill/>
        </p:spPr>
        <p:txBody>
          <a:bodyPr wrap="square" lIns="0" tIns="0" rIns="0" bIns="0" anchor="t">
            <a:spAutoFit/>
          </a:bodyPr>
          <a:lstStyle/>
          <a:p>
            <a:pPr algn="l"/>
            <a:r>
              <a:rPr sz="950" b="1" i="0" dirty="0">
                <a:solidFill>
                  <a:srgbClr val="8FA593"/>
                </a:solidFill>
                <a:latin typeface="Montserrat"/>
              </a:rPr>
              <a:t>03 </a:t>
            </a:r>
            <a:r>
              <a:rPr sz="950" b="1" i="0" dirty="0">
                <a:solidFill>
                  <a:srgbClr val="26232F"/>
                </a:solidFill>
                <a:latin typeface="Montserrat"/>
              </a:rPr>
              <a:t>CHIFFRE D'AFFAIRES</a:t>
            </a:r>
          </a:p>
        </p:txBody>
      </p:sp>
      <p:sp>
        <p:nvSpPr>
          <p:cNvPr id="15" name="TextBox 14"/>
          <p:cNvSpPr txBox="1"/>
          <p:nvPr/>
        </p:nvSpPr>
        <p:spPr>
          <a:xfrm>
            <a:off x="8129016" y="2651760"/>
            <a:ext cx="3419856" cy="548640"/>
          </a:xfrm>
          <a:prstGeom prst="rect">
            <a:avLst/>
          </a:prstGeom>
          <a:noFill/>
        </p:spPr>
        <p:txBody>
          <a:bodyPr wrap="square" lIns="0" tIns="0" rIns="0" bIns="0" anchor="t">
            <a:spAutoFit/>
          </a:bodyPr>
          <a:lstStyle/>
          <a:p>
            <a:pPr algn="l"/>
            <a:r>
              <a:rPr sz="3000" b="1" i="0">
                <a:solidFill>
                  <a:srgbClr val="8FA593"/>
                </a:solidFill>
                <a:latin typeface="Playfair Display"/>
              </a:rPr>
              <a:t>3,6 M€</a:t>
            </a:r>
          </a:p>
        </p:txBody>
      </p:sp>
      <p:sp>
        <p:nvSpPr>
          <p:cNvPr id="16" name="TextBox 15"/>
          <p:cNvSpPr txBox="1"/>
          <p:nvPr/>
        </p:nvSpPr>
        <p:spPr>
          <a:xfrm>
            <a:off x="8129016" y="3200400"/>
            <a:ext cx="3419856" cy="274320"/>
          </a:xfrm>
          <a:prstGeom prst="rect">
            <a:avLst/>
          </a:prstGeom>
          <a:noFill/>
        </p:spPr>
        <p:txBody>
          <a:bodyPr wrap="square" lIns="0" tIns="0" rIns="0" bIns="0" anchor="t">
            <a:spAutoFit/>
          </a:bodyPr>
          <a:lstStyle/>
          <a:p>
            <a:pPr algn="l"/>
            <a:r>
              <a:rPr sz="1000" b="0" i="0">
                <a:solidFill>
                  <a:srgbClr val="6B6670"/>
                </a:solidFill>
                <a:latin typeface="Montserrat"/>
              </a:rPr>
              <a:t>TTC en année 3, à 15 000 € par événement</a:t>
            </a:r>
          </a:p>
        </p:txBody>
      </p:sp>
      <p:sp>
        <p:nvSpPr>
          <p:cNvPr id="17" name="Chevron 16"/>
          <p:cNvSpPr/>
          <p:nvPr/>
        </p:nvSpPr>
        <p:spPr>
          <a:xfrm>
            <a:off x="4096512" y="4160520"/>
            <a:ext cx="201168" cy="365760"/>
          </a:xfrm>
          <a:prstGeom prst="chevron">
            <a:avLst/>
          </a:prstGeom>
          <a:solidFill>
            <a:srgbClr val="EAE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Chevron 17"/>
          <p:cNvSpPr/>
          <p:nvPr/>
        </p:nvSpPr>
        <p:spPr>
          <a:xfrm>
            <a:off x="7845552" y="4160520"/>
            <a:ext cx="201168" cy="365760"/>
          </a:xfrm>
          <a:prstGeom prst="chevron">
            <a:avLst/>
          </a:prstGeom>
          <a:solidFill>
            <a:srgbClr val="EAE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9" name="Chart 18"/>
          <p:cNvGraphicFramePr>
            <a:graphicFrameLocks noGrp="1"/>
          </p:cNvGraphicFramePr>
          <p:nvPr/>
        </p:nvGraphicFramePr>
        <p:xfrm>
          <a:off x="640080" y="3520440"/>
          <a:ext cx="3419856" cy="2240280"/>
        </p:xfrm>
        <a:graphic>
          <a:graphicData uri="http://schemas.openxmlformats.org/drawingml/2006/chart">
            <c:chart xmlns:c="http://schemas.openxmlformats.org/drawingml/2006/chart" xmlns:r="http://schemas.openxmlformats.org/officeDocument/2006/relationships" r:id="rId2"/>
          </a:graphicData>
        </a:graphic>
      </p:graphicFrame>
      <p:sp>
        <p:nvSpPr>
          <p:cNvPr id="20" name="TextBox 19"/>
          <p:cNvSpPr txBox="1"/>
          <p:nvPr/>
        </p:nvSpPr>
        <p:spPr>
          <a:xfrm>
            <a:off x="640080" y="5806440"/>
            <a:ext cx="3419856" cy="274320"/>
          </a:xfrm>
          <a:prstGeom prst="rect">
            <a:avLst/>
          </a:prstGeom>
          <a:noFill/>
        </p:spPr>
        <p:txBody>
          <a:bodyPr wrap="square" lIns="0" tIns="0" rIns="0" bIns="0" anchor="t">
            <a:spAutoFit/>
          </a:bodyPr>
          <a:lstStyle/>
          <a:p>
            <a:pPr algn="l"/>
            <a:r>
              <a:rPr sz="800" b="0" i="0">
                <a:solidFill>
                  <a:srgbClr val="6B6670"/>
                </a:solidFill>
                <a:latin typeface="Montserrat"/>
              </a:rPr>
              <a:t>* conseil, avocats d'affaires, Big Four, CSE de 1 000 salariés et plus</a:t>
            </a:r>
          </a:p>
        </p:txBody>
      </p:sp>
      <p:sp>
        <p:nvSpPr>
          <p:cNvPr id="21" name="Rectangle 20"/>
          <p:cNvSpPr/>
          <p:nvPr/>
        </p:nvSpPr>
        <p:spPr>
          <a:xfrm>
            <a:off x="4379976" y="5074920"/>
            <a:ext cx="1024128" cy="685800"/>
          </a:xfrm>
          <a:prstGeom prst="rect">
            <a:avLst/>
          </a:prstGeom>
          <a:solidFill>
            <a:srgbClr val="EAE1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79976" y="5129783"/>
            <a:ext cx="1024128" cy="411480"/>
          </a:xfrm>
          <a:prstGeom prst="rect">
            <a:avLst/>
          </a:prstGeom>
          <a:noFill/>
        </p:spPr>
        <p:txBody>
          <a:bodyPr wrap="square" lIns="0" tIns="0" rIns="0" bIns="0" anchor="t">
            <a:spAutoFit/>
          </a:bodyPr>
          <a:lstStyle/>
          <a:p>
            <a:pPr algn="ctr"/>
            <a:r>
              <a:rPr sz="2000" b="1" i="0">
                <a:solidFill>
                  <a:srgbClr val="1E1B2E"/>
                </a:solidFill>
                <a:latin typeface="Playfair Display"/>
              </a:rPr>
              <a:t>7</a:t>
            </a:r>
          </a:p>
        </p:txBody>
      </p:sp>
      <p:sp>
        <p:nvSpPr>
          <p:cNvPr id="23" name="TextBox 22"/>
          <p:cNvSpPr txBox="1"/>
          <p:nvPr/>
        </p:nvSpPr>
        <p:spPr>
          <a:xfrm>
            <a:off x="4379976" y="5532120"/>
            <a:ext cx="1024128" cy="201168"/>
          </a:xfrm>
          <a:prstGeom prst="rect">
            <a:avLst/>
          </a:prstGeom>
          <a:noFill/>
        </p:spPr>
        <p:txBody>
          <a:bodyPr wrap="square" lIns="0" tIns="0" rIns="0" bIns="0" anchor="t">
            <a:spAutoFit/>
          </a:bodyPr>
          <a:lstStyle/>
          <a:p>
            <a:pPr algn="ctr"/>
            <a:r>
              <a:rPr sz="850" b="0" i="0">
                <a:solidFill>
                  <a:srgbClr val="1E1B2E"/>
                </a:solidFill>
                <a:latin typeface="Montserrat"/>
              </a:rPr>
              <a:t>événements</a:t>
            </a:r>
          </a:p>
        </p:txBody>
      </p:sp>
      <p:sp>
        <p:nvSpPr>
          <p:cNvPr id="24" name="TextBox 23"/>
          <p:cNvSpPr txBox="1"/>
          <p:nvPr/>
        </p:nvSpPr>
        <p:spPr>
          <a:xfrm>
            <a:off x="4379976" y="4782312"/>
            <a:ext cx="1024128" cy="256032"/>
          </a:xfrm>
          <a:prstGeom prst="rect">
            <a:avLst/>
          </a:prstGeom>
          <a:noFill/>
        </p:spPr>
        <p:txBody>
          <a:bodyPr wrap="square" lIns="0" tIns="0" rIns="0" bIns="0" anchor="t">
            <a:spAutoFit/>
          </a:bodyPr>
          <a:lstStyle/>
          <a:p>
            <a:pPr algn="ctr"/>
            <a:r>
              <a:rPr sz="1100" b="1" i="0">
                <a:solidFill>
                  <a:srgbClr val="C8963A"/>
                </a:solidFill>
                <a:latin typeface="Montserrat"/>
              </a:rPr>
              <a:t>0,5 %</a:t>
            </a:r>
          </a:p>
        </p:txBody>
      </p:sp>
      <p:sp>
        <p:nvSpPr>
          <p:cNvPr id="25" name="TextBox 24"/>
          <p:cNvSpPr txBox="1"/>
          <p:nvPr/>
        </p:nvSpPr>
        <p:spPr>
          <a:xfrm>
            <a:off x="4379976" y="5806440"/>
            <a:ext cx="1024128" cy="365760"/>
          </a:xfrm>
          <a:prstGeom prst="rect">
            <a:avLst/>
          </a:prstGeom>
          <a:noFill/>
        </p:spPr>
        <p:txBody>
          <a:bodyPr wrap="square" lIns="0" tIns="0" rIns="0" bIns="0" anchor="t">
            <a:spAutoFit/>
          </a:bodyPr>
          <a:lstStyle/>
          <a:p>
            <a:pPr algn="ctr"/>
            <a:r>
              <a:rPr sz="950" b="1" i="0">
                <a:solidFill>
                  <a:srgbClr val="26232F"/>
                </a:solidFill>
                <a:latin typeface="Montserrat"/>
              </a:rPr>
              <a:t>Année 1</a:t>
            </a:r>
          </a:p>
          <a:p>
            <a:pPr algn="ctr"/>
            <a:r>
              <a:rPr sz="850" b="0" i="0">
                <a:solidFill>
                  <a:srgbClr val="6B6670"/>
                </a:solidFill>
                <a:latin typeface="Montserrat"/>
              </a:rPr>
              <a:t>Paris</a:t>
            </a:r>
          </a:p>
        </p:txBody>
      </p:sp>
      <p:sp>
        <p:nvSpPr>
          <p:cNvPr id="26" name="Rectangle 25"/>
          <p:cNvSpPr/>
          <p:nvPr/>
        </p:nvSpPr>
        <p:spPr>
          <a:xfrm>
            <a:off x="5577840" y="4617720"/>
            <a:ext cx="1024128" cy="1143000"/>
          </a:xfrm>
          <a:prstGeom prst="rect">
            <a:avLst/>
          </a:prstGeom>
          <a:solidFill>
            <a:srgbClr val="DDC0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577840" y="4672583"/>
            <a:ext cx="1024128" cy="411480"/>
          </a:xfrm>
          <a:prstGeom prst="rect">
            <a:avLst/>
          </a:prstGeom>
          <a:noFill/>
        </p:spPr>
        <p:txBody>
          <a:bodyPr wrap="square" lIns="0" tIns="0" rIns="0" bIns="0" anchor="t">
            <a:spAutoFit/>
          </a:bodyPr>
          <a:lstStyle/>
          <a:p>
            <a:pPr algn="ctr"/>
            <a:r>
              <a:rPr sz="2000" b="1" i="0">
                <a:solidFill>
                  <a:srgbClr val="1E1B2E"/>
                </a:solidFill>
                <a:latin typeface="Playfair Display"/>
              </a:rPr>
              <a:t>120</a:t>
            </a:r>
          </a:p>
        </p:txBody>
      </p:sp>
      <p:sp>
        <p:nvSpPr>
          <p:cNvPr id="28" name="TextBox 27"/>
          <p:cNvSpPr txBox="1"/>
          <p:nvPr/>
        </p:nvSpPr>
        <p:spPr>
          <a:xfrm>
            <a:off x="5577840" y="5074920"/>
            <a:ext cx="1024128" cy="201168"/>
          </a:xfrm>
          <a:prstGeom prst="rect">
            <a:avLst/>
          </a:prstGeom>
          <a:noFill/>
        </p:spPr>
        <p:txBody>
          <a:bodyPr wrap="square" lIns="0" tIns="0" rIns="0" bIns="0" anchor="t">
            <a:spAutoFit/>
          </a:bodyPr>
          <a:lstStyle/>
          <a:p>
            <a:pPr algn="ctr"/>
            <a:r>
              <a:rPr sz="850" b="0" i="0">
                <a:solidFill>
                  <a:srgbClr val="1E1B2E"/>
                </a:solidFill>
                <a:latin typeface="Montserrat"/>
              </a:rPr>
              <a:t>événements</a:t>
            </a:r>
          </a:p>
        </p:txBody>
      </p:sp>
      <p:sp>
        <p:nvSpPr>
          <p:cNvPr id="29" name="TextBox 28"/>
          <p:cNvSpPr txBox="1"/>
          <p:nvPr/>
        </p:nvSpPr>
        <p:spPr>
          <a:xfrm>
            <a:off x="5577840" y="4325112"/>
            <a:ext cx="1024128" cy="256032"/>
          </a:xfrm>
          <a:prstGeom prst="rect">
            <a:avLst/>
          </a:prstGeom>
          <a:noFill/>
        </p:spPr>
        <p:txBody>
          <a:bodyPr wrap="square" lIns="0" tIns="0" rIns="0" bIns="0" anchor="t">
            <a:spAutoFit/>
          </a:bodyPr>
          <a:lstStyle/>
          <a:p>
            <a:pPr algn="ctr"/>
            <a:r>
              <a:rPr sz="1100" b="1" i="0" dirty="0">
                <a:solidFill>
                  <a:srgbClr val="C8963A"/>
                </a:solidFill>
                <a:latin typeface="Montserrat"/>
              </a:rPr>
              <a:t>3,1 %</a:t>
            </a:r>
          </a:p>
        </p:txBody>
      </p:sp>
      <p:sp>
        <p:nvSpPr>
          <p:cNvPr id="30" name="TextBox 29"/>
          <p:cNvSpPr txBox="1"/>
          <p:nvPr/>
        </p:nvSpPr>
        <p:spPr>
          <a:xfrm>
            <a:off x="5577840" y="5806440"/>
            <a:ext cx="1024128" cy="365760"/>
          </a:xfrm>
          <a:prstGeom prst="rect">
            <a:avLst/>
          </a:prstGeom>
          <a:noFill/>
        </p:spPr>
        <p:txBody>
          <a:bodyPr wrap="square" lIns="0" tIns="0" rIns="0" bIns="0" anchor="t">
            <a:spAutoFit/>
          </a:bodyPr>
          <a:lstStyle/>
          <a:p>
            <a:pPr algn="ctr"/>
            <a:r>
              <a:rPr sz="950" b="1" i="0">
                <a:solidFill>
                  <a:srgbClr val="26232F"/>
                </a:solidFill>
                <a:latin typeface="Montserrat"/>
              </a:rPr>
              <a:t>Année 2</a:t>
            </a:r>
          </a:p>
          <a:p>
            <a:pPr algn="ctr"/>
            <a:r>
              <a:rPr sz="850" b="0" i="0">
                <a:solidFill>
                  <a:srgbClr val="6B6670"/>
                </a:solidFill>
                <a:latin typeface="Montserrat"/>
              </a:rPr>
              <a:t>3 villes</a:t>
            </a:r>
          </a:p>
        </p:txBody>
      </p:sp>
      <p:sp>
        <p:nvSpPr>
          <p:cNvPr id="31" name="Rectangle 30"/>
          <p:cNvSpPr/>
          <p:nvPr/>
        </p:nvSpPr>
        <p:spPr>
          <a:xfrm>
            <a:off x="6775704" y="4160520"/>
            <a:ext cx="1024128" cy="1600200"/>
          </a:xfrm>
          <a:prstGeom prst="rect">
            <a:avLst/>
          </a:prstGeom>
          <a:solidFill>
            <a:srgbClr val="C896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775704" y="4215383"/>
            <a:ext cx="1024128" cy="411480"/>
          </a:xfrm>
          <a:prstGeom prst="rect">
            <a:avLst/>
          </a:prstGeom>
          <a:noFill/>
        </p:spPr>
        <p:txBody>
          <a:bodyPr wrap="square" lIns="0" tIns="0" rIns="0" bIns="0" anchor="t">
            <a:spAutoFit/>
          </a:bodyPr>
          <a:lstStyle/>
          <a:p>
            <a:pPr algn="ctr"/>
            <a:r>
              <a:rPr sz="2000" b="1" i="0">
                <a:solidFill>
                  <a:srgbClr val="F4EEE3"/>
                </a:solidFill>
                <a:latin typeface="Playfair Display"/>
              </a:rPr>
              <a:t>240</a:t>
            </a:r>
          </a:p>
        </p:txBody>
      </p:sp>
      <p:sp>
        <p:nvSpPr>
          <p:cNvPr id="33" name="TextBox 32"/>
          <p:cNvSpPr txBox="1"/>
          <p:nvPr/>
        </p:nvSpPr>
        <p:spPr>
          <a:xfrm>
            <a:off x="6775704" y="4617720"/>
            <a:ext cx="1024128" cy="201168"/>
          </a:xfrm>
          <a:prstGeom prst="rect">
            <a:avLst/>
          </a:prstGeom>
          <a:noFill/>
        </p:spPr>
        <p:txBody>
          <a:bodyPr wrap="square" lIns="0" tIns="0" rIns="0" bIns="0" anchor="t">
            <a:spAutoFit/>
          </a:bodyPr>
          <a:lstStyle/>
          <a:p>
            <a:pPr algn="ctr"/>
            <a:r>
              <a:rPr sz="850" b="0" i="0">
                <a:solidFill>
                  <a:srgbClr val="F4EEE3"/>
                </a:solidFill>
                <a:latin typeface="Montserrat"/>
              </a:rPr>
              <a:t>événements</a:t>
            </a:r>
          </a:p>
        </p:txBody>
      </p:sp>
      <p:sp>
        <p:nvSpPr>
          <p:cNvPr id="34" name="TextBox 33"/>
          <p:cNvSpPr txBox="1"/>
          <p:nvPr/>
        </p:nvSpPr>
        <p:spPr>
          <a:xfrm>
            <a:off x="6775704" y="3867911"/>
            <a:ext cx="1024128" cy="256032"/>
          </a:xfrm>
          <a:prstGeom prst="rect">
            <a:avLst/>
          </a:prstGeom>
          <a:noFill/>
        </p:spPr>
        <p:txBody>
          <a:bodyPr wrap="square" lIns="0" tIns="0" rIns="0" bIns="0" anchor="t">
            <a:spAutoFit/>
          </a:bodyPr>
          <a:lstStyle/>
          <a:p>
            <a:pPr algn="ctr"/>
            <a:r>
              <a:rPr sz="1100" b="1" i="0" dirty="0">
                <a:solidFill>
                  <a:srgbClr val="C8963A"/>
                </a:solidFill>
                <a:latin typeface="Montserrat"/>
              </a:rPr>
              <a:t>3,1 %</a:t>
            </a:r>
          </a:p>
        </p:txBody>
      </p:sp>
      <p:sp>
        <p:nvSpPr>
          <p:cNvPr id="35" name="TextBox 34"/>
          <p:cNvSpPr txBox="1"/>
          <p:nvPr/>
        </p:nvSpPr>
        <p:spPr>
          <a:xfrm>
            <a:off x="6775704" y="5806440"/>
            <a:ext cx="1024128" cy="365760"/>
          </a:xfrm>
          <a:prstGeom prst="rect">
            <a:avLst/>
          </a:prstGeom>
          <a:noFill/>
        </p:spPr>
        <p:txBody>
          <a:bodyPr wrap="square" lIns="0" tIns="0" rIns="0" bIns="0" anchor="t">
            <a:spAutoFit/>
          </a:bodyPr>
          <a:lstStyle/>
          <a:p>
            <a:pPr algn="ctr"/>
            <a:r>
              <a:rPr sz="950" b="1" i="0">
                <a:solidFill>
                  <a:srgbClr val="26232F"/>
                </a:solidFill>
                <a:latin typeface="Montserrat"/>
              </a:rPr>
              <a:t>Année 3</a:t>
            </a:r>
          </a:p>
          <a:p>
            <a:pPr algn="ctr"/>
            <a:r>
              <a:rPr sz="850" b="0" i="0">
                <a:solidFill>
                  <a:srgbClr val="6B6670"/>
                </a:solidFill>
                <a:latin typeface="Montserrat"/>
              </a:rPr>
              <a:t>6 villes</a:t>
            </a:r>
          </a:p>
        </p:txBody>
      </p:sp>
      <p:sp>
        <p:nvSpPr>
          <p:cNvPr id="36" name="TextBox 35"/>
          <p:cNvSpPr txBox="1"/>
          <p:nvPr/>
        </p:nvSpPr>
        <p:spPr>
          <a:xfrm>
            <a:off x="4379976" y="3493008"/>
            <a:ext cx="3419856" cy="130805"/>
          </a:xfrm>
          <a:prstGeom prst="rect">
            <a:avLst/>
          </a:prstGeom>
          <a:noFill/>
        </p:spPr>
        <p:txBody>
          <a:bodyPr wrap="square" lIns="0" tIns="0" rIns="0" bIns="0" anchor="t">
            <a:spAutoFit/>
          </a:bodyPr>
          <a:lstStyle/>
          <a:p>
            <a:pPr algn="l"/>
            <a:r>
              <a:rPr sz="850" b="0" i="0" dirty="0" err="1">
                <a:solidFill>
                  <a:srgbClr val="6B6670"/>
                </a:solidFill>
                <a:latin typeface="Montserrat"/>
              </a:rPr>
              <a:t>Événements</a:t>
            </a:r>
            <a:r>
              <a:rPr sz="850" b="0" i="0" dirty="0">
                <a:solidFill>
                  <a:srgbClr val="6B6670"/>
                </a:solidFill>
                <a:latin typeface="Montserrat"/>
              </a:rPr>
              <a:t> à </a:t>
            </a:r>
            <a:r>
              <a:rPr sz="850" b="0" i="0" dirty="0" err="1">
                <a:solidFill>
                  <a:srgbClr val="6B6670"/>
                </a:solidFill>
                <a:latin typeface="Montserrat"/>
              </a:rPr>
              <a:t>vendre</a:t>
            </a:r>
            <a:r>
              <a:rPr sz="850" b="0" i="0" dirty="0">
                <a:solidFill>
                  <a:srgbClr val="6B6670"/>
                </a:solidFill>
                <a:latin typeface="Montserrat"/>
              </a:rPr>
              <a:t> et part du </a:t>
            </a:r>
            <a:r>
              <a:rPr sz="850" b="0" i="0" dirty="0" err="1">
                <a:solidFill>
                  <a:srgbClr val="6B6670"/>
                </a:solidFill>
                <a:latin typeface="Montserrat"/>
              </a:rPr>
              <a:t>potentiel</a:t>
            </a:r>
            <a:r>
              <a:rPr sz="850" b="0" i="0" dirty="0">
                <a:solidFill>
                  <a:srgbClr val="6B6670"/>
                </a:solidFill>
                <a:latin typeface="Montserrat"/>
              </a:rPr>
              <a:t> </a:t>
            </a:r>
            <a:r>
              <a:rPr sz="850" b="0" i="0" dirty="0" err="1">
                <a:solidFill>
                  <a:srgbClr val="6B6670"/>
                </a:solidFill>
                <a:latin typeface="Montserrat"/>
              </a:rPr>
              <a:t>transformée</a:t>
            </a:r>
            <a:r>
              <a:rPr lang="fr-FR" sz="850" b="0" i="0" dirty="0">
                <a:solidFill>
                  <a:srgbClr val="6B6670"/>
                </a:solidFill>
                <a:latin typeface="Montserrat"/>
              </a:rPr>
              <a:t> par ville</a:t>
            </a:r>
            <a:endParaRPr sz="850" b="0" i="0" dirty="0">
              <a:solidFill>
                <a:srgbClr val="6B6670"/>
              </a:solidFill>
              <a:latin typeface="Montserrat"/>
            </a:endParaRPr>
          </a:p>
        </p:txBody>
      </p:sp>
      <p:graphicFrame>
        <p:nvGraphicFramePr>
          <p:cNvPr id="37" name="Chart 36"/>
          <p:cNvGraphicFramePr>
            <a:graphicFrameLocks noGrp="1"/>
          </p:cNvGraphicFramePr>
          <p:nvPr/>
        </p:nvGraphicFramePr>
        <p:xfrm>
          <a:off x="8129016" y="3520440"/>
          <a:ext cx="3419856"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39" name="Slide Number Placeholder 0">
            <a:extLst>
              <a:ext uri="{FF2B5EF4-FFF2-40B4-BE49-F238E27FC236}">
                <a16:creationId xmlns:a16="http://schemas.microsoft.com/office/drawing/2014/main" id="{839DCB6F-E266-BB61-EB98-FB1150057E92}"/>
              </a:ext>
            </a:extLst>
          </p:cNvPr>
          <p:cNvSpPr>
            <a:spLocks noGrp="1"/>
          </p:cNvSpPr>
          <p:nvPr>
            <p:ph type="sldNum" sz="quarter" idx="4294967295"/>
          </p:nvPr>
        </p:nvSpPr>
        <p:spPr>
          <a:xfrm>
            <a:off x="11002975" y="6455664"/>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6"/>
          </p:nvPr>
        </p:nvSpPr>
        <p:spPr/>
        <p:txBody>
          <a:bodyPr/>
          <a:lstStyle/>
          <a:p>
            <a:r>
              <a:rPr sz="1000" b="1" i="0">
                <a:solidFill>
                  <a:srgbClr val="C2432B"/>
                </a:solidFill>
                <a:latin typeface="Montserrat"/>
              </a:rPr>
              <a:t>OPÉRATIONS</a:t>
            </a:r>
          </a:p>
        </p:txBody>
      </p:sp>
      <p:sp>
        <p:nvSpPr>
          <p:cNvPr id="3" name="Title 2"/>
          <p:cNvSpPr>
            <a:spLocks noGrp="1"/>
          </p:cNvSpPr>
          <p:nvPr>
            <p:ph type="title" idx="107"/>
          </p:nvPr>
        </p:nvSpPr>
        <p:spPr/>
        <p:txBody>
          <a:bodyPr/>
          <a:lstStyle/>
          <a:p>
            <a:r>
              <a:rPr sz="2600" b="0" i="0" dirty="0" err="1">
                <a:solidFill>
                  <a:srgbClr val="1E1B2E"/>
                </a:solidFill>
                <a:latin typeface="Playfair Display"/>
              </a:rPr>
              <a:t>Chaque</a:t>
            </a:r>
            <a:r>
              <a:rPr sz="2600" b="0" i="0" dirty="0">
                <a:solidFill>
                  <a:srgbClr val="1E1B2E"/>
                </a:solidFill>
                <a:latin typeface="Playfair Display"/>
              </a:rPr>
              <a:t> soirée </a:t>
            </a:r>
            <a:r>
              <a:rPr sz="2600" b="0" i="0" dirty="0" err="1">
                <a:solidFill>
                  <a:srgbClr val="1E1B2E"/>
                </a:solidFill>
                <a:latin typeface="Playfair Display"/>
              </a:rPr>
              <a:t>est</a:t>
            </a:r>
            <a:r>
              <a:rPr sz="2600" b="0" i="0" dirty="0">
                <a:solidFill>
                  <a:srgbClr val="1E1B2E"/>
                </a:solidFill>
                <a:latin typeface="Playfair Display"/>
              </a:rPr>
              <a:t> unique </a:t>
            </a:r>
            <a:br>
              <a:rPr sz="2600" b="0" i="0" dirty="0">
                <a:solidFill>
                  <a:srgbClr val="1E1B2E"/>
                </a:solidFill>
                <a:latin typeface="Playfair Display"/>
              </a:rPr>
            </a:br>
            <a:r>
              <a:rPr lang="en-US" sz="2600" b="0" i="0" dirty="0">
                <a:solidFill>
                  <a:srgbClr val="1E1B2E"/>
                </a:solidFill>
                <a:latin typeface="Playfair Display"/>
              </a:rPr>
              <a:t>S</a:t>
            </a:r>
            <a:r>
              <a:rPr sz="2600" b="0" i="0" dirty="0">
                <a:solidFill>
                  <a:srgbClr val="1E1B2E"/>
                </a:solidFill>
                <a:latin typeface="Playfair Display"/>
              </a:rPr>
              <a:t>a production, un process </a:t>
            </a:r>
            <a:r>
              <a:rPr sz="2600" b="0" i="0" dirty="0" err="1">
                <a:solidFill>
                  <a:srgbClr val="1E1B2E"/>
                </a:solidFill>
                <a:latin typeface="Playfair Display"/>
              </a:rPr>
              <a:t>maitrisé</a:t>
            </a:r>
            <a:r>
              <a:rPr sz="2600" b="0" i="0" dirty="0">
                <a:solidFill>
                  <a:srgbClr val="1E1B2E"/>
                </a:solidFill>
                <a:latin typeface="Playfair Display"/>
              </a:rPr>
              <a:t> et scalable</a:t>
            </a:r>
          </a:p>
        </p:txBody>
      </p:sp>
      <p:sp>
        <p:nvSpPr>
          <p:cNvPr id="4" name="Filet maillon 1"/>
          <p:cNvSpPr/>
          <p:nvPr/>
        </p:nvSpPr>
        <p:spPr>
          <a:xfrm>
            <a:off x="640080" y="2286000"/>
            <a:ext cx="1704289" cy="54864"/>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itre maillon 1"/>
          <p:cNvSpPr txBox="1"/>
          <p:nvPr/>
        </p:nvSpPr>
        <p:spPr>
          <a:xfrm>
            <a:off x="640080" y="2404872"/>
            <a:ext cx="1704289" cy="320040"/>
          </a:xfrm>
          <a:prstGeom prst="rect">
            <a:avLst/>
          </a:prstGeom>
          <a:noFill/>
        </p:spPr>
        <p:txBody>
          <a:bodyPr wrap="square" lIns="0" tIns="0" rIns="0" bIns="0" anchor="t">
            <a:spAutoFit/>
          </a:bodyPr>
          <a:lstStyle/>
          <a:p>
            <a:r>
              <a:rPr sz="1500" b="0" i="0">
                <a:solidFill>
                  <a:srgbClr val="1E1B2E"/>
                </a:solidFill>
                <a:latin typeface="Playfair Display"/>
              </a:rPr>
              <a:t>Drop en ligne</a:t>
            </a:r>
          </a:p>
        </p:txBody>
      </p:sp>
      <p:sp>
        <p:nvSpPr>
          <p:cNvPr id="6" name="Texte maillon 1"/>
          <p:cNvSpPr txBox="1"/>
          <p:nvPr/>
        </p:nvSpPr>
        <p:spPr>
          <a:xfrm>
            <a:off x="640080" y="2752344"/>
            <a:ext cx="1704289" cy="307777"/>
          </a:xfrm>
          <a:prstGeom prst="rect">
            <a:avLst/>
          </a:prstGeom>
          <a:noFill/>
        </p:spPr>
        <p:txBody>
          <a:bodyPr wrap="square" lIns="0" tIns="0" rIns="0" bIns="0" anchor="t">
            <a:spAutoFit/>
          </a:bodyPr>
          <a:lstStyle/>
          <a:p>
            <a:r>
              <a:rPr lang="en-GB" sz="1000" b="0" i="0" dirty="0">
                <a:solidFill>
                  <a:srgbClr val="26232F"/>
                </a:solidFill>
                <a:latin typeface="Montserrat"/>
              </a:rPr>
              <a:t>Places</a:t>
            </a:r>
            <a:r>
              <a:rPr sz="1000" b="0" i="0" dirty="0">
                <a:solidFill>
                  <a:srgbClr val="26232F"/>
                </a:solidFill>
                <a:latin typeface="Montserrat"/>
              </a:rPr>
              <a:t> </a:t>
            </a:r>
            <a:r>
              <a:rPr sz="1000" b="0" i="0" dirty="0" err="1">
                <a:solidFill>
                  <a:srgbClr val="26232F"/>
                </a:solidFill>
                <a:latin typeface="Montserrat"/>
              </a:rPr>
              <a:t>vendu</a:t>
            </a:r>
            <a:r>
              <a:rPr lang="en-GB" sz="1000" b="0" i="0" dirty="0">
                <a:solidFill>
                  <a:srgbClr val="26232F"/>
                </a:solidFill>
                <a:latin typeface="Montserrat"/>
              </a:rPr>
              <a:t>es</a:t>
            </a:r>
            <a:r>
              <a:rPr sz="1000" b="0" i="0" dirty="0">
                <a:solidFill>
                  <a:srgbClr val="26232F"/>
                </a:solidFill>
                <a:latin typeface="Montserrat"/>
              </a:rPr>
              <a:t> </a:t>
            </a:r>
            <a:r>
              <a:rPr sz="1000" b="0" i="0" dirty="0" err="1">
                <a:solidFill>
                  <a:srgbClr val="26232F"/>
                </a:solidFill>
                <a:latin typeface="Montserrat"/>
              </a:rPr>
              <a:t>d’avance</a:t>
            </a:r>
            <a:r>
              <a:rPr lang="fr-FR" sz="1000" b="0" i="0" dirty="0">
                <a:solidFill>
                  <a:srgbClr val="26232F"/>
                </a:solidFill>
                <a:latin typeface="Montserrat"/>
              </a:rPr>
              <a:t>,</a:t>
            </a:r>
            <a:r>
              <a:rPr lang="fr-FR" sz="1000" dirty="0">
                <a:solidFill>
                  <a:srgbClr val="26232F"/>
                </a:solidFill>
                <a:latin typeface="Montserrat"/>
              </a:rPr>
              <a:t> </a:t>
            </a:r>
          </a:p>
          <a:p>
            <a:r>
              <a:rPr lang="fr-FR" sz="1000" dirty="0">
                <a:solidFill>
                  <a:srgbClr val="26232F"/>
                </a:solidFill>
                <a:latin typeface="Montserrat"/>
              </a:rPr>
              <a:t>r</a:t>
            </a:r>
            <a:r>
              <a:rPr lang="fr-FR" sz="1000" b="0" i="0" dirty="0">
                <a:solidFill>
                  <a:srgbClr val="26232F"/>
                </a:solidFill>
                <a:latin typeface="Montserrat"/>
              </a:rPr>
              <a:t>evenus sécurisé</a:t>
            </a:r>
            <a:endParaRPr sz="1000" b="0" i="0" dirty="0">
              <a:solidFill>
                <a:srgbClr val="26232F"/>
              </a:solidFill>
              <a:latin typeface="Montserrat"/>
            </a:endParaRPr>
          </a:p>
        </p:txBody>
      </p:sp>
      <p:sp>
        <p:nvSpPr>
          <p:cNvPr id="7" name="Filet maillon 2"/>
          <p:cNvSpPr/>
          <p:nvPr/>
        </p:nvSpPr>
        <p:spPr>
          <a:xfrm>
            <a:off x="2481529" y="2286000"/>
            <a:ext cx="1704289" cy="54864"/>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itre maillon 2"/>
          <p:cNvSpPr txBox="1"/>
          <p:nvPr/>
        </p:nvSpPr>
        <p:spPr>
          <a:xfrm>
            <a:off x="2481529" y="2404872"/>
            <a:ext cx="1704289" cy="320040"/>
          </a:xfrm>
          <a:prstGeom prst="rect">
            <a:avLst/>
          </a:prstGeom>
          <a:noFill/>
        </p:spPr>
        <p:txBody>
          <a:bodyPr wrap="square" lIns="0" tIns="0" rIns="0" bIns="0" anchor="t">
            <a:spAutoFit/>
          </a:bodyPr>
          <a:lstStyle/>
          <a:p>
            <a:r>
              <a:rPr sz="1500" b="0" i="0">
                <a:solidFill>
                  <a:srgbClr val="1E1B2E"/>
                </a:solidFill>
                <a:latin typeface="Playfair Display"/>
              </a:rPr>
              <a:t>Restaurant</a:t>
            </a:r>
          </a:p>
        </p:txBody>
      </p:sp>
      <p:sp>
        <p:nvSpPr>
          <p:cNvPr id="9" name="Texte maillon 2"/>
          <p:cNvSpPr txBox="1"/>
          <p:nvPr/>
        </p:nvSpPr>
        <p:spPr>
          <a:xfrm>
            <a:off x="2481529" y="2752344"/>
            <a:ext cx="1704289" cy="461665"/>
          </a:xfrm>
          <a:prstGeom prst="rect">
            <a:avLst/>
          </a:prstGeom>
          <a:noFill/>
        </p:spPr>
        <p:txBody>
          <a:bodyPr wrap="square" lIns="0" tIns="0" rIns="0" bIns="0" anchor="t">
            <a:spAutoFit/>
          </a:bodyPr>
          <a:lstStyle/>
          <a:p>
            <a:r>
              <a:rPr lang="fr-FR" sz="1000" b="0" i="0" dirty="0">
                <a:solidFill>
                  <a:srgbClr val="26232F"/>
                </a:solidFill>
                <a:latin typeface="Montserrat"/>
              </a:rPr>
              <a:t>Lieu</a:t>
            </a:r>
            <a:r>
              <a:rPr sz="1000" b="0" i="0" dirty="0">
                <a:solidFill>
                  <a:srgbClr val="26232F"/>
                </a:solidFill>
                <a:latin typeface="Montserrat"/>
              </a:rPr>
              <a:t> </a:t>
            </a:r>
            <a:r>
              <a:rPr sz="1000" b="0" i="0" dirty="0" err="1">
                <a:solidFill>
                  <a:srgbClr val="26232F"/>
                </a:solidFill>
                <a:latin typeface="Montserrat"/>
              </a:rPr>
              <a:t>loué</a:t>
            </a:r>
            <a:r>
              <a:rPr sz="1000" b="0" i="0" dirty="0">
                <a:solidFill>
                  <a:srgbClr val="26232F"/>
                </a:solidFill>
                <a:latin typeface="Montserrat"/>
              </a:rPr>
              <a:t> </a:t>
            </a:r>
            <a:r>
              <a:rPr lang="fr-FR" sz="1000" b="0" i="0" dirty="0">
                <a:solidFill>
                  <a:srgbClr val="26232F"/>
                </a:solidFill>
                <a:latin typeface="Montserrat"/>
              </a:rPr>
              <a:t>un</a:t>
            </a:r>
            <a:r>
              <a:rPr sz="1000" b="0" i="0" dirty="0">
                <a:solidFill>
                  <a:srgbClr val="26232F"/>
                </a:solidFill>
                <a:latin typeface="Montserrat"/>
              </a:rPr>
              <a:t> </a:t>
            </a:r>
            <a:r>
              <a:rPr sz="1000" b="0" i="0" dirty="0" err="1">
                <a:solidFill>
                  <a:srgbClr val="26232F"/>
                </a:solidFill>
                <a:latin typeface="Montserrat"/>
              </a:rPr>
              <a:t>soir</a:t>
            </a:r>
            <a:r>
              <a:rPr sz="1000" b="0" i="0" dirty="0">
                <a:solidFill>
                  <a:srgbClr val="26232F"/>
                </a:solidFill>
                <a:latin typeface="Montserrat"/>
              </a:rPr>
              <a:t> de fermeture ; état des </a:t>
            </a:r>
            <a:r>
              <a:rPr sz="1000" b="0" i="0" dirty="0" err="1">
                <a:solidFill>
                  <a:srgbClr val="26232F"/>
                </a:solidFill>
                <a:latin typeface="Montserrat"/>
              </a:rPr>
              <a:t>lieux</a:t>
            </a:r>
            <a:r>
              <a:rPr sz="1000" b="0" i="0" dirty="0">
                <a:solidFill>
                  <a:srgbClr val="26232F"/>
                </a:solidFill>
                <a:latin typeface="Montserrat"/>
              </a:rPr>
              <a:t> à </a:t>
            </a:r>
            <a:r>
              <a:rPr sz="1000" b="0" i="0" dirty="0" err="1">
                <a:solidFill>
                  <a:srgbClr val="26232F"/>
                </a:solidFill>
                <a:latin typeface="Montserrat"/>
              </a:rPr>
              <a:t>l’entrée</a:t>
            </a:r>
            <a:r>
              <a:rPr sz="1000" b="0" i="0" dirty="0">
                <a:solidFill>
                  <a:srgbClr val="26232F"/>
                </a:solidFill>
                <a:latin typeface="Montserrat"/>
              </a:rPr>
              <a:t> et à la sortie</a:t>
            </a:r>
          </a:p>
        </p:txBody>
      </p:sp>
      <p:sp>
        <p:nvSpPr>
          <p:cNvPr id="10" name="Filet maillon 3"/>
          <p:cNvSpPr/>
          <p:nvPr/>
        </p:nvSpPr>
        <p:spPr>
          <a:xfrm>
            <a:off x="4322978" y="2286000"/>
            <a:ext cx="1704289" cy="54864"/>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itre maillon 3"/>
          <p:cNvSpPr txBox="1"/>
          <p:nvPr/>
        </p:nvSpPr>
        <p:spPr>
          <a:xfrm>
            <a:off x="4322978" y="2404872"/>
            <a:ext cx="1704289" cy="320040"/>
          </a:xfrm>
          <a:prstGeom prst="rect">
            <a:avLst/>
          </a:prstGeom>
          <a:noFill/>
        </p:spPr>
        <p:txBody>
          <a:bodyPr wrap="square" lIns="0" tIns="0" rIns="0" bIns="0" anchor="t">
            <a:spAutoFit/>
          </a:bodyPr>
          <a:lstStyle/>
          <a:p>
            <a:r>
              <a:rPr sz="1500" b="0" i="0">
                <a:solidFill>
                  <a:srgbClr val="1E1B2E"/>
                </a:solidFill>
                <a:latin typeface="Playfair Display"/>
              </a:rPr>
              <a:t>Chef</a:t>
            </a:r>
          </a:p>
        </p:txBody>
      </p:sp>
      <p:sp>
        <p:nvSpPr>
          <p:cNvPr id="12" name="Texte maillon 3"/>
          <p:cNvSpPr txBox="1"/>
          <p:nvPr/>
        </p:nvSpPr>
        <p:spPr>
          <a:xfrm>
            <a:off x="4322978" y="2752344"/>
            <a:ext cx="1704289" cy="740664"/>
          </a:xfrm>
          <a:prstGeom prst="rect">
            <a:avLst/>
          </a:prstGeom>
          <a:noFill/>
        </p:spPr>
        <p:txBody>
          <a:bodyPr wrap="square" lIns="0" tIns="0" rIns="0" bIns="0" anchor="t">
            <a:spAutoFit/>
          </a:bodyPr>
          <a:lstStyle/>
          <a:p>
            <a:r>
              <a:rPr sz="1000" b="0" i="0">
                <a:solidFill>
                  <a:srgbClr val="26232F"/>
                </a:solidFill>
                <a:latin typeface="Montserrat"/>
              </a:rPr>
              <a:t>Contrat et cahier des charges : menu signature, pensé pour l’envoi</a:t>
            </a:r>
          </a:p>
        </p:txBody>
      </p:sp>
      <p:sp>
        <p:nvSpPr>
          <p:cNvPr id="13" name="Filet maillon 4"/>
          <p:cNvSpPr/>
          <p:nvPr/>
        </p:nvSpPr>
        <p:spPr>
          <a:xfrm>
            <a:off x="6164427" y="2286000"/>
            <a:ext cx="1704289" cy="54864"/>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itre maillon 4"/>
          <p:cNvSpPr txBox="1"/>
          <p:nvPr/>
        </p:nvSpPr>
        <p:spPr>
          <a:xfrm>
            <a:off x="6164427" y="2404872"/>
            <a:ext cx="1704289" cy="320040"/>
          </a:xfrm>
          <a:prstGeom prst="rect">
            <a:avLst/>
          </a:prstGeom>
          <a:noFill/>
        </p:spPr>
        <p:txBody>
          <a:bodyPr wrap="square" lIns="0" tIns="0" rIns="0" bIns="0" anchor="t">
            <a:spAutoFit/>
          </a:bodyPr>
          <a:lstStyle/>
          <a:p>
            <a:r>
              <a:rPr sz="1500" b="0" i="0">
                <a:solidFill>
                  <a:srgbClr val="1E1B2E"/>
                </a:solidFill>
                <a:latin typeface="Playfair Display"/>
              </a:rPr>
              <a:t>Fournisseurs</a:t>
            </a:r>
          </a:p>
        </p:txBody>
      </p:sp>
      <p:sp>
        <p:nvSpPr>
          <p:cNvPr id="15" name="Texte maillon 4"/>
          <p:cNvSpPr txBox="1"/>
          <p:nvPr/>
        </p:nvSpPr>
        <p:spPr>
          <a:xfrm>
            <a:off x="6164427" y="2752344"/>
            <a:ext cx="1704289" cy="461665"/>
          </a:xfrm>
          <a:prstGeom prst="rect">
            <a:avLst/>
          </a:prstGeom>
          <a:noFill/>
        </p:spPr>
        <p:txBody>
          <a:bodyPr wrap="square" lIns="0" tIns="0" rIns="0" bIns="0" anchor="t">
            <a:spAutoFit/>
          </a:bodyPr>
          <a:lstStyle/>
          <a:p>
            <a:r>
              <a:rPr lang="fr-FR" sz="1000" b="0" i="0" dirty="0">
                <a:solidFill>
                  <a:srgbClr val="26232F"/>
                </a:solidFill>
                <a:latin typeface="Montserrat"/>
              </a:rPr>
              <a:t>Nos fournisseurs, des achats maitrisés et une traçabilité assurée</a:t>
            </a:r>
            <a:endParaRPr sz="1000" b="0" i="0" dirty="0">
              <a:solidFill>
                <a:srgbClr val="26232F"/>
              </a:solidFill>
              <a:latin typeface="Montserrat"/>
            </a:endParaRPr>
          </a:p>
        </p:txBody>
      </p:sp>
      <p:sp>
        <p:nvSpPr>
          <p:cNvPr id="16" name="Filet maillon 5"/>
          <p:cNvSpPr/>
          <p:nvPr/>
        </p:nvSpPr>
        <p:spPr>
          <a:xfrm>
            <a:off x="8005876" y="2286000"/>
            <a:ext cx="1704289" cy="54864"/>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itre maillon 5"/>
          <p:cNvSpPr txBox="1"/>
          <p:nvPr/>
        </p:nvSpPr>
        <p:spPr>
          <a:xfrm>
            <a:off x="8005876" y="2404872"/>
            <a:ext cx="1704289" cy="320040"/>
          </a:xfrm>
          <a:prstGeom prst="rect">
            <a:avLst/>
          </a:prstGeom>
          <a:noFill/>
        </p:spPr>
        <p:txBody>
          <a:bodyPr wrap="square" lIns="0" tIns="0" rIns="0" bIns="0" anchor="t">
            <a:spAutoFit/>
          </a:bodyPr>
          <a:lstStyle/>
          <a:p>
            <a:r>
              <a:rPr sz="1500" b="0" i="0">
                <a:solidFill>
                  <a:srgbClr val="1E1B2E"/>
                </a:solidFill>
                <a:latin typeface="Playfair Display"/>
              </a:rPr>
              <a:t>AdVini</a:t>
            </a:r>
          </a:p>
        </p:txBody>
      </p:sp>
      <p:sp>
        <p:nvSpPr>
          <p:cNvPr id="18" name="Texte maillon 5"/>
          <p:cNvSpPr txBox="1"/>
          <p:nvPr/>
        </p:nvSpPr>
        <p:spPr>
          <a:xfrm>
            <a:off x="8005876" y="2752344"/>
            <a:ext cx="1704289" cy="461665"/>
          </a:xfrm>
          <a:prstGeom prst="rect">
            <a:avLst/>
          </a:prstGeom>
          <a:noFill/>
        </p:spPr>
        <p:txBody>
          <a:bodyPr wrap="square" lIns="0" tIns="0" rIns="0" bIns="0" anchor="t">
            <a:spAutoFit/>
          </a:bodyPr>
          <a:lstStyle/>
          <a:p>
            <a:r>
              <a:rPr lang="fr-FR" sz="1000" b="0" i="0" dirty="0">
                <a:solidFill>
                  <a:srgbClr val="26232F"/>
                </a:solidFill>
                <a:latin typeface="Montserrat"/>
              </a:rPr>
              <a:t>Un partenariat privilégié avec une grand maison de vins</a:t>
            </a:r>
            <a:endParaRPr sz="1000" b="0" i="0" dirty="0">
              <a:solidFill>
                <a:srgbClr val="26232F"/>
              </a:solidFill>
              <a:latin typeface="Montserrat"/>
            </a:endParaRPr>
          </a:p>
        </p:txBody>
      </p:sp>
      <p:sp>
        <p:nvSpPr>
          <p:cNvPr id="19" name="Filet maillon 6"/>
          <p:cNvSpPr/>
          <p:nvPr/>
        </p:nvSpPr>
        <p:spPr>
          <a:xfrm>
            <a:off x="9847325" y="2286000"/>
            <a:ext cx="1704289" cy="54864"/>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itre maillon 6"/>
          <p:cNvSpPr txBox="1"/>
          <p:nvPr/>
        </p:nvSpPr>
        <p:spPr>
          <a:xfrm>
            <a:off x="9847325" y="2404872"/>
            <a:ext cx="1704289" cy="320040"/>
          </a:xfrm>
          <a:prstGeom prst="rect">
            <a:avLst/>
          </a:prstGeom>
          <a:noFill/>
        </p:spPr>
        <p:txBody>
          <a:bodyPr wrap="square" lIns="0" tIns="0" rIns="0" bIns="0" anchor="t">
            <a:spAutoFit/>
          </a:bodyPr>
          <a:lstStyle/>
          <a:p>
            <a:r>
              <a:rPr sz="1500" b="0" i="0">
                <a:solidFill>
                  <a:srgbClr val="1E1B2E"/>
                </a:solidFill>
                <a:latin typeface="Playfair Display"/>
              </a:rPr>
              <a:t>Staff</a:t>
            </a:r>
          </a:p>
        </p:txBody>
      </p:sp>
      <p:sp>
        <p:nvSpPr>
          <p:cNvPr id="21" name="Texte maillon 6"/>
          <p:cNvSpPr txBox="1"/>
          <p:nvPr/>
        </p:nvSpPr>
        <p:spPr>
          <a:xfrm>
            <a:off x="9847325" y="2752344"/>
            <a:ext cx="1704289" cy="740664"/>
          </a:xfrm>
          <a:prstGeom prst="rect">
            <a:avLst/>
          </a:prstGeom>
          <a:noFill/>
        </p:spPr>
        <p:txBody>
          <a:bodyPr wrap="square" lIns="0" tIns="0" rIns="0" bIns="0" anchor="t">
            <a:spAutoFit/>
          </a:bodyPr>
          <a:lstStyle/>
          <a:p>
            <a:r>
              <a:rPr sz="1000" b="0" i="0">
                <a:solidFill>
                  <a:srgbClr val="26232F"/>
                </a:solidFill>
                <a:latin typeface="Montserrat"/>
              </a:rPr>
              <a:t>Extras d’agences spécialisées, toujours les mêmes quand c’est possible</a:t>
            </a:r>
          </a:p>
        </p:txBody>
      </p:sp>
      <p:sp>
        <p:nvSpPr>
          <p:cNvPr id="22" name="Encadré valeur"/>
          <p:cNvSpPr/>
          <p:nvPr/>
        </p:nvSpPr>
        <p:spPr>
          <a:xfrm>
            <a:off x="640080" y="3611880"/>
            <a:ext cx="10911535" cy="1188720"/>
          </a:xfrm>
          <a:prstGeom prst="rect">
            <a:avLst/>
          </a:prstGeom>
          <a:solidFill>
            <a:srgbClr val="EAE1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Filet encadré"/>
          <p:cNvSpPr/>
          <p:nvPr/>
        </p:nvSpPr>
        <p:spPr>
          <a:xfrm>
            <a:off x="640080" y="3611880"/>
            <a:ext cx="73152" cy="1188720"/>
          </a:xfrm>
          <a:prstGeom prst="rect">
            <a:avLst/>
          </a:prstGeom>
          <a:solidFill>
            <a:srgbClr val="C24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Chiffre rétroplanning"/>
          <p:cNvSpPr txBox="1"/>
          <p:nvPr/>
        </p:nvSpPr>
        <p:spPr>
          <a:xfrm>
            <a:off x="960120" y="3749040"/>
            <a:ext cx="1600200" cy="640080"/>
          </a:xfrm>
          <a:prstGeom prst="rect">
            <a:avLst/>
          </a:prstGeom>
          <a:noFill/>
        </p:spPr>
        <p:txBody>
          <a:bodyPr wrap="square" lIns="0" tIns="0" rIns="0" bIns="0" anchor="t">
            <a:spAutoFit/>
          </a:bodyPr>
          <a:lstStyle/>
          <a:p>
            <a:pPr algn="l"/>
            <a:r>
              <a:rPr sz="4400" b="0" i="0">
                <a:solidFill>
                  <a:srgbClr val="C2432B"/>
                </a:solidFill>
                <a:latin typeface="Playfair Display"/>
              </a:rPr>
              <a:t>1</a:t>
            </a:r>
          </a:p>
        </p:txBody>
      </p:sp>
      <p:sp>
        <p:nvSpPr>
          <p:cNvPr id="25" name="Légende rétroplanning"/>
          <p:cNvSpPr txBox="1"/>
          <p:nvPr/>
        </p:nvSpPr>
        <p:spPr>
          <a:xfrm>
            <a:off x="960120" y="4389120"/>
            <a:ext cx="1828800" cy="320040"/>
          </a:xfrm>
          <a:prstGeom prst="rect">
            <a:avLst/>
          </a:prstGeom>
          <a:noFill/>
        </p:spPr>
        <p:txBody>
          <a:bodyPr wrap="square" lIns="0" tIns="0" rIns="0" bIns="0" anchor="t">
            <a:spAutoFit/>
          </a:bodyPr>
          <a:lstStyle/>
          <a:p>
            <a:r>
              <a:rPr sz="1000" b="0" i="0">
                <a:solidFill>
                  <a:srgbClr val="26232F"/>
                </a:solidFill>
                <a:latin typeface="Montserrat"/>
              </a:rPr>
              <a:t>rétroplanning, de S-12 à J+7</a:t>
            </a:r>
          </a:p>
        </p:txBody>
      </p:sp>
      <p:sp>
        <p:nvSpPr>
          <p:cNvPr id="26" name="Chiffre process"/>
          <p:cNvSpPr txBox="1"/>
          <p:nvPr/>
        </p:nvSpPr>
        <p:spPr>
          <a:xfrm>
            <a:off x="3017520" y="3749040"/>
            <a:ext cx="1600200" cy="640080"/>
          </a:xfrm>
          <a:prstGeom prst="rect">
            <a:avLst/>
          </a:prstGeom>
          <a:noFill/>
        </p:spPr>
        <p:txBody>
          <a:bodyPr wrap="square" lIns="0" tIns="0" rIns="0" bIns="0" anchor="t">
            <a:spAutoFit/>
          </a:bodyPr>
          <a:lstStyle/>
          <a:p>
            <a:pPr algn="l"/>
            <a:r>
              <a:rPr sz="4400" b="0" i="0">
                <a:solidFill>
                  <a:srgbClr val="C2432B"/>
                </a:solidFill>
                <a:latin typeface="Playfair Display"/>
              </a:rPr>
              <a:t>10</a:t>
            </a:r>
          </a:p>
        </p:txBody>
      </p:sp>
      <p:sp>
        <p:nvSpPr>
          <p:cNvPr id="27" name="Légende process"/>
          <p:cNvSpPr txBox="1"/>
          <p:nvPr/>
        </p:nvSpPr>
        <p:spPr>
          <a:xfrm>
            <a:off x="3017520" y="4389120"/>
            <a:ext cx="1828800" cy="320040"/>
          </a:xfrm>
          <a:prstGeom prst="rect">
            <a:avLst/>
          </a:prstGeom>
          <a:noFill/>
        </p:spPr>
        <p:txBody>
          <a:bodyPr wrap="square" lIns="0" tIns="0" rIns="0" bIns="0" anchor="t">
            <a:spAutoFit/>
          </a:bodyPr>
          <a:lstStyle/>
          <a:p>
            <a:r>
              <a:rPr sz="1000" b="0" i="0">
                <a:solidFill>
                  <a:srgbClr val="26232F"/>
                </a:solidFill>
                <a:latin typeface="Montserrat"/>
              </a:rPr>
              <a:t>process, de PR-01 à PR-10</a:t>
            </a:r>
          </a:p>
        </p:txBody>
      </p:sp>
      <p:sp>
        <p:nvSpPr>
          <p:cNvPr id="28" name="Séparateur"/>
          <p:cNvSpPr/>
          <p:nvPr/>
        </p:nvSpPr>
        <p:spPr>
          <a:xfrm>
            <a:off x="5303520" y="3840480"/>
            <a:ext cx="9144" cy="731520"/>
          </a:xfrm>
          <a:prstGeom prst="rect">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Message valeur"/>
          <p:cNvSpPr txBox="1"/>
          <p:nvPr/>
        </p:nvSpPr>
        <p:spPr>
          <a:xfrm>
            <a:off x="5623560" y="3844602"/>
            <a:ext cx="5608015" cy="723275"/>
          </a:xfrm>
          <a:prstGeom prst="rect">
            <a:avLst/>
          </a:prstGeom>
          <a:noFill/>
        </p:spPr>
        <p:txBody>
          <a:bodyPr wrap="square" lIns="0" tIns="0" rIns="0" bIns="0" anchor="ctr">
            <a:spAutoFit/>
          </a:bodyPr>
          <a:lstStyle/>
          <a:p>
            <a:r>
              <a:rPr sz="2000" b="0" i="0" dirty="0" err="1">
                <a:solidFill>
                  <a:srgbClr val="1E1B2E"/>
                </a:solidFill>
                <a:latin typeface="Playfair Display"/>
              </a:rPr>
              <a:t>C’est</a:t>
            </a:r>
            <a:r>
              <a:rPr sz="2000" b="0" i="0" dirty="0">
                <a:solidFill>
                  <a:srgbClr val="1E1B2E"/>
                </a:solidFill>
                <a:latin typeface="Playfair Display"/>
              </a:rPr>
              <a:t> </a:t>
            </a:r>
            <a:r>
              <a:rPr sz="2000" b="0" i="0" dirty="0" err="1">
                <a:solidFill>
                  <a:srgbClr val="1E1B2E"/>
                </a:solidFill>
                <a:latin typeface="Playfair Display"/>
              </a:rPr>
              <a:t>là</a:t>
            </a:r>
            <a:r>
              <a:rPr sz="2000" b="0" i="0" dirty="0">
                <a:solidFill>
                  <a:srgbClr val="1E1B2E"/>
                </a:solidFill>
                <a:latin typeface="Playfair Display"/>
              </a:rPr>
              <a:t> que </a:t>
            </a:r>
            <a:r>
              <a:rPr sz="2000" b="0" i="0" dirty="0" err="1">
                <a:solidFill>
                  <a:srgbClr val="1E1B2E"/>
                </a:solidFill>
                <a:latin typeface="Playfair Display"/>
              </a:rPr>
              <a:t>réside</a:t>
            </a:r>
            <a:r>
              <a:rPr sz="2000" b="0" i="0" dirty="0">
                <a:solidFill>
                  <a:srgbClr val="1E1B2E"/>
                </a:solidFill>
                <a:latin typeface="Playfair Display"/>
              </a:rPr>
              <a:t> la </a:t>
            </a:r>
            <a:r>
              <a:rPr sz="2000" b="0" i="0" dirty="0" err="1">
                <a:solidFill>
                  <a:srgbClr val="1E1B2E"/>
                </a:solidFill>
                <a:latin typeface="Playfair Display"/>
              </a:rPr>
              <a:t>valeur</a:t>
            </a:r>
            <a:r>
              <a:rPr sz="2000" b="0" i="0" dirty="0">
                <a:solidFill>
                  <a:srgbClr val="1E1B2E"/>
                </a:solidFill>
                <a:latin typeface="Playfair Display"/>
              </a:rPr>
              <a:t> de Pop Tables</a:t>
            </a:r>
          </a:p>
          <a:p>
            <a:pPr>
              <a:spcBef>
                <a:spcPts val="600"/>
              </a:spcBef>
            </a:pPr>
            <a:r>
              <a:rPr sz="1100" b="0" i="0" dirty="0" err="1">
                <a:solidFill>
                  <a:srgbClr val="26232F"/>
                </a:solidFill>
                <a:latin typeface="Montserrat"/>
              </a:rPr>
              <a:t>Chaque</a:t>
            </a:r>
            <a:r>
              <a:rPr sz="1100" b="0" i="0" dirty="0">
                <a:solidFill>
                  <a:srgbClr val="26232F"/>
                </a:solidFill>
                <a:latin typeface="Montserrat"/>
              </a:rPr>
              <a:t> étape </a:t>
            </a:r>
            <a:r>
              <a:rPr sz="1100" b="0" i="0" dirty="0" err="1">
                <a:solidFill>
                  <a:srgbClr val="26232F"/>
                </a:solidFill>
                <a:latin typeface="Montserrat"/>
              </a:rPr>
              <a:t>d’une</a:t>
            </a:r>
            <a:r>
              <a:rPr sz="1100" b="0" i="0" dirty="0">
                <a:solidFill>
                  <a:srgbClr val="26232F"/>
                </a:solidFill>
                <a:latin typeface="Montserrat"/>
              </a:rPr>
              <a:t> soirée </a:t>
            </a:r>
            <a:r>
              <a:rPr sz="1100" b="0" i="0" dirty="0" err="1">
                <a:solidFill>
                  <a:srgbClr val="26232F"/>
                </a:solidFill>
                <a:latin typeface="Montserrat"/>
              </a:rPr>
              <a:t>est</a:t>
            </a:r>
            <a:r>
              <a:rPr sz="1100" b="0" i="0" dirty="0">
                <a:solidFill>
                  <a:srgbClr val="26232F"/>
                </a:solidFill>
                <a:latin typeface="Montserrat"/>
              </a:rPr>
              <a:t> déjà </a:t>
            </a:r>
            <a:r>
              <a:rPr sz="1100" b="0" i="0" dirty="0" err="1">
                <a:solidFill>
                  <a:srgbClr val="26232F"/>
                </a:solidFill>
                <a:latin typeface="Montserrat"/>
              </a:rPr>
              <a:t>processée</a:t>
            </a:r>
            <a:r>
              <a:rPr sz="1100" b="0" i="0" dirty="0">
                <a:solidFill>
                  <a:srgbClr val="26232F"/>
                </a:solidFill>
                <a:latin typeface="Montserrat"/>
              </a:rPr>
              <a:t>, de la qualification du lieu au </a:t>
            </a:r>
            <a:r>
              <a:rPr sz="1100" b="0" i="0" dirty="0" err="1">
                <a:solidFill>
                  <a:srgbClr val="26232F"/>
                </a:solidFill>
                <a:latin typeface="Montserrat"/>
              </a:rPr>
              <a:t>bilan</a:t>
            </a:r>
            <a:r>
              <a:rPr sz="1100" b="0" i="0" dirty="0">
                <a:solidFill>
                  <a:srgbClr val="26232F"/>
                </a:solidFill>
                <a:latin typeface="Montserrat"/>
              </a:rPr>
              <a:t>. </a:t>
            </a:r>
            <a:r>
              <a:rPr sz="1100" b="0" i="0" dirty="0" err="1">
                <a:solidFill>
                  <a:srgbClr val="26232F"/>
                </a:solidFill>
                <a:latin typeface="Montserrat"/>
              </a:rPr>
              <a:t>C’est</a:t>
            </a:r>
            <a:r>
              <a:rPr sz="1100" b="0" i="0" dirty="0">
                <a:solidFill>
                  <a:srgbClr val="26232F"/>
                </a:solidFill>
                <a:latin typeface="Montserrat"/>
              </a:rPr>
              <a:t> </a:t>
            </a:r>
            <a:r>
              <a:rPr sz="1100" b="0" i="0" dirty="0" err="1">
                <a:solidFill>
                  <a:srgbClr val="26232F"/>
                </a:solidFill>
                <a:latin typeface="Montserrat"/>
              </a:rPr>
              <a:t>ce</a:t>
            </a:r>
            <a:r>
              <a:rPr sz="1100" b="0" i="0" dirty="0">
                <a:solidFill>
                  <a:srgbClr val="26232F"/>
                </a:solidFill>
                <a:latin typeface="Montserrat"/>
              </a:rPr>
              <a:t> qui </a:t>
            </a:r>
            <a:r>
              <a:rPr sz="1100" b="0" i="0" dirty="0" err="1">
                <a:solidFill>
                  <a:srgbClr val="26232F"/>
                </a:solidFill>
                <a:latin typeface="Montserrat"/>
              </a:rPr>
              <a:t>permet</a:t>
            </a:r>
            <a:r>
              <a:rPr sz="1100" b="0" i="0" dirty="0">
                <a:solidFill>
                  <a:srgbClr val="26232F"/>
                </a:solidFill>
                <a:latin typeface="Montserrat"/>
              </a:rPr>
              <a:t> </a:t>
            </a:r>
            <a:r>
              <a:rPr sz="1100" b="0" i="0" dirty="0" err="1">
                <a:solidFill>
                  <a:srgbClr val="26232F"/>
                </a:solidFill>
                <a:latin typeface="Montserrat"/>
              </a:rPr>
              <a:t>d’ouvrir</a:t>
            </a:r>
            <a:r>
              <a:rPr sz="1100" b="0" i="0" dirty="0">
                <a:solidFill>
                  <a:srgbClr val="26232F"/>
                </a:solidFill>
                <a:latin typeface="Montserrat"/>
              </a:rPr>
              <a:t> </a:t>
            </a:r>
            <a:r>
              <a:rPr sz="1100" b="0" i="0" dirty="0" err="1">
                <a:solidFill>
                  <a:srgbClr val="26232F"/>
                </a:solidFill>
                <a:latin typeface="Montserrat"/>
              </a:rPr>
              <a:t>une</a:t>
            </a:r>
            <a:r>
              <a:rPr sz="1100" b="0" i="0" dirty="0">
                <a:solidFill>
                  <a:srgbClr val="26232F"/>
                </a:solidFill>
                <a:latin typeface="Montserrat"/>
              </a:rPr>
              <a:t> </a:t>
            </a:r>
            <a:r>
              <a:rPr lang="en-GB" sz="1100" b="0" i="0" dirty="0" err="1">
                <a:solidFill>
                  <a:srgbClr val="26232F"/>
                </a:solidFill>
                <a:latin typeface="Montserrat"/>
              </a:rPr>
              <a:t>ville</a:t>
            </a:r>
            <a:r>
              <a:rPr lang="en-GB" sz="1100" b="0" i="0" dirty="0">
                <a:solidFill>
                  <a:srgbClr val="26232F"/>
                </a:solidFill>
                <a:latin typeface="Montserrat"/>
              </a:rPr>
              <a:t> </a:t>
            </a:r>
            <a:r>
              <a:rPr lang="en-GB" sz="1100" b="0" i="0" dirty="0" err="1">
                <a:solidFill>
                  <a:srgbClr val="26232F"/>
                </a:solidFill>
                <a:latin typeface="Montserrat"/>
              </a:rPr>
              <a:t>en</a:t>
            </a:r>
            <a:r>
              <a:rPr lang="en-GB" sz="1100" b="0" i="0" dirty="0">
                <a:solidFill>
                  <a:srgbClr val="26232F"/>
                </a:solidFill>
                <a:latin typeface="Montserrat"/>
              </a:rPr>
              <a:t> synergies</a:t>
            </a:r>
            <a:endParaRPr sz="1100" b="0" i="0" dirty="0">
              <a:solidFill>
                <a:srgbClr val="26232F"/>
              </a:solidFill>
              <a:latin typeface="Montserrat"/>
            </a:endParaRPr>
          </a:p>
        </p:txBody>
      </p:sp>
      <p:cxnSp>
        <p:nvCxnSpPr>
          <p:cNvPr id="30" name="Frise 1"/>
          <p:cNvCxnSpPr/>
          <p:nvPr/>
        </p:nvCxnSpPr>
        <p:spPr>
          <a:xfrm>
            <a:off x="640080" y="5029200"/>
            <a:ext cx="2625013" cy="0"/>
          </a:xfrm>
          <a:prstGeom prst="line">
            <a:avLst/>
          </a:prstGeom>
          <a:ln w="19050">
            <a:solidFill>
              <a:srgbClr val="C8963A"/>
            </a:solidFill>
          </a:ln>
        </p:spPr>
        <p:style>
          <a:lnRef idx="2">
            <a:schemeClr val="accent1"/>
          </a:lnRef>
          <a:fillRef idx="0">
            <a:schemeClr val="accent1"/>
          </a:fillRef>
          <a:effectRef idx="1">
            <a:schemeClr val="accent1"/>
          </a:effectRef>
          <a:fontRef idx="minor">
            <a:schemeClr val="tx1"/>
          </a:fontRef>
        </p:style>
      </p:cxnSp>
      <p:sp>
        <p:nvSpPr>
          <p:cNvPr id="31" name="Jalon 1"/>
          <p:cNvSpPr/>
          <p:nvPr/>
        </p:nvSpPr>
        <p:spPr>
          <a:xfrm>
            <a:off x="640080" y="4974336"/>
            <a:ext cx="109728" cy="109728"/>
          </a:xfrm>
          <a:prstGeom prst="ellipse">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ate 1"/>
          <p:cNvSpPr txBox="1"/>
          <p:nvPr/>
        </p:nvSpPr>
        <p:spPr>
          <a:xfrm>
            <a:off x="640080" y="5148072"/>
            <a:ext cx="2625013" cy="182880"/>
          </a:xfrm>
          <a:prstGeom prst="rect">
            <a:avLst/>
          </a:prstGeom>
          <a:noFill/>
        </p:spPr>
        <p:txBody>
          <a:bodyPr wrap="square" lIns="0" tIns="0" rIns="0" bIns="0" anchor="t">
            <a:spAutoFit/>
          </a:bodyPr>
          <a:lstStyle/>
          <a:p>
            <a:r>
              <a:rPr sz="800" b="1" i="0">
                <a:solidFill>
                  <a:srgbClr val="C8963A"/>
                </a:solidFill>
                <a:latin typeface="Montserrat"/>
              </a:rPr>
              <a:t>ANNÉE 1</a:t>
            </a:r>
          </a:p>
        </p:txBody>
      </p:sp>
      <p:sp>
        <p:nvSpPr>
          <p:cNvPr id="33" name="Étape 1"/>
          <p:cNvSpPr txBox="1"/>
          <p:nvPr/>
        </p:nvSpPr>
        <p:spPr>
          <a:xfrm>
            <a:off x="640080" y="5340096"/>
            <a:ext cx="2625013" cy="292608"/>
          </a:xfrm>
          <a:prstGeom prst="rect">
            <a:avLst/>
          </a:prstGeom>
          <a:noFill/>
        </p:spPr>
        <p:txBody>
          <a:bodyPr wrap="square" lIns="0" tIns="0" rIns="0" bIns="0" anchor="t">
            <a:spAutoFit/>
          </a:bodyPr>
          <a:lstStyle/>
          <a:p>
            <a:r>
              <a:rPr sz="1500" b="0" i="0">
                <a:solidFill>
                  <a:srgbClr val="1E1B2E"/>
                </a:solidFill>
                <a:latin typeface="Playfair Display"/>
              </a:rPr>
              <a:t>Paris</a:t>
            </a:r>
          </a:p>
        </p:txBody>
      </p:sp>
      <p:sp>
        <p:nvSpPr>
          <p:cNvPr id="34" name="Détail 1"/>
          <p:cNvSpPr txBox="1"/>
          <p:nvPr/>
        </p:nvSpPr>
        <p:spPr>
          <a:xfrm>
            <a:off x="640080" y="5632704"/>
            <a:ext cx="2625013" cy="201168"/>
          </a:xfrm>
          <a:prstGeom prst="rect">
            <a:avLst/>
          </a:prstGeom>
          <a:noFill/>
        </p:spPr>
        <p:txBody>
          <a:bodyPr wrap="square" lIns="0" tIns="0" rIns="0" bIns="0" anchor="t">
            <a:spAutoFit/>
          </a:bodyPr>
          <a:lstStyle/>
          <a:p>
            <a:r>
              <a:rPr sz="950" b="0" i="0">
                <a:solidFill>
                  <a:srgbClr val="6B6670"/>
                </a:solidFill>
                <a:latin typeface="Montserrat"/>
              </a:rPr>
              <a:t>On valide le modèle</a:t>
            </a:r>
          </a:p>
        </p:txBody>
      </p:sp>
      <p:cxnSp>
        <p:nvCxnSpPr>
          <p:cNvPr id="35" name="Frise 2"/>
          <p:cNvCxnSpPr/>
          <p:nvPr/>
        </p:nvCxnSpPr>
        <p:spPr>
          <a:xfrm>
            <a:off x="3402253" y="5029200"/>
            <a:ext cx="2625013" cy="0"/>
          </a:xfrm>
          <a:prstGeom prst="line">
            <a:avLst/>
          </a:prstGeom>
          <a:ln w="19050">
            <a:solidFill>
              <a:srgbClr val="C8963A"/>
            </a:solidFill>
          </a:ln>
        </p:spPr>
        <p:style>
          <a:lnRef idx="2">
            <a:schemeClr val="accent1"/>
          </a:lnRef>
          <a:fillRef idx="0">
            <a:schemeClr val="accent1"/>
          </a:fillRef>
          <a:effectRef idx="1">
            <a:schemeClr val="accent1"/>
          </a:effectRef>
          <a:fontRef idx="minor">
            <a:schemeClr val="tx1"/>
          </a:fontRef>
        </p:style>
      </p:cxnSp>
      <p:sp>
        <p:nvSpPr>
          <p:cNvPr id="36" name="Jalon 2"/>
          <p:cNvSpPr/>
          <p:nvPr/>
        </p:nvSpPr>
        <p:spPr>
          <a:xfrm>
            <a:off x="3402253" y="4974336"/>
            <a:ext cx="109728" cy="109728"/>
          </a:xfrm>
          <a:prstGeom prst="ellipse">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Date 2"/>
          <p:cNvSpPr txBox="1"/>
          <p:nvPr/>
        </p:nvSpPr>
        <p:spPr>
          <a:xfrm>
            <a:off x="3402253" y="5148072"/>
            <a:ext cx="2625013" cy="182880"/>
          </a:xfrm>
          <a:prstGeom prst="rect">
            <a:avLst/>
          </a:prstGeom>
          <a:noFill/>
        </p:spPr>
        <p:txBody>
          <a:bodyPr wrap="square" lIns="0" tIns="0" rIns="0" bIns="0" anchor="t">
            <a:spAutoFit/>
          </a:bodyPr>
          <a:lstStyle/>
          <a:p>
            <a:r>
              <a:rPr sz="800" b="1" i="0">
                <a:solidFill>
                  <a:srgbClr val="C8963A"/>
                </a:solidFill>
                <a:latin typeface="Montserrat"/>
              </a:rPr>
              <a:t>FIN 2027</a:t>
            </a:r>
          </a:p>
        </p:txBody>
      </p:sp>
      <p:sp>
        <p:nvSpPr>
          <p:cNvPr id="38" name="Étape 2"/>
          <p:cNvSpPr txBox="1"/>
          <p:nvPr/>
        </p:nvSpPr>
        <p:spPr>
          <a:xfrm>
            <a:off x="3402253" y="5340096"/>
            <a:ext cx="2625013" cy="230832"/>
          </a:xfrm>
          <a:prstGeom prst="rect">
            <a:avLst/>
          </a:prstGeom>
          <a:noFill/>
        </p:spPr>
        <p:txBody>
          <a:bodyPr wrap="square" lIns="0" tIns="0" rIns="0" bIns="0" anchor="t">
            <a:spAutoFit/>
          </a:bodyPr>
          <a:lstStyle/>
          <a:p>
            <a:r>
              <a:rPr lang="fr-FR" sz="1500" b="0" i="0" dirty="0">
                <a:solidFill>
                  <a:srgbClr val="1E1B2E"/>
                </a:solidFill>
                <a:latin typeface="Playfair Display"/>
              </a:rPr>
              <a:t>Paris, Lyon, </a:t>
            </a:r>
            <a:r>
              <a:rPr lang="fr-FR" sz="1500" b="0" i="0" dirty="0" err="1">
                <a:solidFill>
                  <a:srgbClr val="1E1B2E"/>
                </a:solidFill>
                <a:latin typeface="Playfair Display"/>
              </a:rPr>
              <a:t>Méditerrannée</a:t>
            </a:r>
            <a:endParaRPr sz="1500" b="0" i="0" dirty="0">
              <a:solidFill>
                <a:srgbClr val="1E1B2E"/>
              </a:solidFill>
              <a:latin typeface="Playfair Display"/>
            </a:endParaRPr>
          </a:p>
        </p:txBody>
      </p:sp>
      <p:sp>
        <p:nvSpPr>
          <p:cNvPr id="39" name="Détail 2"/>
          <p:cNvSpPr txBox="1"/>
          <p:nvPr/>
        </p:nvSpPr>
        <p:spPr>
          <a:xfrm>
            <a:off x="3402253" y="5632704"/>
            <a:ext cx="2625013" cy="201168"/>
          </a:xfrm>
          <a:prstGeom prst="rect">
            <a:avLst/>
          </a:prstGeom>
          <a:noFill/>
        </p:spPr>
        <p:txBody>
          <a:bodyPr wrap="square" lIns="0" tIns="0" rIns="0" bIns="0" anchor="t">
            <a:spAutoFit/>
          </a:bodyPr>
          <a:lstStyle/>
          <a:p>
            <a:r>
              <a:rPr sz="950" b="0" i="0">
                <a:solidFill>
                  <a:srgbClr val="6B6670"/>
                </a:solidFill>
                <a:latin typeface="Montserrat"/>
              </a:rPr>
              <a:t>2 nouvelles villes en France</a:t>
            </a:r>
          </a:p>
        </p:txBody>
      </p:sp>
      <p:cxnSp>
        <p:nvCxnSpPr>
          <p:cNvPr id="40" name="Frise 3"/>
          <p:cNvCxnSpPr/>
          <p:nvPr/>
        </p:nvCxnSpPr>
        <p:spPr>
          <a:xfrm>
            <a:off x="6164426" y="5029200"/>
            <a:ext cx="2625013" cy="0"/>
          </a:xfrm>
          <a:prstGeom prst="line">
            <a:avLst/>
          </a:prstGeom>
          <a:ln w="19050">
            <a:solidFill>
              <a:srgbClr val="C8963A"/>
            </a:solidFill>
          </a:ln>
        </p:spPr>
        <p:style>
          <a:lnRef idx="2">
            <a:schemeClr val="accent1"/>
          </a:lnRef>
          <a:fillRef idx="0">
            <a:schemeClr val="accent1"/>
          </a:fillRef>
          <a:effectRef idx="1">
            <a:schemeClr val="accent1"/>
          </a:effectRef>
          <a:fontRef idx="minor">
            <a:schemeClr val="tx1"/>
          </a:fontRef>
        </p:style>
      </p:cxnSp>
      <p:sp>
        <p:nvSpPr>
          <p:cNvPr id="41" name="Jalon 3"/>
          <p:cNvSpPr/>
          <p:nvPr/>
        </p:nvSpPr>
        <p:spPr>
          <a:xfrm>
            <a:off x="6164426" y="4974336"/>
            <a:ext cx="109728" cy="109728"/>
          </a:xfrm>
          <a:prstGeom prst="ellipse">
            <a:avLst/>
          </a:prstGeom>
          <a:solidFill>
            <a:srgbClr val="C896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Date 3"/>
          <p:cNvSpPr txBox="1"/>
          <p:nvPr/>
        </p:nvSpPr>
        <p:spPr>
          <a:xfrm>
            <a:off x="6164426" y="5148072"/>
            <a:ext cx="2625013" cy="182880"/>
          </a:xfrm>
          <a:prstGeom prst="rect">
            <a:avLst/>
          </a:prstGeom>
          <a:noFill/>
        </p:spPr>
        <p:txBody>
          <a:bodyPr wrap="square" lIns="0" tIns="0" rIns="0" bIns="0" anchor="t">
            <a:spAutoFit/>
          </a:bodyPr>
          <a:lstStyle/>
          <a:p>
            <a:r>
              <a:rPr sz="800" b="1" i="0">
                <a:solidFill>
                  <a:srgbClr val="C8963A"/>
                </a:solidFill>
                <a:latin typeface="Montserrat"/>
              </a:rPr>
              <a:t>FIN 2028</a:t>
            </a:r>
          </a:p>
        </p:txBody>
      </p:sp>
      <p:sp>
        <p:nvSpPr>
          <p:cNvPr id="43" name="Étape 3"/>
          <p:cNvSpPr txBox="1"/>
          <p:nvPr/>
        </p:nvSpPr>
        <p:spPr>
          <a:xfrm>
            <a:off x="6164426" y="5340096"/>
            <a:ext cx="2625013" cy="230832"/>
          </a:xfrm>
          <a:prstGeom prst="rect">
            <a:avLst/>
          </a:prstGeom>
          <a:noFill/>
        </p:spPr>
        <p:txBody>
          <a:bodyPr wrap="square" lIns="0" tIns="0" rIns="0" bIns="0" anchor="t">
            <a:spAutoFit/>
          </a:bodyPr>
          <a:lstStyle/>
          <a:p>
            <a:r>
              <a:rPr lang="fr-FR" sz="1500" b="0" i="0" dirty="0">
                <a:solidFill>
                  <a:srgbClr val="1E1B2E"/>
                </a:solidFill>
                <a:latin typeface="Playfair Display"/>
              </a:rPr>
              <a:t>De la France à l’Europe</a:t>
            </a:r>
            <a:endParaRPr sz="1500" b="0" i="0" dirty="0">
              <a:solidFill>
                <a:srgbClr val="1E1B2E"/>
              </a:solidFill>
              <a:latin typeface="Playfair Display"/>
            </a:endParaRPr>
          </a:p>
        </p:txBody>
      </p:sp>
      <p:sp>
        <p:nvSpPr>
          <p:cNvPr id="44" name="Détail 3"/>
          <p:cNvSpPr txBox="1"/>
          <p:nvPr/>
        </p:nvSpPr>
        <p:spPr>
          <a:xfrm>
            <a:off x="6164426" y="5632704"/>
            <a:ext cx="2625013" cy="253916"/>
          </a:xfrm>
          <a:prstGeom prst="rect">
            <a:avLst/>
          </a:prstGeom>
          <a:noFill/>
        </p:spPr>
        <p:txBody>
          <a:bodyPr wrap="square" lIns="0" tIns="0" rIns="0" bIns="0" anchor="t">
            <a:spAutoFit/>
          </a:bodyPr>
          <a:lstStyle/>
          <a:p>
            <a:r>
              <a:rPr sz="950" b="0" i="0" dirty="0">
                <a:solidFill>
                  <a:srgbClr val="6B6670"/>
                </a:solidFill>
                <a:latin typeface="Montserrat"/>
              </a:rPr>
              <a:t>3 </a:t>
            </a:r>
            <a:r>
              <a:rPr lang="fr-FR" sz="950" b="0" i="0" dirty="0">
                <a:solidFill>
                  <a:srgbClr val="6B6670"/>
                </a:solidFill>
                <a:latin typeface="Montserrat"/>
              </a:rPr>
              <a:t>nouvelles </a:t>
            </a:r>
            <a:r>
              <a:rPr sz="950" b="0" i="0" dirty="0" err="1">
                <a:solidFill>
                  <a:srgbClr val="6B6670"/>
                </a:solidFill>
                <a:latin typeface="Montserrat"/>
              </a:rPr>
              <a:t>villes</a:t>
            </a:r>
            <a:r>
              <a:rPr sz="950" b="0" i="0" dirty="0">
                <a:solidFill>
                  <a:srgbClr val="6B6670"/>
                </a:solidFill>
                <a:latin typeface="Montserrat"/>
              </a:rPr>
              <a:t> </a:t>
            </a:r>
            <a:r>
              <a:rPr lang="fr-FR" sz="950" b="0" i="0" dirty="0">
                <a:solidFill>
                  <a:srgbClr val="6B6670"/>
                </a:solidFill>
                <a:latin typeface="Montserrat"/>
              </a:rPr>
              <a:t>: Milan, Londres et Sofia </a:t>
            </a:r>
            <a:r>
              <a:rPr lang="fr-FR" sz="700" b="0" i="0" dirty="0">
                <a:solidFill>
                  <a:srgbClr val="6B6670"/>
                </a:solidFill>
                <a:latin typeface="Montserrat"/>
              </a:rPr>
              <a:t>(cibles  à confirmer)</a:t>
            </a:r>
            <a:endParaRPr sz="950" b="0" i="0" dirty="0">
              <a:solidFill>
                <a:srgbClr val="6B6670"/>
              </a:solidFill>
              <a:latin typeface="Montserrat"/>
            </a:endParaRPr>
          </a:p>
        </p:txBody>
      </p:sp>
      <p:cxnSp>
        <p:nvCxnSpPr>
          <p:cNvPr id="45" name="Frise 4"/>
          <p:cNvCxnSpPr/>
          <p:nvPr/>
        </p:nvCxnSpPr>
        <p:spPr>
          <a:xfrm>
            <a:off x="8926599" y="5029200"/>
            <a:ext cx="2625013" cy="0"/>
          </a:xfrm>
          <a:prstGeom prst="line">
            <a:avLst/>
          </a:prstGeom>
          <a:ln w="19050">
            <a:solidFill>
              <a:srgbClr val="C2432B"/>
            </a:solidFill>
            <a:prstDash val="dash"/>
          </a:ln>
        </p:spPr>
        <p:style>
          <a:lnRef idx="2">
            <a:schemeClr val="accent1"/>
          </a:lnRef>
          <a:fillRef idx="0">
            <a:schemeClr val="accent1"/>
          </a:fillRef>
          <a:effectRef idx="1">
            <a:schemeClr val="accent1"/>
          </a:effectRef>
          <a:fontRef idx="minor">
            <a:schemeClr val="tx1"/>
          </a:fontRef>
        </p:style>
      </p:cxnSp>
      <p:sp>
        <p:nvSpPr>
          <p:cNvPr id="46" name="Jalon 4"/>
          <p:cNvSpPr/>
          <p:nvPr/>
        </p:nvSpPr>
        <p:spPr>
          <a:xfrm>
            <a:off x="8926599" y="4974336"/>
            <a:ext cx="109728" cy="109728"/>
          </a:xfrm>
          <a:prstGeom prst="ellipse">
            <a:avLst/>
          </a:prstGeom>
          <a:solidFill>
            <a:srgbClr val="C24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Date 4"/>
          <p:cNvSpPr txBox="1"/>
          <p:nvPr/>
        </p:nvSpPr>
        <p:spPr>
          <a:xfrm>
            <a:off x="8926599" y="5148072"/>
            <a:ext cx="2625013" cy="123111"/>
          </a:xfrm>
          <a:prstGeom prst="rect">
            <a:avLst/>
          </a:prstGeom>
          <a:noFill/>
        </p:spPr>
        <p:txBody>
          <a:bodyPr wrap="square" lIns="0" tIns="0" rIns="0" bIns="0" anchor="t">
            <a:spAutoFit/>
          </a:bodyPr>
          <a:lstStyle/>
          <a:p>
            <a:r>
              <a:rPr sz="800" b="1" i="0" dirty="0">
                <a:solidFill>
                  <a:srgbClr val="C2432B"/>
                </a:solidFill>
                <a:latin typeface="Montserrat"/>
              </a:rPr>
              <a:t>HORIZON </a:t>
            </a:r>
            <a:r>
              <a:rPr lang="fr-FR" sz="800" b="1" i="0" dirty="0">
                <a:solidFill>
                  <a:srgbClr val="C2432B"/>
                </a:solidFill>
                <a:latin typeface="Montserrat"/>
              </a:rPr>
              <a:t>ENVISAGE</a:t>
            </a:r>
            <a:endParaRPr sz="800" b="1" i="0" dirty="0">
              <a:solidFill>
                <a:srgbClr val="C2432B"/>
              </a:solidFill>
              <a:latin typeface="Montserrat"/>
            </a:endParaRPr>
          </a:p>
        </p:txBody>
      </p:sp>
      <p:sp>
        <p:nvSpPr>
          <p:cNvPr id="48" name="Étape 4"/>
          <p:cNvSpPr txBox="1"/>
          <p:nvPr/>
        </p:nvSpPr>
        <p:spPr>
          <a:xfrm>
            <a:off x="8926599" y="5340096"/>
            <a:ext cx="2625013" cy="230832"/>
          </a:xfrm>
          <a:prstGeom prst="rect">
            <a:avLst/>
          </a:prstGeom>
          <a:noFill/>
        </p:spPr>
        <p:txBody>
          <a:bodyPr wrap="square" lIns="0" tIns="0" rIns="0" bIns="0" anchor="t">
            <a:spAutoFit/>
          </a:bodyPr>
          <a:lstStyle/>
          <a:p>
            <a:r>
              <a:rPr lang="fr-FR" sz="1500" b="0" i="0" dirty="0">
                <a:solidFill>
                  <a:srgbClr val="1E1B2E"/>
                </a:solidFill>
                <a:latin typeface="Playfair Display"/>
              </a:rPr>
              <a:t>F</a:t>
            </a:r>
            <a:r>
              <a:rPr sz="1500" b="0" i="0" dirty="0" err="1">
                <a:solidFill>
                  <a:srgbClr val="1E1B2E"/>
                </a:solidFill>
                <a:latin typeface="Playfair Display"/>
              </a:rPr>
              <a:t>ranchise</a:t>
            </a:r>
            <a:endParaRPr sz="1500" b="0" i="0" dirty="0">
              <a:solidFill>
                <a:srgbClr val="1E1B2E"/>
              </a:solidFill>
              <a:latin typeface="Playfair Display"/>
            </a:endParaRPr>
          </a:p>
        </p:txBody>
      </p:sp>
      <p:sp>
        <p:nvSpPr>
          <p:cNvPr id="49" name="Détail 4"/>
          <p:cNvSpPr txBox="1"/>
          <p:nvPr/>
        </p:nvSpPr>
        <p:spPr>
          <a:xfrm>
            <a:off x="8926599" y="5632704"/>
            <a:ext cx="2625013" cy="146194"/>
          </a:xfrm>
          <a:prstGeom prst="rect">
            <a:avLst/>
          </a:prstGeom>
          <a:noFill/>
        </p:spPr>
        <p:txBody>
          <a:bodyPr wrap="square" lIns="0" tIns="0" rIns="0" bIns="0" anchor="t">
            <a:spAutoFit/>
          </a:bodyPr>
          <a:lstStyle/>
          <a:p>
            <a:r>
              <a:rPr sz="950" b="0" i="0" dirty="0">
                <a:solidFill>
                  <a:srgbClr val="6B6670"/>
                </a:solidFill>
                <a:latin typeface="Montserrat"/>
              </a:rPr>
              <a:t>Un concept </a:t>
            </a:r>
            <a:r>
              <a:rPr lang="fr-FR" sz="950" b="0" i="0" dirty="0">
                <a:solidFill>
                  <a:srgbClr val="6B6670"/>
                </a:solidFill>
                <a:latin typeface="Montserrat"/>
              </a:rPr>
              <a:t>extensible</a:t>
            </a:r>
            <a:endParaRPr sz="950" b="0" i="0" dirty="0">
              <a:solidFill>
                <a:srgbClr val="6B6670"/>
              </a:solidFill>
              <a:latin typeface="Montserrat"/>
            </a:endParaRPr>
          </a:p>
        </p:txBody>
      </p:sp>
      <p:sp>
        <p:nvSpPr>
          <p:cNvPr id="51" name="Slide Number Placeholder 0">
            <a:extLst>
              <a:ext uri="{FF2B5EF4-FFF2-40B4-BE49-F238E27FC236}">
                <a16:creationId xmlns:a16="http://schemas.microsoft.com/office/drawing/2014/main" id="{F0D6399A-AF98-6D7C-2A34-031216051E1D}"/>
              </a:ext>
            </a:extLst>
          </p:cNvPr>
          <p:cNvSpPr>
            <a:spLocks noGrp="1"/>
          </p:cNvSpPr>
          <p:nvPr>
            <p:ph type="sldNum" sz="quarter" idx="4294967295"/>
          </p:nvPr>
        </p:nvSpPr>
        <p:spPr>
          <a:xfrm>
            <a:off x="11002975" y="6455664"/>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6"/>
          <p:cNvSpPr>
            <a:spLocks noGrp="1"/>
          </p:cNvSpPr>
          <p:nvPr>
            <p:ph type="body" idx="106" hasCustomPrompt="1"/>
          </p:nvPr>
        </p:nvSpPr>
        <p:spPr>
          <a:xfrm>
            <a:off x="640080" y="914400"/>
            <a:ext cx="8229600" cy="274320"/>
          </a:xfrm>
          <a:prstGeom prst="rect">
            <a:avLst/>
          </a:prstGeom>
          <a:noFill/>
          <a:ln/>
        </p:spPr>
        <p:txBody>
          <a:bodyPr wrap="square" lIns="0" tIns="0" rIns="0" bIns="0" rtlCol="0" anchor="t"/>
          <a:lstStyle/>
          <a:p>
            <a:pPr marL="0" indent="0" algn="l">
              <a:buNone/>
            </a:pPr>
            <a:r>
              <a:rPr lang="en-US" sz="1000" b="1" kern="0" spc="300" dirty="0">
                <a:solidFill>
                  <a:srgbClr val="C2432B"/>
                </a:solidFill>
                <a:latin typeface="Montserrat" pitchFamily="34" charset="0"/>
                <a:ea typeface="Montserrat" pitchFamily="34" charset="-122"/>
                <a:cs typeface="Montserrat" pitchFamily="34" charset="-120"/>
              </a:rPr>
              <a:t>MAÎTRISE DES RISQUES</a:t>
            </a:r>
            <a:endParaRPr lang="en-US" sz="1000" dirty="0"/>
          </a:p>
        </p:txBody>
      </p:sp>
      <p:sp>
        <p:nvSpPr>
          <p:cNvPr id="3" name="Text 6"/>
          <p:cNvSpPr>
            <a:spLocks noGrp="1"/>
          </p:cNvSpPr>
          <p:nvPr>
            <p:ph type="title" idx="107" hasCustomPrompt="1"/>
          </p:nvPr>
        </p:nvSpPr>
        <p:spPr>
          <a:xfrm>
            <a:off x="640080" y="1234440"/>
            <a:ext cx="10911535" cy="868680"/>
          </a:xfrm>
          <a:prstGeom prst="rect">
            <a:avLst/>
          </a:prstGeom>
          <a:noFill/>
          <a:ln/>
        </p:spPr>
        <p:txBody>
          <a:bodyPr wrap="square" lIns="0" tIns="0" rIns="0" bIns="0" rtlCol="0" anchor="t"/>
          <a:lstStyle/>
          <a:p>
            <a:pPr marL="0" indent="0" algn="l">
              <a:buNone/>
            </a:pPr>
            <a:r>
              <a:rPr lang="en-US" sz="2800" dirty="0">
                <a:solidFill>
                  <a:srgbClr val="1E1B2E"/>
                </a:solidFill>
                <a:latin typeface="Playfair Display" pitchFamily="34" charset="0"/>
                <a:ea typeface="Playfair Display" pitchFamily="34" charset="-122"/>
                <a:cs typeface="Playfair Display" pitchFamily="34" charset="-120"/>
              </a:rPr>
              <a:t>Une exécution premium, </a:t>
            </a:r>
            <a:r>
              <a:rPr lang="en-US" sz="2800" dirty="0" err="1">
                <a:solidFill>
                  <a:srgbClr val="1E1B2E"/>
                </a:solidFill>
                <a:latin typeface="Playfair Display" pitchFamily="34" charset="0"/>
                <a:ea typeface="Playfair Display" pitchFamily="34" charset="-122"/>
                <a:cs typeface="Playfair Display" pitchFamily="34" charset="-120"/>
              </a:rPr>
              <a:t>encadrée</a:t>
            </a:r>
            <a:r>
              <a:rPr lang="en-US" sz="2800" dirty="0">
                <a:solidFill>
                  <a:srgbClr val="1E1B2E"/>
                </a:solidFill>
                <a:latin typeface="Playfair Display" pitchFamily="34" charset="0"/>
                <a:ea typeface="Playfair Display" pitchFamily="34" charset="-122"/>
                <a:cs typeface="Playfair Display" pitchFamily="34" charset="-120"/>
              </a:rPr>
              <a:t> et </a:t>
            </a:r>
            <a:r>
              <a:rPr lang="en-US" sz="2800" dirty="0" err="1">
                <a:solidFill>
                  <a:srgbClr val="1E1B2E"/>
                </a:solidFill>
                <a:latin typeface="Playfair Display" pitchFamily="34" charset="0"/>
                <a:ea typeface="Playfair Display" pitchFamily="34" charset="-122"/>
                <a:cs typeface="Playfair Display" pitchFamily="34" charset="-120"/>
              </a:rPr>
              <a:t>maitrisée</a:t>
            </a:r>
            <a:endParaRPr lang="en-US" sz="2800" dirty="0"/>
          </a:p>
        </p:txBody>
      </p:sp>
      <p:sp>
        <p:nvSpPr>
          <p:cNvPr id="11" name="Filet 1"/>
          <p:cNvSpPr/>
          <p:nvPr/>
        </p:nvSpPr>
        <p:spPr>
          <a:xfrm>
            <a:off x="640080" y="2359152"/>
            <a:ext cx="2555748" cy="73152"/>
          </a:xfrm>
          <a:prstGeom prst="rect">
            <a:avLst/>
          </a:prstGeom>
          <a:solidFill>
            <a:srgbClr val="C2432B"/>
          </a:solidFill>
          <a:ln>
            <a:noFill/>
          </a:ln>
        </p:spPr>
        <p:txBody>
          <a:bodyPr/>
          <a:lstStyle/>
          <a:p>
            <a:endParaRPr lang="en-GB"/>
          </a:p>
        </p:txBody>
      </p:sp>
      <p:sp>
        <p:nvSpPr>
          <p:cNvPr id="12" name="Icône 1"/>
          <p:cNvSpPr txBox="1"/>
          <p:nvPr/>
        </p:nvSpPr>
        <p:spPr>
          <a:xfrm>
            <a:off x="640080" y="2560320"/>
            <a:ext cx="2555748" cy="384048"/>
          </a:xfrm>
          <a:prstGeom prst="rect">
            <a:avLst/>
          </a:prstGeom>
          <a:noFill/>
          <a:ln>
            <a:noFill/>
          </a:ln>
        </p:spPr>
        <p:txBody>
          <a:bodyPr wrap="square" lIns="0" tIns="0" rIns="0" bIns="0" rtlCol="0" anchor="t">
            <a:normAutofit/>
          </a:bodyPr>
          <a:lstStyle/>
          <a:p>
            <a:pPr marL="0" indent="0">
              <a:lnSpc>
                <a:spcPct val="110000"/>
              </a:lnSpc>
              <a:buNone/>
            </a:pPr>
            <a:r>
              <a:rPr lang="fr-FR" sz="2200" dirty="0">
                <a:solidFill>
                  <a:srgbClr val="1E1B2E"/>
                </a:solidFill>
                <a:latin typeface="Montserrat" pitchFamily="34" charset="0"/>
                <a:ea typeface="Montserrat" pitchFamily="34" charset="-122"/>
                <a:cs typeface="Montserrat" pitchFamily="34" charset="-120"/>
              </a:rPr>
              <a:t>🛡️</a:t>
            </a:r>
          </a:p>
        </p:txBody>
      </p:sp>
      <p:sp>
        <p:nvSpPr>
          <p:cNvPr id="13" name="Titre 1"/>
          <p:cNvSpPr txBox="1"/>
          <p:nvPr/>
        </p:nvSpPr>
        <p:spPr>
          <a:xfrm>
            <a:off x="640080" y="2999232"/>
            <a:ext cx="2555748" cy="731520"/>
          </a:xfrm>
          <a:prstGeom prst="rect">
            <a:avLst/>
          </a:prstGeom>
          <a:noFill/>
          <a:ln>
            <a:noFill/>
          </a:ln>
        </p:spPr>
        <p:txBody>
          <a:bodyPr wrap="square" lIns="0" tIns="0" rIns="0" bIns="0" rtlCol="0" anchor="t">
            <a:normAutofit/>
          </a:bodyPr>
          <a:lstStyle/>
          <a:p>
            <a:pPr marL="0" indent="0">
              <a:lnSpc>
                <a:spcPct val="110000"/>
              </a:lnSpc>
              <a:buNone/>
            </a:pPr>
            <a:r>
              <a:rPr lang="fr-FR" sz="1700" dirty="0">
                <a:solidFill>
                  <a:srgbClr val="1E1B2E"/>
                </a:solidFill>
                <a:latin typeface="Playfair Display" pitchFamily="34" charset="0"/>
                <a:ea typeface="Playfair Display" pitchFamily="34" charset="-122"/>
                <a:cs typeface="Playfair Display" pitchFamily="34" charset="-120"/>
              </a:rPr>
              <a:t>Exécution assurée</a:t>
            </a:r>
          </a:p>
        </p:txBody>
      </p:sp>
      <p:sp>
        <p:nvSpPr>
          <p:cNvPr id="14" name="Texte 1"/>
          <p:cNvSpPr txBox="1"/>
          <p:nvPr/>
        </p:nvSpPr>
        <p:spPr>
          <a:xfrm>
            <a:off x="640080" y="3767328"/>
            <a:ext cx="2555748" cy="1554480"/>
          </a:xfrm>
          <a:prstGeom prst="rect">
            <a:avLst/>
          </a:prstGeom>
          <a:noFill/>
          <a:ln>
            <a:noFill/>
          </a:ln>
        </p:spPr>
        <p:txBody>
          <a:bodyPr wrap="square" lIns="0" tIns="0" rIns="0" bIns="0" rtlCol="0" anchor="t">
            <a:normAutofit/>
          </a:bodyPr>
          <a:lstStyle/>
          <a:p>
            <a:pPr marL="0" indent="0">
              <a:lnSpc>
                <a:spcPct val="110000"/>
              </a:lnSpc>
              <a:buNone/>
            </a:pPr>
            <a:r>
              <a:rPr lang="fr-FR" sz="1250" dirty="0">
                <a:solidFill>
                  <a:srgbClr val="26232F"/>
                </a:solidFill>
                <a:latin typeface="Montserrat" pitchFamily="34" charset="0"/>
                <a:ea typeface="Montserrat" pitchFamily="34" charset="-122"/>
                <a:cs typeface="Montserrat" pitchFamily="34" charset="-120"/>
              </a:rPr>
              <a:t>Une assurance prévue pour chaque risque d’une soirée : intoxication alimentaire, vente d’alcool, dommages et préjudices au restaurant prêté, annulation.</a:t>
            </a:r>
          </a:p>
        </p:txBody>
      </p:sp>
      <p:sp>
        <p:nvSpPr>
          <p:cNvPr id="15" name="Filet 2"/>
          <p:cNvSpPr/>
          <p:nvPr/>
        </p:nvSpPr>
        <p:spPr>
          <a:xfrm>
            <a:off x="3424428" y="2359152"/>
            <a:ext cx="2555748" cy="73152"/>
          </a:xfrm>
          <a:prstGeom prst="rect">
            <a:avLst/>
          </a:prstGeom>
          <a:solidFill>
            <a:srgbClr val="C8963A"/>
          </a:solidFill>
          <a:ln>
            <a:noFill/>
          </a:ln>
        </p:spPr>
        <p:txBody>
          <a:bodyPr/>
          <a:lstStyle/>
          <a:p>
            <a:endParaRPr lang="en-GB"/>
          </a:p>
        </p:txBody>
      </p:sp>
      <p:sp>
        <p:nvSpPr>
          <p:cNvPr id="16" name="Icône 2"/>
          <p:cNvSpPr txBox="1"/>
          <p:nvPr/>
        </p:nvSpPr>
        <p:spPr>
          <a:xfrm>
            <a:off x="3424428" y="2560320"/>
            <a:ext cx="2555748" cy="384048"/>
          </a:xfrm>
          <a:prstGeom prst="rect">
            <a:avLst/>
          </a:prstGeom>
          <a:noFill/>
          <a:ln>
            <a:noFill/>
          </a:ln>
        </p:spPr>
        <p:txBody>
          <a:bodyPr wrap="square" lIns="0" tIns="0" rIns="0" bIns="0" rtlCol="0" anchor="t">
            <a:normAutofit/>
          </a:bodyPr>
          <a:lstStyle/>
          <a:p>
            <a:pPr marL="0" indent="0">
              <a:lnSpc>
                <a:spcPct val="110000"/>
              </a:lnSpc>
              <a:buNone/>
            </a:pPr>
            <a:r>
              <a:rPr lang="fr-FR" sz="2200" dirty="0">
                <a:solidFill>
                  <a:srgbClr val="1E1B2E"/>
                </a:solidFill>
                <a:latin typeface="Montserrat" pitchFamily="34" charset="0"/>
                <a:ea typeface="Montserrat" pitchFamily="34" charset="-122"/>
                <a:cs typeface="Montserrat" pitchFamily="34" charset="-120"/>
              </a:rPr>
              <a:t>👨‍🍳</a:t>
            </a:r>
          </a:p>
        </p:txBody>
      </p:sp>
      <p:sp>
        <p:nvSpPr>
          <p:cNvPr id="17" name="Titre 2"/>
          <p:cNvSpPr txBox="1"/>
          <p:nvPr/>
        </p:nvSpPr>
        <p:spPr>
          <a:xfrm>
            <a:off x="3424428" y="2999232"/>
            <a:ext cx="2555748" cy="731520"/>
          </a:xfrm>
          <a:prstGeom prst="rect">
            <a:avLst/>
          </a:prstGeom>
          <a:noFill/>
          <a:ln>
            <a:noFill/>
          </a:ln>
        </p:spPr>
        <p:txBody>
          <a:bodyPr wrap="square" lIns="0" tIns="0" rIns="0" bIns="0" rtlCol="0" anchor="t">
            <a:normAutofit/>
          </a:bodyPr>
          <a:lstStyle/>
          <a:p>
            <a:pPr marL="0" indent="0">
              <a:lnSpc>
                <a:spcPct val="110000"/>
              </a:lnSpc>
              <a:buNone/>
            </a:pPr>
            <a:r>
              <a:rPr lang="fr-FR" sz="1700" dirty="0">
                <a:solidFill>
                  <a:srgbClr val="1E1B2E"/>
                </a:solidFill>
                <a:latin typeface="Playfair Display" pitchFamily="34" charset="0"/>
                <a:ea typeface="Playfair Display" pitchFamily="34" charset="-122"/>
                <a:cs typeface="Playfair Display" pitchFamily="34" charset="-120"/>
              </a:rPr>
              <a:t>Des professionnels à chaque poste</a:t>
            </a:r>
          </a:p>
        </p:txBody>
      </p:sp>
      <p:sp>
        <p:nvSpPr>
          <p:cNvPr id="18" name="Texte 2"/>
          <p:cNvSpPr txBox="1"/>
          <p:nvPr/>
        </p:nvSpPr>
        <p:spPr>
          <a:xfrm>
            <a:off x="3424428" y="3767328"/>
            <a:ext cx="2555748" cy="1554480"/>
          </a:xfrm>
          <a:prstGeom prst="rect">
            <a:avLst/>
          </a:prstGeom>
          <a:noFill/>
          <a:ln>
            <a:noFill/>
          </a:ln>
        </p:spPr>
        <p:txBody>
          <a:bodyPr wrap="square" lIns="0" tIns="0" rIns="0" bIns="0" rtlCol="0" anchor="t">
            <a:normAutofit/>
          </a:bodyPr>
          <a:lstStyle/>
          <a:p>
            <a:pPr marL="0" indent="0">
              <a:lnSpc>
                <a:spcPct val="110000"/>
              </a:lnSpc>
              <a:buNone/>
            </a:pPr>
            <a:r>
              <a:rPr lang="fr-FR" sz="1250" dirty="0">
                <a:solidFill>
                  <a:srgbClr val="26232F"/>
                </a:solidFill>
                <a:latin typeface="Montserrat" pitchFamily="34" charset="0"/>
                <a:ea typeface="Montserrat" pitchFamily="34" charset="-122"/>
                <a:cs typeface="Montserrat" pitchFamily="34" charset="-120"/>
              </a:rPr>
              <a:t>Des chefs confirmés, et une équipe de salle fournie par des agences spécialisées, qui sont l’employeur et garantissent le remplacement en cas d’absence.</a:t>
            </a:r>
          </a:p>
        </p:txBody>
      </p:sp>
      <p:sp>
        <p:nvSpPr>
          <p:cNvPr id="19" name="Filet 3"/>
          <p:cNvSpPr/>
          <p:nvPr/>
        </p:nvSpPr>
        <p:spPr>
          <a:xfrm>
            <a:off x="6208776" y="2359152"/>
            <a:ext cx="2555748" cy="73152"/>
          </a:xfrm>
          <a:prstGeom prst="rect">
            <a:avLst/>
          </a:prstGeom>
          <a:solidFill>
            <a:srgbClr val="8FA593"/>
          </a:solidFill>
          <a:ln>
            <a:noFill/>
          </a:ln>
        </p:spPr>
        <p:txBody>
          <a:bodyPr/>
          <a:lstStyle/>
          <a:p>
            <a:endParaRPr lang="en-GB"/>
          </a:p>
        </p:txBody>
      </p:sp>
      <p:sp>
        <p:nvSpPr>
          <p:cNvPr id="20" name="Icône 3"/>
          <p:cNvSpPr txBox="1"/>
          <p:nvPr/>
        </p:nvSpPr>
        <p:spPr>
          <a:xfrm>
            <a:off x="6208776" y="2560320"/>
            <a:ext cx="2555748" cy="384048"/>
          </a:xfrm>
          <a:prstGeom prst="rect">
            <a:avLst/>
          </a:prstGeom>
          <a:noFill/>
          <a:ln>
            <a:noFill/>
          </a:ln>
        </p:spPr>
        <p:txBody>
          <a:bodyPr wrap="square" lIns="0" tIns="0" rIns="0" bIns="0" rtlCol="0" anchor="t">
            <a:normAutofit/>
          </a:bodyPr>
          <a:lstStyle/>
          <a:p>
            <a:pPr marL="0" indent="0">
              <a:lnSpc>
                <a:spcPct val="110000"/>
              </a:lnSpc>
              <a:buNone/>
            </a:pPr>
            <a:r>
              <a:rPr lang="fr-FR" sz="2200" dirty="0">
                <a:solidFill>
                  <a:srgbClr val="1E1B2E"/>
                </a:solidFill>
                <a:latin typeface="Montserrat" pitchFamily="34" charset="0"/>
                <a:ea typeface="Montserrat" pitchFamily="34" charset="-122"/>
                <a:cs typeface="Montserrat" pitchFamily="34" charset="-120"/>
              </a:rPr>
              <a:t>📜</a:t>
            </a:r>
          </a:p>
        </p:txBody>
      </p:sp>
      <p:sp>
        <p:nvSpPr>
          <p:cNvPr id="21" name="Titre 3"/>
          <p:cNvSpPr txBox="1"/>
          <p:nvPr/>
        </p:nvSpPr>
        <p:spPr>
          <a:xfrm>
            <a:off x="6208776" y="2999232"/>
            <a:ext cx="2555748" cy="731520"/>
          </a:xfrm>
          <a:prstGeom prst="rect">
            <a:avLst/>
          </a:prstGeom>
          <a:noFill/>
          <a:ln>
            <a:noFill/>
          </a:ln>
        </p:spPr>
        <p:txBody>
          <a:bodyPr wrap="square" lIns="0" tIns="0" rIns="0" bIns="0" rtlCol="0" anchor="t">
            <a:normAutofit/>
          </a:bodyPr>
          <a:lstStyle/>
          <a:p>
            <a:pPr marL="0" indent="0">
              <a:lnSpc>
                <a:spcPct val="110000"/>
              </a:lnSpc>
              <a:buNone/>
            </a:pPr>
            <a:r>
              <a:rPr lang="fr-FR" sz="1700" dirty="0">
                <a:solidFill>
                  <a:srgbClr val="1E1B2E"/>
                </a:solidFill>
                <a:latin typeface="Playfair Display" pitchFamily="34" charset="0"/>
                <a:ea typeface="Playfair Display" pitchFamily="34" charset="-122"/>
                <a:cs typeface="Playfair Display" pitchFamily="34" charset="-120"/>
              </a:rPr>
              <a:t>Des chefs engagés par contrat et par événement</a:t>
            </a:r>
          </a:p>
        </p:txBody>
      </p:sp>
      <p:sp>
        <p:nvSpPr>
          <p:cNvPr id="22" name="Texte 3"/>
          <p:cNvSpPr txBox="1"/>
          <p:nvPr/>
        </p:nvSpPr>
        <p:spPr>
          <a:xfrm>
            <a:off x="6208776" y="3767328"/>
            <a:ext cx="2555748" cy="1554480"/>
          </a:xfrm>
          <a:prstGeom prst="rect">
            <a:avLst/>
          </a:prstGeom>
          <a:noFill/>
          <a:ln>
            <a:noFill/>
          </a:ln>
        </p:spPr>
        <p:txBody>
          <a:bodyPr wrap="square" lIns="0" tIns="0" rIns="0" bIns="0" rtlCol="0" anchor="t">
            <a:normAutofit/>
          </a:bodyPr>
          <a:lstStyle/>
          <a:p>
            <a:pPr marL="0" indent="0">
              <a:lnSpc>
                <a:spcPct val="110000"/>
              </a:lnSpc>
              <a:buNone/>
            </a:pPr>
            <a:r>
              <a:rPr lang="fr-FR" sz="1250" dirty="0">
                <a:solidFill>
                  <a:srgbClr val="26232F"/>
                </a:solidFill>
                <a:latin typeface="Montserrat" pitchFamily="34" charset="0"/>
                <a:ea typeface="Montserrat" pitchFamily="34" charset="-122"/>
                <a:cs typeface="Montserrat" pitchFamily="34" charset="-120"/>
              </a:rPr>
              <a:t>Le contrat est signé avant l’ouverture des ventes. Il interdit au chef de traiter directement avec nos restaurants ou nos clients. Il prévoit une pénalité en cas de non-disponibilité du chef.</a:t>
            </a:r>
          </a:p>
        </p:txBody>
      </p:sp>
      <p:sp>
        <p:nvSpPr>
          <p:cNvPr id="23" name="Filet 4"/>
          <p:cNvSpPr/>
          <p:nvPr/>
        </p:nvSpPr>
        <p:spPr>
          <a:xfrm>
            <a:off x="8993124" y="2359152"/>
            <a:ext cx="2555748" cy="73152"/>
          </a:xfrm>
          <a:prstGeom prst="rect">
            <a:avLst/>
          </a:prstGeom>
          <a:solidFill>
            <a:srgbClr val="1E1B2E"/>
          </a:solidFill>
          <a:ln>
            <a:noFill/>
          </a:ln>
        </p:spPr>
        <p:txBody>
          <a:bodyPr/>
          <a:lstStyle/>
          <a:p>
            <a:endParaRPr lang="en-GB"/>
          </a:p>
        </p:txBody>
      </p:sp>
      <p:sp>
        <p:nvSpPr>
          <p:cNvPr id="24" name="Icône 4"/>
          <p:cNvSpPr txBox="1"/>
          <p:nvPr/>
        </p:nvSpPr>
        <p:spPr>
          <a:xfrm>
            <a:off x="8993124" y="2560320"/>
            <a:ext cx="2555748" cy="384048"/>
          </a:xfrm>
          <a:prstGeom prst="rect">
            <a:avLst/>
          </a:prstGeom>
          <a:noFill/>
          <a:ln>
            <a:noFill/>
          </a:ln>
        </p:spPr>
        <p:txBody>
          <a:bodyPr wrap="square" lIns="0" tIns="0" rIns="0" bIns="0" rtlCol="0" anchor="t">
            <a:normAutofit/>
          </a:bodyPr>
          <a:lstStyle/>
          <a:p>
            <a:pPr marL="0" indent="0">
              <a:lnSpc>
                <a:spcPct val="110000"/>
              </a:lnSpc>
              <a:buNone/>
            </a:pPr>
            <a:r>
              <a:rPr lang="fr-FR" sz="2200" dirty="0">
                <a:solidFill>
                  <a:srgbClr val="1E1B2E"/>
                </a:solidFill>
                <a:latin typeface="Montserrat" pitchFamily="34" charset="0"/>
                <a:ea typeface="Montserrat" pitchFamily="34" charset="-122"/>
                <a:cs typeface="Montserrat" pitchFamily="34" charset="-120"/>
              </a:rPr>
              <a:t>🍷</a:t>
            </a:r>
          </a:p>
        </p:txBody>
      </p:sp>
      <p:sp>
        <p:nvSpPr>
          <p:cNvPr id="25" name="Titre 4"/>
          <p:cNvSpPr txBox="1"/>
          <p:nvPr/>
        </p:nvSpPr>
        <p:spPr>
          <a:xfrm>
            <a:off x="8993124" y="2999232"/>
            <a:ext cx="2555748" cy="731520"/>
          </a:xfrm>
          <a:prstGeom prst="rect">
            <a:avLst/>
          </a:prstGeom>
          <a:noFill/>
          <a:ln>
            <a:noFill/>
          </a:ln>
        </p:spPr>
        <p:txBody>
          <a:bodyPr wrap="square" lIns="0" tIns="0" rIns="0" bIns="0" rtlCol="0" anchor="t">
            <a:normAutofit/>
          </a:bodyPr>
          <a:lstStyle/>
          <a:p>
            <a:pPr marL="0" indent="0">
              <a:lnSpc>
                <a:spcPct val="110000"/>
              </a:lnSpc>
              <a:buNone/>
            </a:pPr>
            <a:r>
              <a:rPr lang="fr-FR" sz="1700" dirty="0">
                <a:solidFill>
                  <a:srgbClr val="1E1B2E"/>
                </a:solidFill>
                <a:latin typeface="Playfair Display" pitchFamily="34" charset="0"/>
                <a:ea typeface="Playfair Display" pitchFamily="34" charset="-122"/>
                <a:cs typeface="Playfair Display" pitchFamily="34" charset="-120"/>
              </a:rPr>
              <a:t>Notre propre licence et la sécurité alimentaire</a:t>
            </a:r>
          </a:p>
        </p:txBody>
      </p:sp>
      <p:sp>
        <p:nvSpPr>
          <p:cNvPr id="26" name="Texte 4"/>
          <p:cNvSpPr txBox="1"/>
          <p:nvPr/>
        </p:nvSpPr>
        <p:spPr>
          <a:xfrm>
            <a:off x="8993124" y="3767328"/>
            <a:ext cx="2555748" cy="1554480"/>
          </a:xfrm>
          <a:prstGeom prst="rect">
            <a:avLst/>
          </a:prstGeom>
          <a:noFill/>
          <a:ln>
            <a:noFill/>
          </a:ln>
        </p:spPr>
        <p:txBody>
          <a:bodyPr wrap="square" lIns="0" tIns="0" rIns="0" bIns="0" rtlCol="0" anchor="t">
            <a:normAutofit/>
          </a:bodyPr>
          <a:lstStyle/>
          <a:p>
            <a:pPr marL="0" indent="0">
              <a:lnSpc>
                <a:spcPct val="110000"/>
              </a:lnSpc>
              <a:buNone/>
            </a:pPr>
            <a:r>
              <a:rPr lang="fr-FR" sz="1250" dirty="0">
                <a:solidFill>
                  <a:srgbClr val="26232F"/>
                </a:solidFill>
                <a:latin typeface="Montserrat" pitchFamily="34" charset="0"/>
                <a:ea typeface="Montserrat" pitchFamily="34" charset="-122"/>
                <a:cs typeface="Montserrat" pitchFamily="34" charset="-120"/>
              </a:rPr>
              <a:t>Une licence vin et champagne au nom de Pop Tables, et un plan sanitaire appliqué à chaque soirée.</a:t>
            </a:r>
          </a:p>
        </p:txBody>
      </p:sp>
      <p:sp>
        <p:nvSpPr>
          <p:cNvPr id="27" name="Conclusion"/>
          <p:cNvSpPr txBox="1"/>
          <p:nvPr/>
        </p:nvSpPr>
        <p:spPr>
          <a:xfrm>
            <a:off x="640080" y="5504688"/>
            <a:ext cx="10908792" cy="329184"/>
          </a:xfrm>
          <a:prstGeom prst="rect">
            <a:avLst/>
          </a:prstGeom>
          <a:noFill/>
          <a:ln>
            <a:noFill/>
          </a:ln>
        </p:spPr>
        <p:txBody>
          <a:bodyPr wrap="square" lIns="0" tIns="0" rIns="0" bIns="0" rtlCol="0" anchor="t">
            <a:normAutofit/>
          </a:bodyPr>
          <a:lstStyle/>
          <a:p>
            <a:pPr marL="0" indent="0">
              <a:lnSpc>
                <a:spcPct val="110000"/>
              </a:lnSpc>
              <a:buNone/>
            </a:pPr>
            <a:r>
              <a:rPr lang="fr-FR" sz="1600" i="1" dirty="0">
                <a:solidFill>
                  <a:srgbClr val="C2432B"/>
                </a:solidFill>
                <a:latin typeface="Playfair Display" pitchFamily="34" charset="0"/>
                <a:ea typeface="Playfair Display" pitchFamily="34" charset="-122"/>
                <a:cs typeface="Playfair Display" pitchFamily="34" charset="-120"/>
              </a:rPr>
              <a:t>Un modèle juridique standardisé, reproductible dans chaque ville.</a:t>
            </a:r>
          </a:p>
        </p:txBody>
      </p:sp>
      <p:sp>
        <p:nvSpPr>
          <p:cNvPr id="4"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 xmlns:ma14="http://schemas.microsoft.com/office/mac/drawingml/2011/main"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4F75B3A8-B821-CA1D-9A15-98D66CB1E40E}"/>
              </a:ext>
            </a:extLst>
          </p:cNvPr>
          <p:cNvSpPr>
            <a:spLocks noGrp="1"/>
          </p:cNvSpPr>
          <p:nvPr>
            <p:ph type="body" idx="106"/>
          </p:nvPr>
        </p:nvSpPr>
        <p:spPr/>
        <p:txBody>
          <a:bodyPr lIns="0"/>
          <a:lstStyle/>
          <a:p>
            <a:r>
              <a:rPr lang="fr-FR"/>
              <a:t>FINANCE</a:t>
            </a:r>
          </a:p>
        </p:txBody>
      </p:sp>
      <p:sp>
        <p:nvSpPr>
          <p:cNvPr id="3" name="Titre 2">
            <a:extLst>
              <a:ext uri="{FF2B5EF4-FFF2-40B4-BE49-F238E27FC236}">
                <a16:creationId xmlns:a16="http://schemas.microsoft.com/office/drawing/2014/main" id="{76A1926A-F0DE-7141-6000-4D806C19FDA0}"/>
              </a:ext>
            </a:extLst>
          </p:cNvPr>
          <p:cNvSpPr>
            <a:spLocks noGrp="1"/>
          </p:cNvSpPr>
          <p:nvPr>
            <p:ph type="title" idx="107"/>
          </p:nvPr>
        </p:nvSpPr>
        <p:spPr/>
        <p:txBody>
          <a:bodyPr lIns="0"/>
          <a:lstStyle/>
          <a:p>
            <a:r>
              <a:rPr lang="fr-FR" dirty="0"/>
              <a:t>Un modèle rentable, générateur de cash et en croissance</a:t>
            </a:r>
          </a:p>
        </p:txBody>
      </p:sp>
      <p:sp>
        <p:nvSpPr>
          <p:cNvPr id="4" name="Filet fonds">
            <a:extLst>
              <a:ext uri="{FF2B5EF4-FFF2-40B4-BE49-F238E27FC236}">
                <a16:creationId xmlns:a16="http://schemas.microsoft.com/office/drawing/2014/main" id="{F8B4762E-C7FF-511A-27C6-8F863C09965D}"/>
              </a:ext>
            </a:extLst>
          </p:cNvPr>
          <p:cNvSpPr/>
          <p:nvPr/>
        </p:nvSpPr>
        <p:spPr>
          <a:xfrm>
            <a:off x="635000" y="2311400"/>
            <a:ext cx="3175000" cy="63500"/>
          </a:xfrm>
          <a:prstGeom prst="rect">
            <a:avLst/>
          </a:prstGeom>
          <a:solidFill>
            <a:srgbClr val="C2432B"/>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Titre fonds">
            <a:extLst>
              <a:ext uri="{FF2B5EF4-FFF2-40B4-BE49-F238E27FC236}">
                <a16:creationId xmlns:a16="http://schemas.microsoft.com/office/drawing/2014/main" id="{85691720-F44E-2D0A-C349-44F932BD6CB1}"/>
              </a:ext>
            </a:extLst>
          </p:cNvPr>
          <p:cNvSpPr txBox="1"/>
          <p:nvPr/>
        </p:nvSpPr>
        <p:spPr>
          <a:xfrm>
            <a:off x="635000" y="2489200"/>
            <a:ext cx="3175000" cy="369332"/>
          </a:xfrm>
          <a:prstGeom prst="rect">
            <a:avLst/>
          </a:prstGeom>
          <a:noFill/>
        </p:spPr>
        <p:txBody>
          <a:bodyPr vert="horz" wrap="square" lIns="0" tIns="0" rIns="0" bIns="0" rtlCol="0">
            <a:noAutofit/>
          </a:bodyPr>
          <a:lstStyle/>
          <a:p>
            <a:r>
              <a:rPr lang="fr-FR">
                <a:solidFill>
                  <a:srgbClr val="26232F"/>
                </a:solidFill>
                <a:latin typeface="Playfair Display" panose="00000500000000000000" pitchFamily="2" charset="0"/>
              </a:rPr>
              <a:t>Origine des fonds</a:t>
            </a:r>
          </a:p>
        </p:txBody>
      </p:sp>
      <p:sp>
        <p:nvSpPr>
          <p:cNvPr id="6" name="Chiffre fonds">
            <a:extLst>
              <a:ext uri="{FF2B5EF4-FFF2-40B4-BE49-F238E27FC236}">
                <a16:creationId xmlns:a16="http://schemas.microsoft.com/office/drawing/2014/main" id="{5365B34C-238C-3422-86D7-B004AFD1BA0B}"/>
              </a:ext>
            </a:extLst>
          </p:cNvPr>
          <p:cNvSpPr txBox="1"/>
          <p:nvPr/>
        </p:nvSpPr>
        <p:spPr>
          <a:xfrm>
            <a:off x="635000" y="2895600"/>
            <a:ext cx="3175000" cy="369332"/>
          </a:xfrm>
          <a:prstGeom prst="rect">
            <a:avLst/>
          </a:prstGeom>
          <a:noFill/>
        </p:spPr>
        <p:txBody>
          <a:bodyPr vert="horz" wrap="square" lIns="0" tIns="0" rIns="0" bIns="0" rtlCol="0">
            <a:noAutofit/>
          </a:bodyPr>
          <a:lstStyle/>
          <a:p>
            <a:r>
              <a:rPr lang="fr-FR" sz="4400">
                <a:solidFill>
                  <a:srgbClr val="C2432B"/>
                </a:solidFill>
                <a:latin typeface="Playfair Display" panose="00000500000000000000" pitchFamily="2" charset="0"/>
              </a:rPr>
              <a:t>70 000 €</a:t>
            </a:r>
          </a:p>
        </p:txBody>
      </p:sp>
      <p:sp>
        <p:nvSpPr>
          <p:cNvPr id="7" name="Libellé fonds">
            <a:extLst>
              <a:ext uri="{FF2B5EF4-FFF2-40B4-BE49-F238E27FC236}">
                <a16:creationId xmlns:a16="http://schemas.microsoft.com/office/drawing/2014/main" id="{A747878D-8F91-64ED-54D6-BEDBB322AB4A}"/>
              </a:ext>
            </a:extLst>
          </p:cNvPr>
          <p:cNvSpPr txBox="1"/>
          <p:nvPr/>
        </p:nvSpPr>
        <p:spPr>
          <a:xfrm>
            <a:off x="635000" y="3683000"/>
            <a:ext cx="3175000" cy="369332"/>
          </a:xfrm>
          <a:prstGeom prst="rect">
            <a:avLst/>
          </a:prstGeom>
          <a:noFill/>
        </p:spPr>
        <p:txBody>
          <a:bodyPr vert="horz" wrap="square" lIns="0" tIns="0" rIns="0" bIns="0" rtlCol="0">
            <a:noAutofit/>
          </a:bodyPr>
          <a:lstStyle/>
          <a:p>
            <a:r>
              <a:rPr lang="fr-FR" sz="1000" b="1">
                <a:solidFill>
                  <a:srgbClr val="26232F"/>
                </a:solidFill>
                <a:latin typeface="Montserrat" panose="00000500000000000000" pitchFamily="2" charset="0"/>
              </a:rPr>
              <a:t>APPORT DES 7 FONDATEURS</a:t>
            </a:r>
          </a:p>
        </p:txBody>
      </p:sp>
      <p:sp>
        <p:nvSpPr>
          <p:cNvPr id="8" name="Fondateur 1">
            <a:extLst>
              <a:ext uri="{FF2B5EF4-FFF2-40B4-BE49-F238E27FC236}">
                <a16:creationId xmlns:a16="http://schemas.microsoft.com/office/drawing/2014/main" id="{B016C1B2-0B19-0553-5E7B-5DB806AA3BB3}"/>
              </a:ext>
            </a:extLst>
          </p:cNvPr>
          <p:cNvSpPr/>
          <p:nvPr/>
        </p:nvSpPr>
        <p:spPr>
          <a:xfrm>
            <a:off x="635000" y="3987800"/>
            <a:ext cx="330200" cy="330200"/>
          </a:xfrm>
          <a:prstGeom prst="ellipse">
            <a:avLst/>
          </a:prstGeom>
          <a:solidFill>
            <a:srgbClr val="1E1B2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Fondateur 2">
            <a:extLst>
              <a:ext uri="{FF2B5EF4-FFF2-40B4-BE49-F238E27FC236}">
                <a16:creationId xmlns:a16="http://schemas.microsoft.com/office/drawing/2014/main" id="{0C5D332C-0D83-FD2B-BDCD-F9FBF2237426}"/>
              </a:ext>
            </a:extLst>
          </p:cNvPr>
          <p:cNvSpPr/>
          <p:nvPr/>
        </p:nvSpPr>
        <p:spPr>
          <a:xfrm>
            <a:off x="1092200" y="3987800"/>
            <a:ext cx="330200" cy="330200"/>
          </a:xfrm>
          <a:prstGeom prst="ellipse">
            <a:avLst/>
          </a:prstGeom>
          <a:solidFill>
            <a:srgbClr val="1E1B2E"/>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ondateur 3">
            <a:extLst>
              <a:ext uri="{FF2B5EF4-FFF2-40B4-BE49-F238E27FC236}">
                <a16:creationId xmlns:a16="http://schemas.microsoft.com/office/drawing/2014/main" id="{9ED382BB-D24B-E5D2-21C2-0AC31A61C810}"/>
              </a:ext>
            </a:extLst>
          </p:cNvPr>
          <p:cNvSpPr/>
          <p:nvPr/>
        </p:nvSpPr>
        <p:spPr>
          <a:xfrm>
            <a:off x="1549400" y="3987800"/>
            <a:ext cx="330200" cy="330200"/>
          </a:xfrm>
          <a:prstGeom prst="ellipse">
            <a:avLst/>
          </a:prstGeom>
          <a:solidFill>
            <a:srgbClr val="C8963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Fondateur 4">
            <a:extLst>
              <a:ext uri="{FF2B5EF4-FFF2-40B4-BE49-F238E27FC236}">
                <a16:creationId xmlns:a16="http://schemas.microsoft.com/office/drawing/2014/main" id="{7E6262D4-23D1-D738-9ADB-C3193739316F}"/>
              </a:ext>
            </a:extLst>
          </p:cNvPr>
          <p:cNvSpPr/>
          <p:nvPr/>
        </p:nvSpPr>
        <p:spPr>
          <a:xfrm>
            <a:off x="2006600" y="3987800"/>
            <a:ext cx="330200" cy="330200"/>
          </a:xfrm>
          <a:prstGeom prst="ellipse">
            <a:avLst/>
          </a:prstGeom>
          <a:solidFill>
            <a:srgbClr val="C8963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Fondateur 5">
            <a:extLst>
              <a:ext uri="{FF2B5EF4-FFF2-40B4-BE49-F238E27FC236}">
                <a16:creationId xmlns:a16="http://schemas.microsoft.com/office/drawing/2014/main" id="{85745F52-1976-6F44-67C7-91121DD76C1A}"/>
              </a:ext>
            </a:extLst>
          </p:cNvPr>
          <p:cNvSpPr/>
          <p:nvPr/>
        </p:nvSpPr>
        <p:spPr>
          <a:xfrm>
            <a:off x="2463800" y="3987800"/>
            <a:ext cx="330200" cy="330200"/>
          </a:xfrm>
          <a:prstGeom prst="ellipse">
            <a:avLst/>
          </a:prstGeom>
          <a:solidFill>
            <a:srgbClr val="C8963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Fondateur 6">
            <a:extLst>
              <a:ext uri="{FF2B5EF4-FFF2-40B4-BE49-F238E27FC236}">
                <a16:creationId xmlns:a16="http://schemas.microsoft.com/office/drawing/2014/main" id="{4F78E439-89DF-2323-DADF-7EF1E24EF7DA}"/>
              </a:ext>
            </a:extLst>
          </p:cNvPr>
          <p:cNvSpPr/>
          <p:nvPr/>
        </p:nvSpPr>
        <p:spPr>
          <a:xfrm>
            <a:off x="2921000" y="3987800"/>
            <a:ext cx="330200" cy="330200"/>
          </a:xfrm>
          <a:prstGeom prst="ellipse">
            <a:avLst/>
          </a:prstGeom>
          <a:solidFill>
            <a:srgbClr val="C8963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Fondateur 7">
            <a:extLst>
              <a:ext uri="{FF2B5EF4-FFF2-40B4-BE49-F238E27FC236}">
                <a16:creationId xmlns:a16="http://schemas.microsoft.com/office/drawing/2014/main" id="{9CFE2377-F002-D803-95E3-84A4E930B9FC}"/>
              </a:ext>
            </a:extLst>
          </p:cNvPr>
          <p:cNvSpPr/>
          <p:nvPr/>
        </p:nvSpPr>
        <p:spPr>
          <a:xfrm>
            <a:off x="3378200" y="3987800"/>
            <a:ext cx="330200" cy="330200"/>
          </a:xfrm>
          <a:prstGeom prst="ellipse">
            <a:avLst/>
          </a:prstGeom>
          <a:solidFill>
            <a:srgbClr val="C8963A"/>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Détail fondateurs">
            <a:extLst>
              <a:ext uri="{FF2B5EF4-FFF2-40B4-BE49-F238E27FC236}">
                <a16:creationId xmlns:a16="http://schemas.microsoft.com/office/drawing/2014/main" id="{EB82E893-BB69-004D-D471-FCA6CE413F4D}"/>
              </a:ext>
            </a:extLst>
          </p:cNvPr>
          <p:cNvSpPr txBox="1"/>
          <p:nvPr/>
        </p:nvSpPr>
        <p:spPr>
          <a:xfrm>
            <a:off x="635000" y="4419600"/>
            <a:ext cx="3175000" cy="369332"/>
          </a:xfrm>
          <a:prstGeom prst="rect">
            <a:avLst/>
          </a:prstGeom>
          <a:noFill/>
        </p:spPr>
        <p:txBody>
          <a:bodyPr vert="horz" wrap="square" lIns="0" tIns="0" rIns="0" bIns="0" rtlCol="0">
            <a:noAutofit/>
          </a:bodyPr>
          <a:lstStyle/>
          <a:p>
            <a:r>
              <a:rPr lang="fr-FR" sz="1000">
                <a:solidFill>
                  <a:srgbClr val="6B6670"/>
                </a:solidFill>
                <a:latin typeface="Montserrat" panose="00000500000000000000" pitchFamily="2" charset="0"/>
              </a:rPr>
              <a:t>10 000 € chacun · en foncé : 2 exécutifs</a:t>
            </a:r>
          </a:p>
        </p:txBody>
      </p:sp>
      <p:sp>
        <p:nvSpPr>
          <p:cNvPr id="16" name="Texte fonds">
            <a:extLst>
              <a:ext uri="{FF2B5EF4-FFF2-40B4-BE49-F238E27FC236}">
                <a16:creationId xmlns:a16="http://schemas.microsoft.com/office/drawing/2014/main" id="{2326B2C0-0CF4-8EE7-0C9D-F8DDD9C87201}"/>
              </a:ext>
            </a:extLst>
          </p:cNvPr>
          <p:cNvSpPr txBox="1"/>
          <p:nvPr/>
        </p:nvSpPr>
        <p:spPr>
          <a:xfrm>
            <a:off x="635000" y="4775200"/>
            <a:ext cx="3175000" cy="369332"/>
          </a:xfrm>
          <a:prstGeom prst="rect">
            <a:avLst/>
          </a:prstGeom>
          <a:noFill/>
        </p:spPr>
        <p:txBody>
          <a:bodyPr vert="horz" wrap="square" lIns="0" tIns="0" rIns="0" bIns="0" rtlCol="0">
            <a:noAutofit/>
          </a:bodyPr>
          <a:lstStyle/>
          <a:p>
            <a:r>
              <a:rPr lang="fr-FR" sz="1100">
                <a:solidFill>
                  <a:srgbClr val="26232F"/>
                </a:solidFill>
                <a:latin typeface="Montserrat" panose="00000500000000000000" pitchFamily="2" charset="0"/>
              </a:rPr>
              <a:t>Capital initial de la SAS (D-26) : ni prêt, ni subvention, ni levée.</a:t>
            </a:r>
          </a:p>
        </p:txBody>
      </p:sp>
      <p:sp>
        <p:nvSpPr>
          <p:cNvPr id="17" name="Conclusion fonds">
            <a:extLst>
              <a:ext uri="{FF2B5EF4-FFF2-40B4-BE49-F238E27FC236}">
                <a16:creationId xmlns:a16="http://schemas.microsoft.com/office/drawing/2014/main" id="{697446B6-7C75-333A-A16E-BF367F81DCD1}"/>
              </a:ext>
            </a:extLst>
          </p:cNvPr>
          <p:cNvSpPr txBox="1"/>
          <p:nvPr/>
        </p:nvSpPr>
        <p:spPr>
          <a:xfrm>
            <a:off x="635000" y="5410200"/>
            <a:ext cx="3175000" cy="369332"/>
          </a:xfrm>
          <a:prstGeom prst="rect">
            <a:avLst/>
          </a:prstGeom>
          <a:noFill/>
        </p:spPr>
        <p:txBody>
          <a:bodyPr vert="horz" wrap="square" lIns="0" tIns="0" rIns="0" bIns="0" rtlCol="0">
            <a:noAutofit/>
          </a:bodyPr>
          <a:lstStyle/>
          <a:p>
            <a:r>
              <a:rPr lang="fr-FR" sz="1200" i="1">
                <a:solidFill>
                  <a:srgbClr val="C2432B"/>
                </a:solidFill>
                <a:latin typeface="Playfair Display" panose="00000500000000000000" pitchFamily="2" charset="0"/>
              </a:rPr>
              <a:t>Trésorerie jamais négative : point bas de +10 071 € en mars 2027.</a:t>
            </a:r>
          </a:p>
        </p:txBody>
      </p:sp>
      <p:sp>
        <p:nvSpPr>
          <p:cNvPr id="18" name="Filet CA">
            <a:extLst>
              <a:ext uri="{FF2B5EF4-FFF2-40B4-BE49-F238E27FC236}">
                <a16:creationId xmlns:a16="http://schemas.microsoft.com/office/drawing/2014/main" id="{F3034690-5F9A-48BE-9118-68284EC603F3}"/>
              </a:ext>
            </a:extLst>
          </p:cNvPr>
          <p:cNvSpPr/>
          <p:nvPr/>
        </p:nvSpPr>
        <p:spPr>
          <a:xfrm>
            <a:off x="4191000" y="2311400"/>
            <a:ext cx="4064000" cy="63500"/>
          </a:xfrm>
          <a:prstGeom prst="rect">
            <a:avLst/>
          </a:prstGeom>
          <a:solidFill>
            <a:srgbClr val="C896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Titre CA">
            <a:extLst>
              <a:ext uri="{FF2B5EF4-FFF2-40B4-BE49-F238E27FC236}">
                <a16:creationId xmlns:a16="http://schemas.microsoft.com/office/drawing/2014/main" id="{51E37BE9-E789-A52F-9D79-DCF883714D51}"/>
              </a:ext>
            </a:extLst>
          </p:cNvPr>
          <p:cNvSpPr txBox="1"/>
          <p:nvPr/>
        </p:nvSpPr>
        <p:spPr>
          <a:xfrm>
            <a:off x="4191000" y="2489200"/>
            <a:ext cx="4064000" cy="369332"/>
          </a:xfrm>
          <a:prstGeom prst="rect">
            <a:avLst/>
          </a:prstGeom>
          <a:noFill/>
        </p:spPr>
        <p:txBody>
          <a:bodyPr vert="horz" wrap="square" lIns="0" tIns="0" rIns="0" bIns="0" rtlCol="0">
            <a:noAutofit/>
          </a:bodyPr>
          <a:lstStyle/>
          <a:p>
            <a:r>
              <a:rPr lang="fr-FR">
                <a:solidFill>
                  <a:srgbClr val="26232F"/>
                </a:solidFill>
                <a:latin typeface="Playfair Display" panose="00000500000000000000" pitchFamily="2" charset="0"/>
              </a:rPr>
              <a:t>Chiffre d'affaires et résultat</a:t>
            </a:r>
          </a:p>
        </p:txBody>
      </p:sp>
      <p:sp>
        <p:nvSpPr>
          <p:cNvPr id="20" name="Unité CA">
            <a:extLst>
              <a:ext uri="{FF2B5EF4-FFF2-40B4-BE49-F238E27FC236}">
                <a16:creationId xmlns:a16="http://schemas.microsoft.com/office/drawing/2014/main" id="{DAD72023-5862-ABDD-B76F-CB620AF8BD9E}"/>
              </a:ext>
            </a:extLst>
          </p:cNvPr>
          <p:cNvSpPr txBox="1"/>
          <p:nvPr/>
        </p:nvSpPr>
        <p:spPr>
          <a:xfrm>
            <a:off x="4191000" y="2844800"/>
            <a:ext cx="4064000" cy="369332"/>
          </a:xfrm>
          <a:prstGeom prst="rect">
            <a:avLst/>
          </a:prstGeom>
          <a:noFill/>
        </p:spPr>
        <p:txBody>
          <a:bodyPr vert="horz" wrap="square" lIns="0" tIns="0" rIns="0" bIns="0" rtlCol="0">
            <a:noAutofit/>
          </a:bodyPr>
          <a:lstStyle/>
          <a:p>
            <a:r>
              <a:rPr lang="fr-FR" sz="900">
                <a:solidFill>
                  <a:srgbClr val="6B6670"/>
                </a:solidFill>
                <a:latin typeface="Montserrat" panose="00000500000000000000" pitchFamily="2" charset="0"/>
              </a:rPr>
              <a:t>En milliers d'euros HT, par année (novembre à octobre)</a:t>
            </a:r>
          </a:p>
        </p:txBody>
      </p:sp>
      <p:graphicFrame>
        <p:nvGraphicFramePr>
          <p:cNvPr id="21" name="Graphique CA et résultat">
            <a:extLst>
              <a:ext uri="{FF2B5EF4-FFF2-40B4-BE49-F238E27FC236}">
                <a16:creationId xmlns:a16="http://schemas.microsoft.com/office/drawing/2014/main" id="{83E094AE-4A4B-0E73-4CCC-AE01718D9972}"/>
              </a:ext>
            </a:extLst>
          </p:cNvPr>
          <p:cNvGraphicFramePr/>
          <p:nvPr/>
        </p:nvGraphicFramePr>
        <p:xfrm>
          <a:off x="4191000" y="3048000"/>
          <a:ext cx="4064000" cy="2870200"/>
        </p:xfrm>
        <a:graphic>
          <a:graphicData uri="http://schemas.openxmlformats.org/drawingml/2006/chart">
            <c:chart xmlns:c="http://schemas.openxmlformats.org/drawingml/2006/chart" xmlns:r="http://schemas.openxmlformats.org/officeDocument/2006/relationships" r:id="rId3"/>
          </a:graphicData>
        </a:graphic>
      </p:graphicFrame>
      <p:sp>
        <p:nvSpPr>
          <p:cNvPr id="22" name="Filet valorisation">
            <a:extLst>
              <a:ext uri="{FF2B5EF4-FFF2-40B4-BE49-F238E27FC236}">
                <a16:creationId xmlns:a16="http://schemas.microsoft.com/office/drawing/2014/main" id="{D67B713E-FC50-9AE2-7018-E46212FCF6A0}"/>
              </a:ext>
            </a:extLst>
          </p:cNvPr>
          <p:cNvSpPr/>
          <p:nvPr/>
        </p:nvSpPr>
        <p:spPr>
          <a:xfrm>
            <a:off x="8636000" y="2311400"/>
            <a:ext cx="2921000" cy="63500"/>
          </a:xfrm>
          <a:prstGeom prst="rect">
            <a:avLst/>
          </a:prstGeom>
          <a:solidFill>
            <a:srgbClr val="1E1B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Titre valorisation">
            <a:extLst>
              <a:ext uri="{FF2B5EF4-FFF2-40B4-BE49-F238E27FC236}">
                <a16:creationId xmlns:a16="http://schemas.microsoft.com/office/drawing/2014/main" id="{3835040F-8A24-52CE-22EA-52478FAD59E0}"/>
              </a:ext>
            </a:extLst>
          </p:cNvPr>
          <p:cNvSpPr txBox="1"/>
          <p:nvPr/>
        </p:nvSpPr>
        <p:spPr>
          <a:xfrm>
            <a:off x="8636000" y="2489200"/>
            <a:ext cx="2921000" cy="369332"/>
          </a:xfrm>
          <a:prstGeom prst="rect">
            <a:avLst/>
          </a:prstGeom>
          <a:noFill/>
        </p:spPr>
        <p:txBody>
          <a:bodyPr vert="horz" wrap="square" lIns="0" tIns="0" rIns="0" bIns="0" rtlCol="0">
            <a:noAutofit/>
          </a:bodyPr>
          <a:lstStyle/>
          <a:p>
            <a:r>
              <a:rPr lang="fr-FR">
                <a:solidFill>
                  <a:srgbClr val="26232F"/>
                </a:solidFill>
                <a:latin typeface="Playfair Display" panose="00000500000000000000" pitchFamily="2" charset="0"/>
              </a:rPr>
              <a:t>Valorisation à 3 ans</a:t>
            </a:r>
          </a:p>
        </p:txBody>
      </p:sp>
      <p:sp>
        <p:nvSpPr>
          <p:cNvPr id="24" name="Chiffre valorisation">
            <a:extLst>
              <a:ext uri="{FF2B5EF4-FFF2-40B4-BE49-F238E27FC236}">
                <a16:creationId xmlns:a16="http://schemas.microsoft.com/office/drawing/2014/main" id="{CE20197B-48D0-9A86-222C-B25E43CCDCE8}"/>
              </a:ext>
            </a:extLst>
          </p:cNvPr>
          <p:cNvSpPr txBox="1"/>
          <p:nvPr/>
        </p:nvSpPr>
        <p:spPr>
          <a:xfrm>
            <a:off x="8636000" y="2895600"/>
            <a:ext cx="2921000" cy="369332"/>
          </a:xfrm>
          <a:prstGeom prst="rect">
            <a:avLst/>
          </a:prstGeom>
          <a:noFill/>
        </p:spPr>
        <p:txBody>
          <a:bodyPr vert="horz" wrap="square" lIns="0" tIns="0" rIns="0" bIns="0" rtlCol="0">
            <a:noAutofit/>
          </a:bodyPr>
          <a:lstStyle/>
          <a:p>
            <a:r>
              <a:rPr lang="fr-FR" sz="4800">
                <a:solidFill>
                  <a:srgbClr val="C2432B"/>
                </a:solidFill>
                <a:latin typeface="Playfair Display" panose="00000500000000000000" pitchFamily="2" charset="0"/>
              </a:rPr>
              <a:t>3 à 4 M€</a:t>
            </a:r>
          </a:p>
        </p:txBody>
      </p:sp>
      <p:sp>
        <p:nvSpPr>
          <p:cNvPr id="25" name="Libellé valorisation">
            <a:extLst>
              <a:ext uri="{FF2B5EF4-FFF2-40B4-BE49-F238E27FC236}">
                <a16:creationId xmlns:a16="http://schemas.microsoft.com/office/drawing/2014/main" id="{FC20E8F2-F8D7-3446-144D-B631735DACAB}"/>
              </a:ext>
            </a:extLst>
          </p:cNvPr>
          <p:cNvSpPr txBox="1"/>
          <p:nvPr/>
        </p:nvSpPr>
        <p:spPr>
          <a:xfrm>
            <a:off x="8636000" y="3784600"/>
            <a:ext cx="2921000" cy="369332"/>
          </a:xfrm>
          <a:prstGeom prst="rect">
            <a:avLst/>
          </a:prstGeom>
          <a:noFill/>
        </p:spPr>
        <p:txBody>
          <a:bodyPr vert="horz" wrap="square" lIns="0" tIns="0" rIns="0" bIns="0" rtlCol="0">
            <a:noAutofit/>
          </a:bodyPr>
          <a:lstStyle/>
          <a:p>
            <a:r>
              <a:rPr lang="fr-FR" sz="1000" b="1" dirty="0">
                <a:solidFill>
                  <a:srgbClr val="26232F"/>
                </a:solidFill>
                <a:latin typeface="Montserrat" panose="00000500000000000000" pitchFamily="2" charset="0"/>
              </a:rPr>
              <a:t>FIN D'ANNÉE 3</a:t>
            </a:r>
          </a:p>
        </p:txBody>
      </p:sp>
      <p:sp>
        <p:nvSpPr>
          <p:cNvPr id="26" name="Commentaire valorisation">
            <a:extLst>
              <a:ext uri="{FF2B5EF4-FFF2-40B4-BE49-F238E27FC236}">
                <a16:creationId xmlns:a16="http://schemas.microsoft.com/office/drawing/2014/main" id="{7CFE6EA1-D349-E9A0-B498-BDE9FA66A103}"/>
              </a:ext>
            </a:extLst>
          </p:cNvPr>
          <p:cNvSpPr txBox="1"/>
          <p:nvPr/>
        </p:nvSpPr>
        <p:spPr>
          <a:xfrm>
            <a:off x="8636000" y="4089400"/>
            <a:ext cx="2921000" cy="369332"/>
          </a:xfrm>
          <a:prstGeom prst="rect">
            <a:avLst/>
          </a:prstGeom>
          <a:noFill/>
        </p:spPr>
        <p:txBody>
          <a:bodyPr vert="horz" wrap="square" lIns="0" tIns="0" rIns="0" bIns="0" rtlCol="0">
            <a:noAutofit/>
          </a:bodyPr>
          <a:lstStyle/>
          <a:p>
            <a:pPr>
              <a:spcAft>
                <a:spcPts val="600"/>
              </a:spcAft>
            </a:pPr>
            <a:r>
              <a:rPr lang="fr-FR" sz="1200">
                <a:solidFill>
                  <a:srgbClr val="26232F"/>
                </a:solidFill>
                <a:latin typeface="Montserrat" panose="00000500000000000000" pitchFamily="2" charset="0"/>
              </a:rPr>
              <a:t>1 × le CA de l'année 3 : 4,1 M€</a:t>
            </a:r>
          </a:p>
          <a:p>
            <a:pPr>
              <a:spcAft>
                <a:spcPts val="600"/>
              </a:spcAft>
            </a:pPr>
            <a:r>
              <a:rPr lang="fr-FR" sz="1200">
                <a:solidFill>
                  <a:srgbClr val="26232F"/>
                </a:solidFill>
                <a:latin typeface="Montserrat" panose="00000500000000000000" pitchFamily="2" charset="0"/>
              </a:rPr>
              <a:t>8 × le résultat de l'année 3 : 3,0 M€</a:t>
            </a:r>
          </a:p>
          <a:p>
            <a:pPr>
              <a:spcAft>
                <a:spcPts val="600"/>
              </a:spcAft>
            </a:pPr>
            <a:r>
              <a:rPr lang="fr-FR" sz="1200">
                <a:solidFill>
                  <a:srgbClr val="26232F"/>
                </a:solidFill>
                <a:latin typeface="Montserrat" panose="00000500000000000000" pitchFamily="2" charset="0"/>
              </a:rPr>
              <a:t>Point de départ : 400 k€ en 2026</a:t>
            </a:r>
          </a:p>
        </p:txBody>
      </p:sp>
      <p:sp>
        <p:nvSpPr>
          <p:cNvPr id="29" name="Espace réservé du numéro de diapositive 28">
            <a:extLst>
              <a:ext uri="{FF2B5EF4-FFF2-40B4-BE49-F238E27FC236}">
                <a16:creationId xmlns:a16="http://schemas.microsoft.com/office/drawing/2014/main" id="{EE2A0BF7-420A-8747-48EF-29B18902A347}"/>
              </a:ext>
            </a:extLst>
          </p:cNvPr>
          <p:cNvSpPr>
            <a:spLocks noGrp="1"/>
          </p:cNvSpPr>
          <p:nvPr>
            <p:ph type="sldNum" sz="quarter" idx="4294967295"/>
          </p:nvPr>
        </p:nvSpPr>
        <p:spPr/>
        <p:txBody>
          <a:bodyPr/>
          <a:lstStyle/>
          <a:p>
            <a:pPr algn="r"/>
            <a:fld id="{F7021451-1387-4CA6-816F-3879F97B5CBC}" type="slidenum">
              <a:rPr lang="en-US" b="0" smtClean="0"/>
              <a:t>9</a:t>
            </a:fld>
            <a:endParaRPr lang="en-US"/>
          </a:p>
        </p:txBody>
      </p:sp>
    </p:spTree>
    <p:extLst>
      <p:ext uri="{BB962C8B-B14F-4D97-AF65-F5344CB8AC3E}">
        <p14:creationId xmlns:p14="http://schemas.microsoft.com/office/powerpoint/2010/main" val="282817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dy"/>
          <p:cNvSpPr>
            <a:spLocks noGrp="1"/>
          </p:cNvSpPr>
          <p:nvPr>
            <p:ph type="body" idx="106" hasCustomPrompt="1"/>
          </p:nvPr>
        </p:nvSpPr>
        <p:spPr>
          <a:xfrm>
            <a:off x="640080" y="914400"/>
            <a:ext cx="10911535" cy="274320"/>
          </a:xfrm>
        </p:spPr>
        <p:txBody>
          <a:bodyPr wrap="square" lIns="0" tIns="0" rIns="0" bIns="0" anchor="t"/>
          <a:lstStyle/>
          <a:p>
            <a:pPr marL="0" indent="0" algn="l">
              <a:buNone/>
            </a:pPr>
            <a:r>
              <a:rPr lang="fr-FR" sz="1000" b="1" spc="300" dirty="0">
                <a:solidFill>
                  <a:srgbClr val="C2432B"/>
                </a:solidFill>
                <a:latin typeface="Montserrat" pitchFamily="34" charset="0"/>
              </a:rPr>
              <a:t>SYNTHÈSE</a:t>
            </a:r>
          </a:p>
        </p:txBody>
      </p:sp>
      <p:sp>
        <p:nvSpPr>
          <p:cNvPr id="3" name="title"/>
          <p:cNvSpPr>
            <a:spLocks noGrp="1"/>
          </p:cNvSpPr>
          <p:nvPr>
            <p:ph type="title" idx="107" hasCustomPrompt="1"/>
          </p:nvPr>
        </p:nvSpPr>
        <p:spPr>
          <a:xfrm>
            <a:off x="640080" y="1234440"/>
            <a:ext cx="10911535" cy="822960"/>
          </a:xfrm>
        </p:spPr>
        <p:txBody>
          <a:bodyPr wrap="square" lIns="0" tIns="0" rIns="0" bIns="0" anchor="t"/>
          <a:lstStyle/>
          <a:p>
            <a:pPr marL="0" indent="0" algn="l">
              <a:buNone/>
            </a:pPr>
            <a:r>
              <a:rPr lang="fr-FR" sz="2800" dirty="0"/>
              <a:t>Le</a:t>
            </a:r>
            <a:r>
              <a:rPr lang="fr-FR" sz="2800" dirty="0">
                <a:solidFill>
                  <a:srgbClr val="1E1B2E"/>
                </a:solidFill>
                <a:latin typeface="Playfair Display" pitchFamily="34" charset="0"/>
              </a:rPr>
              <a:t> modèle des coups réussis</a:t>
            </a:r>
          </a:p>
        </p:txBody>
      </p:sp>
      <p:sp>
        <p:nvSpPr>
          <p:cNvPr id="11" name="Filet 11"/>
          <p:cNvSpPr/>
          <p:nvPr/>
        </p:nvSpPr>
        <p:spPr>
          <a:xfrm>
            <a:off x="640080" y="2240000"/>
            <a:ext cx="2555748" cy="73152"/>
          </a:xfrm>
          <a:prstGeom prst="rect">
            <a:avLst/>
          </a:prstGeom>
          <a:solidFill>
            <a:srgbClr val="C2432B"/>
          </a:solidFill>
          <a:ln>
            <a:noFill/>
          </a:ln>
        </p:spPr>
        <p:txBody>
          <a:bodyPr/>
          <a:lstStyle/>
          <a:p>
            <a:endParaRPr lang="en-GB"/>
          </a:p>
        </p:txBody>
      </p:sp>
      <p:sp>
        <p:nvSpPr>
          <p:cNvPr id="12" name="Texte 12"/>
          <p:cNvSpPr txBox="1"/>
          <p:nvPr/>
        </p:nvSpPr>
        <p:spPr>
          <a:xfrm>
            <a:off x="640080" y="2420000"/>
            <a:ext cx="2555748" cy="230000"/>
          </a:xfrm>
          <a:prstGeom prst="rect">
            <a:avLst/>
          </a:prstGeom>
          <a:noFill/>
          <a:ln>
            <a:noFill/>
          </a:ln>
        </p:spPr>
        <p:txBody>
          <a:bodyPr wrap="square" lIns="0" tIns="0" rIns="0" bIns="0" rtlCol="0" anchor="t">
            <a:noAutofit/>
          </a:bodyPr>
          <a:lstStyle/>
          <a:p>
            <a:pPr marL="0" indent="0">
              <a:lnSpc>
                <a:spcPct val="110000"/>
              </a:lnSpc>
              <a:buNone/>
            </a:pPr>
            <a:r>
              <a:rPr lang="fr-FR" sz="1000" b="1" spc="200" dirty="0">
                <a:solidFill>
                  <a:srgbClr val="26232F"/>
                </a:solidFill>
                <a:latin typeface="Montserrat" pitchFamily="34" charset="0"/>
                <a:ea typeface="Montserrat" pitchFamily="34" charset="-122"/>
                <a:cs typeface="Montserrat" pitchFamily="34" charset="-120"/>
              </a:rPr>
              <a:t>LE MARCHÉ ET L’OFFRE</a:t>
            </a:r>
          </a:p>
        </p:txBody>
      </p:sp>
      <p:sp>
        <p:nvSpPr>
          <p:cNvPr id="13" name="Texte 13"/>
          <p:cNvSpPr txBox="1"/>
          <p:nvPr/>
        </p:nvSpPr>
        <p:spPr>
          <a:xfrm>
            <a:off x="640080" y="2780000"/>
            <a:ext cx="2555748" cy="560000"/>
          </a:xfrm>
          <a:prstGeom prst="rect">
            <a:avLst/>
          </a:prstGeom>
          <a:noFill/>
          <a:ln>
            <a:noFill/>
          </a:ln>
        </p:spPr>
        <p:txBody>
          <a:bodyPr wrap="square" lIns="0" tIns="0" rIns="0" bIns="0" rtlCol="0" anchor="t">
            <a:noAutofit/>
          </a:bodyPr>
          <a:lstStyle/>
          <a:p>
            <a:pPr marL="0" indent="0">
              <a:lnSpc>
                <a:spcPct val="110000"/>
              </a:lnSpc>
              <a:buNone/>
            </a:pPr>
            <a:r>
              <a:rPr lang="fr-FR" sz="2000" dirty="0">
                <a:solidFill>
                  <a:srgbClr val="1E1B2E"/>
                </a:solidFill>
                <a:latin typeface="Playfair Display" pitchFamily="34" charset="0"/>
                <a:ea typeface="Playfair Display" pitchFamily="34" charset="-122"/>
                <a:cs typeface="Playfair Display" pitchFamily="34" charset="-120"/>
              </a:rPr>
              <a:t>Un besoin existant</a:t>
            </a:r>
          </a:p>
        </p:txBody>
      </p:sp>
      <p:sp>
        <p:nvSpPr>
          <p:cNvPr id="15" name="Texte 15"/>
          <p:cNvSpPr txBox="1"/>
          <p:nvPr/>
        </p:nvSpPr>
        <p:spPr>
          <a:xfrm>
            <a:off x="640080" y="4200000"/>
            <a:ext cx="2555748" cy="560000"/>
          </a:xfrm>
          <a:prstGeom prst="rect">
            <a:avLst/>
          </a:prstGeom>
          <a:noFill/>
          <a:ln>
            <a:noFill/>
          </a:ln>
        </p:spPr>
        <p:txBody>
          <a:bodyPr wrap="square" lIns="0" tIns="0" rIns="0" bIns="0" rtlCol="0" anchor="t">
            <a:noAutofit/>
          </a:bodyPr>
          <a:lstStyle/>
          <a:p>
            <a:pPr marL="0" indent="0">
              <a:lnSpc>
                <a:spcPct val="110000"/>
              </a:lnSpc>
              <a:buNone/>
            </a:pPr>
            <a:r>
              <a:rPr lang="fr-FR" sz="2000" dirty="0">
                <a:solidFill>
                  <a:srgbClr val="1E1B2E"/>
                </a:solidFill>
                <a:latin typeface="Playfair Display" pitchFamily="34" charset="0"/>
                <a:ea typeface="Playfair Display" pitchFamily="34" charset="-122"/>
                <a:cs typeface="Playfair Display" pitchFamily="34" charset="-120"/>
              </a:rPr>
              <a:t>Une offre inédite</a:t>
            </a:r>
          </a:p>
        </p:txBody>
      </p:sp>
      <p:sp>
        <p:nvSpPr>
          <p:cNvPr id="17" name="Filet 17"/>
          <p:cNvSpPr/>
          <p:nvPr/>
        </p:nvSpPr>
        <p:spPr>
          <a:xfrm>
            <a:off x="3424428" y="2240000"/>
            <a:ext cx="2555748" cy="73152"/>
          </a:xfrm>
          <a:prstGeom prst="rect">
            <a:avLst/>
          </a:prstGeom>
          <a:solidFill>
            <a:srgbClr val="C8963A"/>
          </a:solidFill>
          <a:ln>
            <a:noFill/>
          </a:ln>
        </p:spPr>
        <p:txBody>
          <a:bodyPr/>
          <a:lstStyle/>
          <a:p>
            <a:endParaRPr lang="en-GB"/>
          </a:p>
        </p:txBody>
      </p:sp>
      <p:sp>
        <p:nvSpPr>
          <p:cNvPr id="18" name="Texte 18"/>
          <p:cNvSpPr txBox="1"/>
          <p:nvPr/>
        </p:nvSpPr>
        <p:spPr>
          <a:xfrm>
            <a:off x="3424428" y="2420000"/>
            <a:ext cx="2555748" cy="230000"/>
          </a:xfrm>
          <a:prstGeom prst="rect">
            <a:avLst/>
          </a:prstGeom>
          <a:noFill/>
          <a:ln>
            <a:noFill/>
          </a:ln>
        </p:spPr>
        <p:txBody>
          <a:bodyPr wrap="square" lIns="0" tIns="0" rIns="0" bIns="0" rtlCol="0" anchor="t">
            <a:noAutofit/>
          </a:bodyPr>
          <a:lstStyle/>
          <a:p>
            <a:pPr marL="0" indent="0">
              <a:lnSpc>
                <a:spcPct val="110000"/>
              </a:lnSpc>
              <a:buNone/>
            </a:pPr>
            <a:r>
              <a:rPr lang="fr-FR" sz="1000" b="1" spc="200" dirty="0">
                <a:solidFill>
                  <a:srgbClr val="26232F"/>
                </a:solidFill>
                <a:latin typeface="Montserrat" pitchFamily="34" charset="0"/>
                <a:ea typeface="Montserrat" pitchFamily="34" charset="-122"/>
                <a:cs typeface="Montserrat" pitchFamily="34" charset="-120"/>
              </a:rPr>
              <a:t>LES CLIENTS</a:t>
            </a:r>
          </a:p>
        </p:txBody>
      </p:sp>
      <p:sp>
        <p:nvSpPr>
          <p:cNvPr id="19" name="Texte 19"/>
          <p:cNvSpPr txBox="1"/>
          <p:nvPr/>
        </p:nvSpPr>
        <p:spPr>
          <a:xfrm>
            <a:off x="3424428" y="2780000"/>
            <a:ext cx="2555748" cy="560000"/>
          </a:xfrm>
          <a:prstGeom prst="rect">
            <a:avLst/>
          </a:prstGeom>
          <a:noFill/>
          <a:ln>
            <a:noFill/>
          </a:ln>
        </p:spPr>
        <p:txBody>
          <a:bodyPr wrap="square" lIns="0" tIns="0" rIns="0" bIns="0" rtlCol="0" anchor="t">
            <a:noAutofit/>
          </a:bodyPr>
          <a:lstStyle/>
          <a:p>
            <a:pPr marL="0" indent="0">
              <a:lnSpc>
                <a:spcPct val="110000"/>
              </a:lnSpc>
              <a:buNone/>
            </a:pPr>
            <a:r>
              <a:rPr lang="fr-FR" sz="2000" dirty="0">
                <a:solidFill>
                  <a:srgbClr val="1E1B2E"/>
                </a:solidFill>
                <a:latin typeface="Playfair Display" pitchFamily="34" charset="0"/>
                <a:ea typeface="Playfair Display" pitchFamily="34" charset="-122"/>
                <a:cs typeface="Playfair Display" pitchFamily="34" charset="-120"/>
              </a:rPr>
              <a:t>Des gastronomes en quête d’originalité</a:t>
            </a:r>
          </a:p>
        </p:txBody>
      </p:sp>
      <p:sp>
        <p:nvSpPr>
          <p:cNvPr id="21" name="Texte 21"/>
          <p:cNvSpPr txBox="1"/>
          <p:nvPr/>
        </p:nvSpPr>
        <p:spPr>
          <a:xfrm>
            <a:off x="3424428" y="4200000"/>
            <a:ext cx="2555748" cy="560000"/>
          </a:xfrm>
          <a:prstGeom prst="rect">
            <a:avLst/>
          </a:prstGeom>
          <a:noFill/>
          <a:ln>
            <a:noFill/>
          </a:ln>
        </p:spPr>
        <p:txBody>
          <a:bodyPr wrap="square" lIns="0" tIns="0" rIns="0" bIns="0" rtlCol="0" anchor="t">
            <a:noAutofit/>
          </a:bodyPr>
          <a:lstStyle/>
          <a:p>
            <a:pPr marL="0" indent="0">
              <a:lnSpc>
                <a:spcPct val="110000"/>
              </a:lnSpc>
              <a:buNone/>
            </a:pPr>
            <a:r>
              <a:rPr lang="fr-FR" sz="2000" dirty="0">
                <a:solidFill>
                  <a:srgbClr val="1E1B2E"/>
                </a:solidFill>
                <a:latin typeface="Playfair Display" pitchFamily="34" charset="0"/>
                <a:ea typeface="Playfair Display" pitchFamily="34" charset="-122"/>
                <a:cs typeface="Playfair Display" pitchFamily="34" charset="-120"/>
              </a:rPr>
              <a:t>Le levier des groupes</a:t>
            </a:r>
          </a:p>
        </p:txBody>
      </p:sp>
      <p:sp>
        <p:nvSpPr>
          <p:cNvPr id="23" name="Filet 23"/>
          <p:cNvSpPr/>
          <p:nvPr/>
        </p:nvSpPr>
        <p:spPr>
          <a:xfrm>
            <a:off x="6208776" y="2240000"/>
            <a:ext cx="2555748" cy="73152"/>
          </a:xfrm>
          <a:prstGeom prst="rect">
            <a:avLst/>
          </a:prstGeom>
          <a:solidFill>
            <a:srgbClr val="8FA593"/>
          </a:solidFill>
          <a:ln>
            <a:noFill/>
          </a:ln>
        </p:spPr>
        <p:txBody>
          <a:bodyPr/>
          <a:lstStyle/>
          <a:p>
            <a:endParaRPr lang="en-GB"/>
          </a:p>
        </p:txBody>
      </p:sp>
      <p:sp>
        <p:nvSpPr>
          <p:cNvPr id="24" name="Texte 24"/>
          <p:cNvSpPr txBox="1"/>
          <p:nvPr/>
        </p:nvSpPr>
        <p:spPr>
          <a:xfrm>
            <a:off x="6208776" y="2420000"/>
            <a:ext cx="2555748" cy="230000"/>
          </a:xfrm>
          <a:prstGeom prst="rect">
            <a:avLst/>
          </a:prstGeom>
          <a:noFill/>
          <a:ln>
            <a:noFill/>
          </a:ln>
        </p:spPr>
        <p:txBody>
          <a:bodyPr wrap="square" lIns="0" tIns="0" rIns="0" bIns="0" rtlCol="0" anchor="t">
            <a:noAutofit/>
          </a:bodyPr>
          <a:lstStyle/>
          <a:p>
            <a:pPr marL="0" indent="0">
              <a:lnSpc>
                <a:spcPct val="110000"/>
              </a:lnSpc>
              <a:buNone/>
            </a:pPr>
            <a:r>
              <a:rPr lang="fr-FR" sz="1000" b="1" spc="200" dirty="0">
                <a:solidFill>
                  <a:srgbClr val="26232F"/>
                </a:solidFill>
                <a:latin typeface="Montserrat" pitchFamily="34" charset="0"/>
                <a:ea typeface="Montserrat" pitchFamily="34" charset="-122"/>
                <a:cs typeface="Montserrat" pitchFamily="34" charset="-120"/>
              </a:rPr>
              <a:t>LE MODÈLE</a:t>
            </a:r>
          </a:p>
        </p:txBody>
      </p:sp>
      <p:sp>
        <p:nvSpPr>
          <p:cNvPr id="25" name="Texte 25"/>
          <p:cNvSpPr txBox="1"/>
          <p:nvPr/>
        </p:nvSpPr>
        <p:spPr>
          <a:xfrm>
            <a:off x="6208776" y="2780000"/>
            <a:ext cx="2555748" cy="560000"/>
          </a:xfrm>
          <a:prstGeom prst="rect">
            <a:avLst/>
          </a:prstGeom>
          <a:noFill/>
          <a:ln>
            <a:noFill/>
          </a:ln>
        </p:spPr>
        <p:txBody>
          <a:bodyPr wrap="square" lIns="0" tIns="0" rIns="0" bIns="0" rtlCol="0" anchor="t">
            <a:noAutofit/>
          </a:bodyPr>
          <a:lstStyle/>
          <a:p>
            <a:pPr marL="0" indent="0">
              <a:lnSpc>
                <a:spcPct val="110000"/>
              </a:lnSpc>
              <a:buNone/>
            </a:pPr>
            <a:r>
              <a:rPr lang="fr-FR" sz="2000" dirty="0">
                <a:solidFill>
                  <a:srgbClr val="1E1B2E"/>
                </a:solidFill>
                <a:latin typeface="Playfair Display" pitchFamily="34" charset="0"/>
                <a:ea typeface="Playfair Display" pitchFamily="34" charset="-122"/>
                <a:cs typeface="Playfair Display" pitchFamily="34" charset="-120"/>
              </a:rPr>
              <a:t>Une exécution maîtrisée et réplicable</a:t>
            </a:r>
          </a:p>
        </p:txBody>
      </p:sp>
      <p:sp>
        <p:nvSpPr>
          <p:cNvPr id="27" name="Texte 27"/>
          <p:cNvSpPr txBox="1"/>
          <p:nvPr/>
        </p:nvSpPr>
        <p:spPr>
          <a:xfrm>
            <a:off x="6208776" y="4200000"/>
            <a:ext cx="2555748" cy="560000"/>
          </a:xfrm>
          <a:prstGeom prst="rect">
            <a:avLst/>
          </a:prstGeom>
          <a:noFill/>
          <a:ln>
            <a:noFill/>
          </a:ln>
        </p:spPr>
        <p:txBody>
          <a:bodyPr wrap="square" lIns="0" tIns="0" rIns="0" bIns="0" rtlCol="0" anchor="t">
            <a:noAutofit/>
          </a:bodyPr>
          <a:lstStyle/>
          <a:p>
            <a:pPr marL="0" indent="0">
              <a:lnSpc>
                <a:spcPct val="110000"/>
              </a:lnSpc>
              <a:buNone/>
            </a:pPr>
            <a:r>
              <a:rPr lang="fr-FR" sz="2000" dirty="0">
                <a:solidFill>
                  <a:srgbClr val="1E1B2E"/>
                </a:solidFill>
                <a:latin typeface="Playfair Display" pitchFamily="34" charset="0"/>
                <a:ea typeface="Playfair Display" pitchFamily="34" charset="-122"/>
                <a:cs typeface="Playfair Display" pitchFamily="34" charset="-120"/>
              </a:rPr>
              <a:t>Asset-light, people-light</a:t>
            </a:r>
          </a:p>
        </p:txBody>
      </p:sp>
      <p:sp>
        <p:nvSpPr>
          <p:cNvPr id="29" name="Filet 29"/>
          <p:cNvSpPr/>
          <p:nvPr/>
        </p:nvSpPr>
        <p:spPr>
          <a:xfrm>
            <a:off x="8993124" y="2240000"/>
            <a:ext cx="2555748" cy="73152"/>
          </a:xfrm>
          <a:prstGeom prst="rect">
            <a:avLst/>
          </a:prstGeom>
          <a:solidFill>
            <a:srgbClr val="1E1B2E"/>
          </a:solidFill>
          <a:ln>
            <a:noFill/>
          </a:ln>
        </p:spPr>
        <p:txBody>
          <a:bodyPr/>
          <a:lstStyle/>
          <a:p>
            <a:endParaRPr lang="en-GB"/>
          </a:p>
        </p:txBody>
      </p:sp>
      <p:sp>
        <p:nvSpPr>
          <p:cNvPr id="30" name="Texte 30"/>
          <p:cNvSpPr txBox="1"/>
          <p:nvPr/>
        </p:nvSpPr>
        <p:spPr>
          <a:xfrm>
            <a:off x="8993124" y="2420000"/>
            <a:ext cx="2555748" cy="230000"/>
          </a:xfrm>
          <a:prstGeom prst="rect">
            <a:avLst/>
          </a:prstGeom>
          <a:noFill/>
          <a:ln>
            <a:noFill/>
          </a:ln>
        </p:spPr>
        <p:txBody>
          <a:bodyPr wrap="square" lIns="0" tIns="0" rIns="0" bIns="0" rtlCol="0" anchor="t">
            <a:noAutofit/>
          </a:bodyPr>
          <a:lstStyle/>
          <a:p>
            <a:pPr marL="0" indent="0">
              <a:lnSpc>
                <a:spcPct val="110000"/>
              </a:lnSpc>
              <a:buNone/>
            </a:pPr>
            <a:r>
              <a:rPr lang="fr-FR" sz="1000" b="1" spc="200" dirty="0">
                <a:solidFill>
                  <a:srgbClr val="26232F"/>
                </a:solidFill>
                <a:latin typeface="Montserrat" pitchFamily="34" charset="0"/>
                <a:ea typeface="Montserrat" pitchFamily="34" charset="-122"/>
                <a:cs typeface="Montserrat" pitchFamily="34" charset="-120"/>
              </a:rPr>
              <a:t>L’ÉQUIPE</a:t>
            </a:r>
          </a:p>
        </p:txBody>
      </p:sp>
      <p:sp>
        <p:nvSpPr>
          <p:cNvPr id="31" name="Texte 31"/>
          <p:cNvSpPr txBox="1"/>
          <p:nvPr/>
        </p:nvSpPr>
        <p:spPr>
          <a:xfrm>
            <a:off x="8993124" y="2780000"/>
            <a:ext cx="2555748" cy="560000"/>
          </a:xfrm>
          <a:prstGeom prst="rect">
            <a:avLst/>
          </a:prstGeom>
          <a:noFill/>
          <a:ln>
            <a:noFill/>
          </a:ln>
        </p:spPr>
        <p:txBody>
          <a:bodyPr wrap="square" lIns="0" tIns="0" rIns="0" bIns="0" rtlCol="0" anchor="t">
            <a:noAutofit/>
          </a:bodyPr>
          <a:lstStyle/>
          <a:p>
            <a:pPr marL="0" indent="0">
              <a:lnSpc>
                <a:spcPct val="110000"/>
              </a:lnSpc>
              <a:buNone/>
            </a:pPr>
            <a:r>
              <a:rPr lang="fr-FR" sz="2000" dirty="0">
                <a:solidFill>
                  <a:srgbClr val="1E1B2E"/>
                </a:solidFill>
                <a:latin typeface="Playfair Display" pitchFamily="34" charset="0"/>
                <a:ea typeface="Playfair Display" pitchFamily="34" charset="-122"/>
                <a:cs typeface="Playfair Display" pitchFamily="34" charset="-120"/>
              </a:rPr>
              <a:t>Une équipe expérimentée</a:t>
            </a:r>
          </a:p>
        </p:txBody>
      </p:sp>
      <p:sp>
        <p:nvSpPr>
          <p:cNvPr id="33" name="Texte 33"/>
          <p:cNvSpPr txBox="1"/>
          <p:nvPr/>
        </p:nvSpPr>
        <p:spPr>
          <a:xfrm>
            <a:off x="8993124" y="4200000"/>
            <a:ext cx="2555748" cy="560000"/>
          </a:xfrm>
          <a:prstGeom prst="rect">
            <a:avLst/>
          </a:prstGeom>
          <a:noFill/>
          <a:ln>
            <a:noFill/>
          </a:ln>
        </p:spPr>
        <p:txBody>
          <a:bodyPr wrap="square" lIns="0" tIns="0" rIns="0" bIns="0" rtlCol="0" anchor="t">
            <a:noAutofit/>
          </a:bodyPr>
          <a:lstStyle/>
          <a:p>
            <a:pPr marL="0" indent="0">
              <a:lnSpc>
                <a:spcPct val="110000"/>
              </a:lnSpc>
              <a:buNone/>
            </a:pPr>
            <a:r>
              <a:rPr lang="fr-FR" sz="2000" dirty="0">
                <a:solidFill>
                  <a:srgbClr val="1E1B2E"/>
                </a:solidFill>
                <a:latin typeface="Playfair Display" pitchFamily="34" charset="0"/>
                <a:ea typeface="Playfair Display" pitchFamily="34" charset="-122"/>
                <a:cs typeface="Playfair Display" pitchFamily="34" charset="-120"/>
              </a:rPr>
              <a:t>Un grand chef au capital</a:t>
            </a:r>
          </a:p>
        </p:txBody>
      </p:sp>
      <p:sp>
        <p:nvSpPr>
          <p:cNvPr id="38"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4" name="Text 4"/>
          <p:cNvSpPr>
            <a:spLocks noGrp="1"/>
          </p:cNvSpPr>
          <p:nvPr>
            <p:ph type="title" idx="106" hasCustomPrompt="1"/>
          </p:nvPr>
        </p:nvSpPr>
        <p:spPr>
          <a:xfrm>
            <a:off x="7335932" y="1711354"/>
            <a:ext cx="4432173" cy="4469010"/>
          </a:xfrm>
          <a:prstGeom prst="rect">
            <a:avLst/>
          </a:prstGeom>
          <a:noFill/>
          <a:ln/>
        </p:spPr>
        <p:txBody>
          <a:bodyPr wrap="square" lIns="0" tIns="0" rIns="0" bIns="0" rtlCol="0" anchor="t"/>
          <a:lstStyle/>
          <a:p>
            <a:pPr marL="0" indent="0" algn="l">
              <a:buNone/>
            </a:pPr>
            <a:r>
              <a:rPr lang="en-US" sz="5400" dirty="0">
                <a:latin typeface="Playfair Display" pitchFamily="34" charset="0"/>
                <a:ea typeface="Playfair Display" pitchFamily="34" charset="-122"/>
                <a:cs typeface="Playfair Display" pitchFamily="34" charset="-120"/>
              </a:rPr>
              <a:t>Un</a:t>
            </a:r>
            <a:r>
              <a:rPr lang="en-US" sz="5400" dirty="0">
                <a:solidFill>
                  <a:srgbClr val="1E1B2E"/>
                </a:solidFill>
                <a:latin typeface="Playfair Display" pitchFamily="34" charset="0"/>
                <a:ea typeface="Playfair Display" pitchFamily="34" charset="-122"/>
                <a:cs typeface="Playfair Display" pitchFamily="34" charset="-120"/>
              </a:rPr>
              <a:t> coup d’un </a:t>
            </a:r>
            <a:r>
              <a:rPr lang="en-US" sz="5400" dirty="0" err="1">
                <a:solidFill>
                  <a:srgbClr val="1E1B2E"/>
                </a:solidFill>
                <a:latin typeface="Playfair Display" pitchFamily="34" charset="0"/>
                <a:ea typeface="Playfair Display" pitchFamily="34" charset="-122"/>
                <a:cs typeface="Playfair Display" pitchFamily="34" charset="-120"/>
              </a:rPr>
              <a:t>soir</a:t>
            </a:r>
            <a:br>
              <a:rPr lang="en-US" sz="5400" dirty="0">
                <a:solidFill>
                  <a:srgbClr val="1E1B2E"/>
                </a:solidFill>
                <a:latin typeface="Playfair Display" pitchFamily="34" charset="0"/>
                <a:ea typeface="Playfair Display" pitchFamily="34" charset="-122"/>
                <a:cs typeface="Playfair Display" pitchFamily="34" charset="-120"/>
              </a:rPr>
            </a:br>
            <a:r>
              <a:rPr lang="en-US" sz="5400" dirty="0">
                <a:solidFill>
                  <a:srgbClr val="1E1B2E"/>
                </a:solidFill>
                <a:latin typeface="Playfair Display" pitchFamily="34" charset="0"/>
                <a:ea typeface="Playfair Display" pitchFamily="34" charset="-122"/>
                <a:cs typeface="Playfair Display" pitchFamily="34" charset="-120"/>
              </a:rPr>
              <a:t>… </a:t>
            </a:r>
            <a:br>
              <a:rPr lang="en-US" sz="5400" dirty="0">
                <a:solidFill>
                  <a:srgbClr val="1E1B2E"/>
                </a:solidFill>
                <a:latin typeface="Playfair Display" pitchFamily="34" charset="0"/>
                <a:ea typeface="Playfair Display" pitchFamily="34" charset="-122"/>
                <a:cs typeface="Playfair Display" pitchFamily="34" charset="-120"/>
              </a:rPr>
            </a:br>
            <a:r>
              <a:rPr lang="en-US" sz="5400" dirty="0">
                <a:solidFill>
                  <a:srgbClr val="1E1B2E"/>
                </a:solidFill>
                <a:latin typeface="Playfair Display" pitchFamily="34" charset="0"/>
                <a:ea typeface="Playfair Display" pitchFamily="34" charset="-122"/>
                <a:cs typeface="Playfair Display" pitchFamily="34" charset="-120"/>
              </a:rPr>
              <a:t>Et plus </a:t>
            </a:r>
            <a:r>
              <a:rPr lang="en-US" sz="5400" dirty="0" err="1">
                <a:solidFill>
                  <a:srgbClr val="1E1B2E"/>
                </a:solidFill>
                <a:latin typeface="Playfair Display" pitchFamily="34" charset="0"/>
                <a:ea typeface="Playfair Display" pitchFamily="34" charset="-122"/>
                <a:cs typeface="Playfair Display" pitchFamily="34" charset="-120"/>
              </a:rPr>
              <a:t>si</a:t>
            </a:r>
            <a:r>
              <a:rPr lang="en-US" sz="5400" dirty="0">
                <a:solidFill>
                  <a:srgbClr val="1E1B2E"/>
                </a:solidFill>
                <a:latin typeface="Playfair Display" pitchFamily="34" charset="0"/>
                <a:ea typeface="Playfair Display" pitchFamily="34" charset="-122"/>
                <a:cs typeface="Playfair Display" pitchFamily="34" charset="-120"/>
              </a:rPr>
              <a:t> </a:t>
            </a:r>
            <a:r>
              <a:rPr lang="en-US" sz="5400" dirty="0" err="1">
                <a:solidFill>
                  <a:srgbClr val="1E1B2E"/>
                </a:solidFill>
                <a:latin typeface="Playfair Display" pitchFamily="34" charset="0"/>
                <a:ea typeface="Playfair Display" pitchFamily="34" charset="-122"/>
                <a:cs typeface="Playfair Display" pitchFamily="34" charset="-120"/>
              </a:rPr>
              <a:t>affinités</a:t>
            </a:r>
            <a:endParaRPr lang="en-US" sz="5400" dirty="0"/>
          </a:p>
        </p:txBody>
      </p:sp>
      <p:sp>
        <p:nvSpPr>
          <p:cNvPr id="25" name="Slide Number Placeholder 0"/>
          <p:cNvSpPr>
            <a:spLocks noGrp="1"/>
          </p:cNvSpPr>
          <p:nvPr>
            <p:ph type="sldNum" sz="quarter" idx="4294967295"/>
          </p:nvPr>
        </p:nvSpPr>
        <p:spPr>
          <a:xfrm>
            <a:off x="11002975" y="6455664"/>
            <a:ext cx="548640" cy="2286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B6670"/>
                </a:solidFill>
                <a:latin typeface="Montserrat"/>
                <a:ea typeface="Montserrat"/>
                <a:cs typeface="Montserrat"/>
              </a:defRPr>
            </a:lvl1pPr>
          </a:lstStyle>
          <a:p>
            <a:pPr algn="r"/>
            <a:fld id="{F7021451-1387-4CA6-816F-3879F97B5CBC}" type="slidenum">
              <a:rPr lang="en-US" b="0"/>
              <a:t>11</a:t>
            </a:fld>
            <a:endParaRPr lang="en-US"/>
          </a:p>
        </p:txBody>
      </p:sp>
      <p:sp>
        <p:nvSpPr>
          <p:cNvPr id="11" name="Espace réservé pour une image  10">
            <a:extLst>
              <a:ext uri="{FF2B5EF4-FFF2-40B4-BE49-F238E27FC236}">
                <a16:creationId xmlns:a16="http://schemas.microsoft.com/office/drawing/2014/main" id="{C0EB106E-0620-535D-EFBC-88A86EC25576}"/>
              </a:ext>
            </a:extLst>
          </p:cNvPr>
          <p:cNvSpPr>
            <a:spLocks noGrp="1"/>
          </p:cNvSpPr>
          <p:nvPr>
            <p:ph type="pic" idx="101"/>
          </p:nvPr>
        </p:nvSpPr>
        <p:spPr/>
        <p:txBody>
          <a:bodyPr/>
          <a:lstStyle/>
          <a:p>
            <a:endParaRPr lang="en-GB"/>
          </a:p>
        </p:txBody>
      </p:sp>
      <p:sp>
        <p:nvSpPr>
          <p:cNvPr id="13" name="Text 2">
            <a:extLst>
              <a:ext uri="{FF2B5EF4-FFF2-40B4-BE49-F238E27FC236}">
                <a16:creationId xmlns:a16="http://schemas.microsoft.com/office/drawing/2014/main" id="{6789BC0E-9B18-F67B-EC61-2A884D910D1F}"/>
              </a:ext>
            </a:extLst>
          </p:cNvPr>
          <p:cNvSpPr/>
          <p:nvPr/>
        </p:nvSpPr>
        <p:spPr>
          <a:xfrm>
            <a:off x="7345375" y="644080"/>
            <a:ext cx="3657600" cy="274320"/>
          </a:xfrm>
          <a:prstGeom prst="rect">
            <a:avLst/>
          </a:prstGeom>
          <a:noFill/>
          <a:ln/>
        </p:spPr>
        <p:txBody>
          <a:bodyPr wrap="square" lIns="0" tIns="0" rIns="0" bIns="0" rtlCol="0" anchor="ctr"/>
          <a:lstStyle/>
          <a:p>
            <a:pPr marL="0" indent="0">
              <a:buNone/>
            </a:pPr>
            <a:r>
              <a:rPr lang="en-US" sz="3200" b="1" kern="0" spc="500" dirty="0">
                <a:solidFill>
                  <a:srgbClr val="1E1B2E"/>
                </a:solidFill>
                <a:latin typeface="Montserrat" pitchFamily="34" charset="0"/>
                <a:ea typeface="Montserrat" pitchFamily="34" charset="-122"/>
                <a:cs typeface="Montserrat" pitchFamily="34" charset="-120"/>
              </a:rPr>
              <a:t>POPTABLES</a:t>
            </a:r>
            <a:endParaRPr lang="en-US" sz="3200" dirty="0">
              <a:solidFill>
                <a:srgbClr val="1E1B2E"/>
              </a:solidFill>
            </a:endParaRPr>
          </a:p>
        </p:txBody>
      </p:sp>
      <p:sp>
        <p:nvSpPr>
          <p:cNvPr id="14" name="Shape 3">
            <a:extLst>
              <a:ext uri="{FF2B5EF4-FFF2-40B4-BE49-F238E27FC236}">
                <a16:creationId xmlns:a16="http://schemas.microsoft.com/office/drawing/2014/main" id="{42168B31-61C7-E60B-098A-4BFB25C408DF}"/>
              </a:ext>
            </a:extLst>
          </p:cNvPr>
          <p:cNvSpPr/>
          <p:nvPr/>
        </p:nvSpPr>
        <p:spPr>
          <a:xfrm>
            <a:off x="7345375" y="1089116"/>
            <a:ext cx="146304" cy="146304"/>
          </a:xfrm>
          <a:prstGeom prst="rect">
            <a:avLst/>
          </a:prstGeom>
          <a:solidFill>
            <a:srgbClr val="C8963A"/>
          </a:solidFill>
          <a:ln w="12700">
            <a:solidFill>
              <a:srgbClr val="C8963A"/>
            </a:solidFill>
            <a:prstDash val="solid"/>
          </a:ln>
        </p:spPr>
        <p:txBody>
          <a:bodyPr/>
          <a:lstStyle/>
          <a:p>
            <a:endParaRPr lang="en-GB"/>
          </a:p>
        </p:txBody>
      </p:sp>
      <p:sp>
        <p:nvSpPr>
          <p:cNvPr id="15" name="Text 4">
            <a:extLst>
              <a:ext uri="{FF2B5EF4-FFF2-40B4-BE49-F238E27FC236}">
                <a16:creationId xmlns:a16="http://schemas.microsoft.com/office/drawing/2014/main" id="{27A7F9F2-1CDC-4EEF-DA49-1C2905D68987}"/>
              </a:ext>
            </a:extLst>
          </p:cNvPr>
          <p:cNvSpPr/>
          <p:nvPr/>
        </p:nvSpPr>
        <p:spPr>
          <a:xfrm>
            <a:off x="7564831" y="1089116"/>
            <a:ext cx="146304" cy="146304"/>
          </a:xfrm>
          <a:prstGeom prst="ellipse">
            <a:avLst/>
          </a:prstGeom>
          <a:solidFill>
            <a:srgbClr val="C2432B"/>
          </a:solidFill>
          <a:ln>
            <a:solidFill>
              <a:srgbClr val="C2432B"/>
            </a:solidFill>
          </a:ln>
        </p:spPr>
        <p:txBody>
          <a:bodyPr wrap="square" rtlCol="0" anchor="ctr"/>
          <a:lstStyle/>
          <a:p>
            <a:pPr marL="0" indent="0">
              <a:buNone/>
            </a:pPr>
            <a:endParaRPr lang="en-US" dirty="0"/>
          </a:p>
        </p:txBody>
      </p:sp>
      <p:sp>
        <p:nvSpPr>
          <p:cNvPr id="16" name="Text 5">
            <a:extLst>
              <a:ext uri="{FF2B5EF4-FFF2-40B4-BE49-F238E27FC236}">
                <a16:creationId xmlns:a16="http://schemas.microsoft.com/office/drawing/2014/main" id="{B1309231-4434-168E-AA5A-6220059F2D56}"/>
              </a:ext>
            </a:extLst>
          </p:cNvPr>
          <p:cNvSpPr/>
          <p:nvPr/>
        </p:nvSpPr>
        <p:spPr>
          <a:xfrm>
            <a:off x="7784287" y="1089116"/>
            <a:ext cx="146304" cy="146304"/>
          </a:xfrm>
          <a:prstGeom prst="triangle">
            <a:avLst/>
          </a:prstGeom>
          <a:solidFill>
            <a:srgbClr val="8FA593"/>
          </a:solidFill>
          <a:ln>
            <a:solidFill>
              <a:srgbClr val="8FA593"/>
            </a:solidFill>
          </a:ln>
        </p:spPr>
        <p:txBody>
          <a:bodyPr wrap="square" rtlCol="0" anchor="ctr"/>
          <a:lstStyle/>
          <a:p>
            <a:pPr marL="0" indent="0">
              <a:buNone/>
            </a:pPr>
            <a:endParaRPr lang="en-US" dirty="0"/>
          </a:p>
        </p:txBody>
      </p:sp>
      <p:sp>
        <p:nvSpPr>
          <p:cNvPr id="17" name="Rectangle 16">
            <a:extLst>
              <a:ext uri="{FF2B5EF4-FFF2-40B4-BE49-F238E27FC236}">
                <a16:creationId xmlns:a16="http://schemas.microsoft.com/office/drawing/2014/main" id="{1FD8D7B7-094E-94DF-A08E-C641944BF186}"/>
              </a:ext>
            </a:extLst>
          </p:cNvPr>
          <p:cNvSpPr/>
          <p:nvPr/>
        </p:nvSpPr>
        <p:spPr>
          <a:xfrm>
            <a:off x="6774867" y="6101326"/>
            <a:ext cx="5003276" cy="708675"/>
          </a:xfrm>
          <a:prstGeom prst="rect">
            <a:avLst/>
          </a:prstGeom>
          <a:solidFill>
            <a:srgbClr val="F4EE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Image 11">
            <a:extLst>
              <a:ext uri="{FF2B5EF4-FFF2-40B4-BE49-F238E27FC236}">
                <a16:creationId xmlns:a16="http://schemas.microsoft.com/office/drawing/2014/main" id="{E6EA7B81-F897-53AA-F1A8-A4805A30E932}"/>
              </a:ext>
            </a:extLst>
          </p:cNvPr>
          <p:cNvPicPr>
            <a:picLocks noChangeAspect="1"/>
          </p:cNvPicPr>
          <p:nvPr/>
        </p:nvPicPr>
        <p:blipFill>
          <a:blip r:embed="rId3"/>
          <a:srcRect l="-36398" r="36398"/>
          <a:stretch/>
        </p:blipFill>
        <p:spPr>
          <a:xfrm>
            <a:off x="-3993931" y="0"/>
            <a:ext cx="10972800" cy="6858000"/>
          </a:xfrm>
          <a:prstGeom prst="rect">
            <a:avLst/>
          </a:prstGeom>
        </p:spPr>
      </p:pic>
      <p:sp>
        <p:nvSpPr>
          <p:cNvPr id="18" name="Rectangle 17">
            <a:extLst>
              <a:ext uri="{FF2B5EF4-FFF2-40B4-BE49-F238E27FC236}">
                <a16:creationId xmlns:a16="http://schemas.microsoft.com/office/drawing/2014/main" id="{646A3843-62A1-FE58-F0C4-E0E9CDEEB867}"/>
              </a:ext>
            </a:extLst>
          </p:cNvPr>
          <p:cNvSpPr/>
          <p:nvPr/>
        </p:nvSpPr>
        <p:spPr>
          <a:xfrm>
            <a:off x="10779853" y="300071"/>
            <a:ext cx="998290" cy="708675"/>
          </a:xfrm>
          <a:prstGeom prst="rect">
            <a:avLst/>
          </a:prstGeom>
          <a:solidFill>
            <a:srgbClr val="F4EEE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layfai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132</TotalTime>
  <Words>2099</Words>
  <Application>Microsoft Office PowerPoint</Application>
  <PresentationFormat>Grand écran</PresentationFormat>
  <Paragraphs>213</Paragraphs>
  <Slides>11</Slides>
  <Notes>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Montserrat</vt:lpstr>
      <vt:lpstr>Playfair Display</vt:lpstr>
      <vt:lpstr>Office Theme</vt:lpstr>
      <vt:lpstr>Vers l’inattendu</vt:lpstr>
      <vt:lpstr>Un chef introuvable. Un lieu mystérieux. Une nuit éphémère.</vt:lpstr>
      <vt:lpstr>Privilégiés, peut-être. Rebelles, souvent. Hédonistes, toujours</vt:lpstr>
      <vt:lpstr>Le drop crée le désir, les privatisations créent la valeur</vt:lpstr>
      <vt:lpstr>Deux offres, une même promesse : une soirée qui ne se rejoue jamais</vt:lpstr>
      <vt:lpstr>De la plage de débarquement à la conquête de l'Europe</vt:lpstr>
      <vt:lpstr>Chaque soirée est unique  Sa production, un process maitrisé et scalable</vt:lpstr>
      <vt:lpstr>Une exécution premium, encadrée et maitrisée</vt:lpstr>
      <vt:lpstr>Un modèle rentable, générateur de cash et en croissance</vt:lpstr>
      <vt:lpstr>Le modèle des coups réussis</vt:lpstr>
      <vt:lpstr>Un coup d’un soir …  Et plus si affinités</vt:lpstr>
    </vt:vector>
  </TitlesOfParts>
  <Company>PopTables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PopTables — Masque de présentation</dc:title>
  <dc:subject>PptxGenJS Presentation</dc:subject>
  <dc:creator>PopTables</dc:creator>
  <cp:lastModifiedBy>Laetitia FABRE</cp:lastModifiedBy>
  <cp:revision>7</cp:revision>
  <dcterms:created xsi:type="dcterms:W3CDTF">2026-10-29T09:17:27Z</dcterms:created>
  <dcterms:modified xsi:type="dcterms:W3CDTF">2026-10-29T12:47:12Z</dcterms:modified>
</cp:coreProperties>
</file>