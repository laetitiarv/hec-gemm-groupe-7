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B6670"/>
                </a:solidFill>
                <a:latin typeface="Montserrat"/>
              </a:defRPr>
            </a:pPr>
            <a:r>
              <a:rPr sz="1100" b="0" i="0" u="none" strike="noStrike">
                <a:solidFill>
                  <a:srgbClr val="6B6670"/>
                </a:solidFill>
                <a:latin typeface="Montserrat"/>
              </a:rPr>
              <a:t>Nombre de soirées par trimestre (valeurs fictives)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Soirées</c:v>
                </c:pt>
              </c:strCache>
            </c:strRef>
          </c:tx>
          <c:spPr>
            <a:solidFill>
              <a:srgbClr val="C243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1B2E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7</c:v>
                </c:pt>
                <c:pt idx="2">
                  <c:v>11</c:v>
                </c:pt>
                <c:pt idx="3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1B2E"/>
                  </a:solidFill>
                  <a:latin typeface="Montserra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C8B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670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3C8B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70"/>
                </a:solidFill>
                <a:latin typeface="Montserra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 Page vie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Couverture — avec photo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Photo de couverture"/>
          <p:cNvSpPr/>
          <p:nvPr>
            <p:ph type="pic" idx="101" hasCustomPrompt="1"/>
          </p:nvPr>
        </p:nvSpPr>
        <p:spPr>
          <a:xfrm>
            <a:off x="5120640" y="0"/>
            <a:ext cx="70710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960120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960120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78992" y="960120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2103120"/>
            <a:ext cx="4114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000" dirty="0"/>
          </a:p>
        </p:txBody>
      </p:sp>
      <p:sp>
        <p:nvSpPr>
          <p:cNvPr id="10" name="Sous-titre"/>
          <p:cNvSpPr/>
          <p:nvPr>
            <p:ph idx="108" type="body" hasCustomPrompt="1"/>
          </p:nvPr>
        </p:nvSpPr>
        <p:spPr>
          <a:xfrm>
            <a:off x="640080" y="4297680"/>
            <a:ext cx="4023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400" dirty="0"/>
          </a:p>
        </p:txBody>
      </p:sp>
      <p:sp>
        <p:nvSpPr>
          <p:cNvPr id="11" name="Date"/>
          <p:cNvSpPr/>
          <p:nvPr>
            <p:ph idx="109" type="body" hasCustomPrompt="1"/>
          </p:nvPr>
        </p:nvSpPr>
        <p:spPr>
          <a:xfrm>
            <a:off x="640080" y="6035040"/>
            <a:ext cx="40233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Couverture — typographiqu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97280"/>
            <a:ext cx="3840480" cy="38404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20240"/>
            <a:ext cx="1645920" cy="1645920"/>
          </a:xfrm>
          <a:prstGeom prst="ellipse">
            <a:avLst/>
          </a:prstGeom>
          <a:solidFill>
            <a:srgbClr val="C8963A"/>
          </a:solidFill>
          <a:ln>
            <a:solidFill>
              <a:srgbClr val="C896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49640" y="2240280"/>
            <a:ext cx="1005840" cy="1005840"/>
          </a:xfrm>
          <a:prstGeom prst="ellipse">
            <a:avLst/>
          </a:prstGeom>
          <a:solidFill>
            <a:srgbClr val="F4EEE3"/>
          </a:solidFill>
          <a:ln>
            <a:solidFill>
              <a:srgbClr val="F4EE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058400" y="1737360"/>
            <a:ext cx="914400" cy="201168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19" name="Titre"/>
          <p:cNvSpPr/>
          <p:nvPr>
            <p:ph idx="117" type="title" hasCustomPrompt="1"/>
          </p:nvPr>
        </p:nvSpPr>
        <p:spPr>
          <a:xfrm>
            <a:off x="640080" y="1828800"/>
            <a:ext cx="63093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800" dirty="0"/>
          </a:p>
        </p:txBody>
      </p:sp>
      <p:sp>
        <p:nvSpPr>
          <p:cNvPr id="20" name="Sous-titre"/>
          <p:cNvSpPr/>
          <p:nvPr>
            <p:ph idx="118" type="body" hasCustomPrompt="1"/>
          </p:nvPr>
        </p:nvSpPr>
        <p:spPr>
          <a:xfrm>
            <a:off x="640080" y="443484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500" dirty="0"/>
          </a:p>
        </p:txBody>
      </p:sp>
      <p:sp>
        <p:nvSpPr>
          <p:cNvPr id="21" name="Date"/>
          <p:cNvSpPr/>
          <p:nvPr>
            <p:ph idx="119" type="body" hasCustomPrompt="1"/>
          </p:nvPr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Sommair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4206240" cy="512064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371600"/>
            <a:ext cx="3200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Sommaire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ommaire"/>
          <p:cNvSpPr/>
          <p:nvPr>
            <p:ph idx="109" type="body" hasCustomPrompt="1"/>
          </p:nvPr>
        </p:nvSpPr>
        <p:spPr>
          <a:xfrm>
            <a:off x="4937760" y="1325880"/>
            <a:ext cx="658368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du texte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Intercalaire de section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911535" y="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1615" y="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11535" y="6400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51615" y="6400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11535" y="12801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12801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11535" y="19202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51615" y="19202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11535" y="25603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51615" y="25603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11535" y="32004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51615" y="32004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11535" y="38404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1615" y="38404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11535" y="44805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51615" y="44805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11535" y="51206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51615" y="51206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11535" y="57607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51615" y="57607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11535" y="64008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51615" y="64008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8" name="Numéro"/>
          <p:cNvSpPr/>
          <p:nvPr>
            <p:ph idx="126" type="body" hasCustomPrompt="1"/>
          </p:nvPr>
        </p:nvSpPr>
        <p:spPr>
          <a:xfrm>
            <a:off x="640080" y="1280160"/>
            <a:ext cx="3657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1000" dirty="0"/>
          </a:p>
        </p:txBody>
      </p:sp>
      <p:sp>
        <p:nvSpPr>
          <p:cNvPr id="29" name="Shape 26"/>
          <p:cNvSpPr/>
          <p:nvPr/>
        </p:nvSpPr>
        <p:spPr>
          <a:xfrm>
            <a:off x="640080" y="329184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30" name="Titre"/>
          <p:cNvSpPr/>
          <p:nvPr>
            <p:ph idx="128" type="title" hasCustomPrompt="1"/>
          </p:nvPr>
        </p:nvSpPr>
        <p:spPr>
          <a:xfrm>
            <a:off x="640080" y="3566160"/>
            <a:ext cx="8778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section</a:t>
            </a:r>
            <a:endParaRPr lang="en-US" sz="4000" dirty="0"/>
          </a:p>
        </p:txBody>
      </p:sp>
      <p:sp>
        <p:nvSpPr>
          <p:cNvPr id="31" name="Sous-titre"/>
          <p:cNvSpPr/>
          <p:nvPr>
            <p:ph idx="129" type="body" hasCustomPrompt="1"/>
          </p:nvPr>
        </p:nvSpPr>
        <p:spPr>
          <a:xfrm>
            <a:off x="640080" y="5212080"/>
            <a:ext cx="8412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phrase pour annoncer la section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Titre et text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Texte"/>
          <p:cNvSpPr/>
          <p:nvPr>
            <p:ph idx="108" type="body" hasCustomPrompt="1"/>
          </p:nvPr>
        </p:nvSpPr>
        <p:spPr>
          <a:xfrm>
            <a:off x="640080" y="2560320"/>
            <a:ext cx="768096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9144000" y="2606040"/>
            <a:ext cx="36576" cy="3474720"/>
          </a:xfrm>
          <a:prstGeom prst="rect">
            <a:avLst/>
          </a:prstGeom>
          <a:solidFill>
            <a:srgbClr val="D3C8B5"/>
          </a:solidFill>
          <a:ln w="12700">
            <a:solidFill>
              <a:srgbClr val="D3C8B5"/>
            </a:solidFill>
            <a:prstDash val="solid"/>
          </a:ln>
        </p:spPr>
      </p:sp>
      <p:sp>
        <p:nvSpPr>
          <p:cNvPr id="12" name="Encadré"/>
          <p:cNvSpPr/>
          <p:nvPr>
            <p:ph idx="110" type="body" hasCustomPrompt="1"/>
          </p:nvPr>
        </p:nvSpPr>
        <p:spPr>
          <a:xfrm>
            <a:off x="9464040" y="2560320"/>
            <a:ext cx="210312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Message clé ou chiffre à retenir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Deux colonnes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560320"/>
            <a:ext cx="5257800" cy="4572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09360" y="2560320"/>
            <a:ext cx="5257800" cy="4572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2" name="Intertitre gauche"/>
          <p:cNvSpPr/>
          <p:nvPr>
            <p:ph idx="110" type="body" hasCustomPrompt="1"/>
          </p:nvPr>
        </p:nvSpPr>
        <p:spPr>
          <a:xfrm>
            <a:off x="64008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3" name="Intertitre droite"/>
          <p:cNvSpPr/>
          <p:nvPr>
            <p:ph idx="111" type="body" hasCustomPrompt="1"/>
          </p:nvPr>
        </p:nvSpPr>
        <p:spPr>
          <a:xfrm>
            <a:off x="630936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4" name="Texte gauche"/>
          <p:cNvSpPr/>
          <p:nvPr>
            <p:ph idx="112" type="body" hasCustomPrompt="1"/>
          </p:nvPr>
        </p:nvSpPr>
        <p:spPr>
          <a:xfrm>
            <a:off x="64008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5" name="Texte droite"/>
          <p:cNvSpPr/>
          <p:nvPr>
            <p:ph idx="113" type="body" hasCustomPrompt="1"/>
          </p:nvPr>
        </p:nvSpPr>
        <p:spPr>
          <a:xfrm>
            <a:off x="630936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Texte et image à droit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56994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/>
          <p:nvPr>
            <p:ph type="pic" idx="101" hasCustomPrompt="1"/>
          </p:nvPr>
        </p:nvSpPr>
        <p:spPr>
          <a:xfrm>
            <a:off x="6492240" y="0"/>
            <a:ext cx="56994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5" name="Surtitre"/>
          <p:cNvSpPr/>
          <p:nvPr>
            <p:ph idx="103" type="body" hasCustomPrompt="1"/>
          </p:nvPr>
        </p:nvSpPr>
        <p:spPr>
          <a:xfrm>
            <a:off x="64008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6" name="Titre"/>
          <p:cNvSpPr/>
          <p:nvPr>
            <p:ph idx="104" type="title" hasCustomPrompt="1"/>
          </p:nvPr>
        </p:nvSpPr>
        <p:spPr>
          <a:xfrm>
            <a:off x="640080" y="123444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7" name="Shape 2"/>
          <p:cNvSpPr/>
          <p:nvPr/>
        </p:nvSpPr>
        <p:spPr>
          <a:xfrm>
            <a:off x="64008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Texte"/>
          <p:cNvSpPr/>
          <p:nvPr>
            <p:ph idx="106" type="body" hasCustomPrompt="1"/>
          </p:nvPr>
        </p:nvSpPr>
        <p:spPr>
          <a:xfrm>
            <a:off x="640080" y="3337560"/>
            <a:ext cx="530352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9" name="Shape 3"/>
          <p:cNvSpPr/>
          <p:nvPr/>
        </p:nvSpPr>
        <p:spPr>
          <a:xfrm>
            <a:off x="640080" y="6382512"/>
            <a:ext cx="5303520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64008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Image à gauche et text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/>
          <p:nvPr>
            <p:ph type="pic" idx="101" hasCustomPrompt="1"/>
          </p:nvPr>
        </p:nvSpPr>
        <p:spPr>
          <a:xfrm>
            <a:off x="0" y="0"/>
            <a:ext cx="566928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urtitre"/>
          <p:cNvSpPr/>
          <p:nvPr>
            <p:ph idx="105" type="body" hasCustomPrompt="1"/>
          </p:nvPr>
        </p:nvSpPr>
        <p:spPr>
          <a:xfrm>
            <a:off x="6309360" y="914400"/>
            <a:ext cx="5212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8" name="Titre"/>
          <p:cNvSpPr/>
          <p:nvPr>
            <p:ph idx="106" type="title" hasCustomPrompt="1"/>
          </p:nvPr>
        </p:nvSpPr>
        <p:spPr>
          <a:xfrm>
            <a:off x="6309360" y="1234440"/>
            <a:ext cx="5212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9" name="Shape 4"/>
          <p:cNvSpPr/>
          <p:nvPr/>
        </p:nvSpPr>
        <p:spPr>
          <a:xfrm>
            <a:off x="630936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0" name="Texte"/>
          <p:cNvSpPr/>
          <p:nvPr>
            <p:ph idx="108" type="body" hasCustomPrompt="1"/>
          </p:nvPr>
        </p:nvSpPr>
        <p:spPr>
          <a:xfrm>
            <a:off x="6309360" y="3337560"/>
            <a:ext cx="521208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5"/>
          <p:cNvSpPr/>
          <p:nvPr/>
        </p:nvSpPr>
        <p:spPr>
          <a:xfrm>
            <a:off x="6309360" y="6382512"/>
            <a:ext cx="524225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630936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Grande image et légend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9204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/>
          <p:nvPr>
            <p:ph type="pic" idx="101" hasCustomPrompt="1"/>
          </p:nvPr>
        </p:nvSpPr>
        <p:spPr>
          <a:xfrm>
            <a:off x="0" y="0"/>
            <a:ext cx="12191695" cy="4892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0" y="4892040"/>
            <a:ext cx="12191695" cy="6400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5" name="Titre"/>
          <p:cNvSpPr/>
          <p:nvPr>
            <p:ph idx="103" type="title" hasCustomPrompt="1"/>
          </p:nvPr>
        </p:nvSpPr>
        <p:spPr>
          <a:xfrm>
            <a:off x="640080" y="52120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ou citation courte</a:t>
            </a:r>
            <a:endParaRPr lang="en-US" sz="2600" dirty="0"/>
          </a:p>
        </p:txBody>
      </p:sp>
      <p:sp>
        <p:nvSpPr>
          <p:cNvPr id="6" name="Légende"/>
          <p:cNvSpPr/>
          <p:nvPr>
            <p:ph idx="104" type="body" hasCustomPrompt="1"/>
          </p:nvPr>
        </p:nvSpPr>
        <p:spPr>
          <a:xfrm>
            <a:off x="8046720" y="5212080"/>
            <a:ext cx="35048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Légende de l’image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Trois visuels et légendes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1" name="Image 1"/>
          <p:cNvSpPr/>
          <p:nvPr>
            <p:ph type="pic" idx="109" hasCustomPrompt="1"/>
          </p:nvPr>
        </p:nvSpPr>
        <p:spPr>
          <a:xfrm>
            <a:off x="640080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480560"/>
            <a:ext cx="3423818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Intertitre 1"/>
          <p:cNvSpPr/>
          <p:nvPr>
            <p:ph idx="111" type="body" hasCustomPrompt="1"/>
          </p:nvPr>
        </p:nvSpPr>
        <p:spPr>
          <a:xfrm>
            <a:off x="640080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4" name="Texte 1"/>
          <p:cNvSpPr/>
          <p:nvPr>
            <p:ph idx="112" type="body" hasCustomPrompt="1"/>
          </p:nvPr>
        </p:nvSpPr>
        <p:spPr>
          <a:xfrm>
            <a:off x="640080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6" name="Image 2"/>
          <p:cNvSpPr/>
          <p:nvPr>
            <p:ph type="pic" idx="114" hasCustomPrompt="1"/>
          </p:nvPr>
        </p:nvSpPr>
        <p:spPr>
          <a:xfrm>
            <a:off x="4383938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383938" y="4480560"/>
            <a:ext cx="3423818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8" name="Intertitre 2"/>
          <p:cNvSpPr/>
          <p:nvPr>
            <p:ph idx="116" type="body" hasCustomPrompt="1"/>
          </p:nvPr>
        </p:nvSpPr>
        <p:spPr>
          <a:xfrm>
            <a:off x="4383938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9" name="Texte 2"/>
          <p:cNvSpPr/>
          <p:nvPr>
            <p:ph idx="117" type="body" hasCustomPrompt="1"/>
          </p:nvPr>
        </p:nvSpPr>
        <p:spPr>
          <a:xfrm>
            <a:off x="4383938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1" name="Image 3"/>
          <p:cNvSpPr/>
          <p:nvPr>
            <p:ph type="pic" idx="119" hasCustomPrompt="1"/>
          </p:nvPr>
        </p:nvSpPr>
        <p:spPr>
          <a:xfrm>
            <a:off x="8127797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8127797" y="4480560"/>
            <a:ext cx="3423818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</p:sp>
      <p:sp>
        <p:nvSpPr>
          <p:cNvPr id="23" name="Intertitre 3"/>
          <p:cNvSpPr/>
          <p:nvPr>
            <p:ph idx="121" type="body" hasCustomPrompt="1"/>
          </p:nvPr>
        </p:nvSpPr>
        <p:spPr>
          <a:xfrm>
            <a:off x="8127797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24" name="Texte 3"/>
          <p:cNvSpPr/>
          <p:nvPr>
            <p:ph idx="122" type="body" hasCustomPrompt="1"/>
          </p:nvPr>
        </p:nvSpPr>
        <p:spPr>
          <a:xfrm>
            <a:off x="8127797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Chiffres clés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2651760"/>
            <a:ext cx="3423818" cy="73152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Chiffre 1"/>
          <p:cNvSpPr/>
          <p:nvPr>
            <p:ph idx="110" type="body" hasCustomPrompt="1"/>
          </p:nvPr>
        </p:nvSpPr>
        <p:spPr>
          <a:xfrm>
            <a:off x="960120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3" name="Libellé 1"/>
          <p:cNvSpPr/>
          <p:nvPr>
            <p:ph idx="111" type="body" hasCustomPrompt="1"/>
          </p:nvPr>
        </p:nvSpPr>
        <p:spPr>
          <a:xfrm>
            <a:off x="960120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4" name="Commentaire 1"/>
          <p:cNvSpPr/>
          <p:nvPr>
            <p:ph idx="112" type="body" hasCustomPrompt="1"/>
          </p:nvPr>
        </p:nvSpPr>
        <p:spPr>
          <a:xfrm>
            <a:off x="960120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4383938" y="2651760"/>
            <a:ext cx="3423818" cy="73152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7" name="Chiffre 2"/>
          <p:cNvSpPr/>
          <p:nvPr>
            <p:ph idx="115" type="body" hasCustomPrompt="1"/>
          </p:nvPr>
        </p:nvSpPr>
        <p:spPr>
          <a:xfrm>
            <a:off x="4703978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8" name="Libellé 2"/>
          <p:cNvSpPr/>
          <p:nvPr>
            <p:ph idx="116" type="body" hasCustomPrompt="1"/>
          </p:nvPr>
        </p:nvSpPr>
        <p:spPr>
          <a:xfrm>
            <a:off x="4703978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9" name="Commentaire 2"/>
          <p:cNvSpPr/>
          <p:nvPr>
            <p:ph idx="117" type="body" hasCustomPrompt="1"/>
          </p:nvPr>
        </p:nvSpPr>
        <p:spPr>
          <a:xfrm>
            <a:off x="4703978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21" name="Shape 11"/>
          <p:cNvSpPr/>
          <p:nvPr/>
        </p:nvSpPr>
        <p:spPr>
          <a:xfrm>
            <a:off x="8127797" y="2651760"/>
            <a:ext cx="3423818" cy="73152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22" name="Chiffre 3"/>
          <p:cNvSpPr/>
          <p:nvPr>
            <p:ph idx="120" type="body" hasCustomPrompt="1"/>
          </p:nvPr>
        </p:nvSpPr>
        <p:spPr>
          <a:xfrm>
            <a:off x="8447837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23" name="Libellé 3"/>
          <p:cNvSpPr/>
          <p:nvPr>
            <p:ph idx="121" type="body" hasCustomPrompt="1"/>
          </p:nvPr>
        </p:nvSpPr>
        <p:spPr>
          <a:xfrm>
            <a:off x="8447837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24" name="Commentaire 3"/>
          <p:cNvSpPr/>
          <p:nvPr>
            <p:ph idx="122" type="body" hasCustomPrompt="1"/>
          </p:nvPr>
        </p:nvSpPr>
        <p:spPr>
          <a:xfrm>
            <a:off x="8447837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Citation ou manifest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4A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5AF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7772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16000" dirty="0"/>
          </a:p>
        </p:txBody>
      </p:sp>
      <p:sp>
        <p:nvSpPr>
          <p:cNvPr id="9" name="Citation"/>
          <p:cNvSpPr/>
          <p:nvPr>
            <p:ph idx="107" type="body" hasCustomPrompt="1"/>
          </p:nvPr>
        </p:nvSpPr>
        <p:spPr>
          <a:xfrm>
            <a:off x="1828800" y="1828800"/>
            <a:ext cx="85953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phrase forte, une conviction, un manifeste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1828800" y="507492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1" name="Auteur"/>
          <p:cNvSpPr/>
          <p:nvPr>
            <p:ph idx="109" type="body" hasCustomPrompt="1"/>
          </p:nvPr>
        </p:nvSpPr>
        <p:spPr>
          <a:xfrm>
            <a:off x="182880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9A3B5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aphique ou tableau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Graphique"/>
          <p:cNvSpPr/>
          <p:nvPr>
            <p:ph idx="108" type="body" hasCustomPrompt="1"/>
          </p:nvPr>
        </p:nvSpPr>
        <p:spPr>
          <a:xfrm>
            <a:off x="640080" y="2240280"/>
            <a:ext cx="7863840" cy="3794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 graphique, un tableau ou un schéma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8915400" y="2240280"/>
            <a:ext cx="2633472" cy="379476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915400" y="2240280"/>
            <a:ext cx="54864" cy="379476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Lecture"/>
          <p:cNvSpPr/>
          <p:nvPr>
            <p:ph idx="111" type="body" hasCustomPrompt="1"/>
          </p:nvPr>
        </p:nvSpPr>
        <p:spPr>
          <a:xfrm>
            <a:off x="9189720" y="2468880"/>
            <a:ext cx="219456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retenir : la lecture du graphique en trois points</a:t>
            </a:r>
            <a:endParaRPr lang="en-US" sz="1300" dirty="0"/>
          </a:p>
        </p:txBody>
      </p:sp>
      <p:sp>
        <p:nvSpPr>
          <p:cNvPr id="14" name="Source"/>
          <p:cNvSpPr/>
          <p:nvPr>
            <p:ph idx="112" type="body" hasCustomPrompt="1"/>
          </p:nvPr>
        </p:nvSpPr>
        <p:spPr>
          <a:xfrm>
            <a:off x="640080" y="6080760"/>
            <a:ext cx="786384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à compléter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Équip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1" name="Portrait 1"/>
          <p:cNvSpPr/>
          <p:nvPr>
            <p:ph type="pic" idx="109" hasCustomPrompt="1"/>
          </p:nvPr>
        </p:nvSpPr>
        <p:spPr>
          <a:xfrm>
            <a:off x="640080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709160"/>
            <a:ext cx="2487854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Nom 1"/>
          <p:cNvSpPr/>
          <p:nvPr>
            <p:ph idx="111" type="body" hasCustomPrompt="1"/>
          </p:nvPr>
        </p:nvSpPr>
        <p:spPr>
          <a:xfrm>
            <a:off x="640080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4" name="Rôle 1"/>
          <p:cNvSpPr/>
          <p:nvPr>
            <p:ph idx="112" type="body" hasCustomPrompt="1"/>
          </p:nvPr>
        </p:nvSpPr>
        <p:spPr>
          <a:xfrm>
            <a:off x="640080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3447974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6" name="Portrait 2"/>
          <p:cNvSpPr/>
          <p:nvPr>
            <p:ph type="pic" idx="114" hasCustomPrompt="1"/>
          </p:nvPr>
        </p:nvSpPr>
        <p:spPr>
          <a:xfrm>
            <a:off x="3447974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3447974" y="4709160"/>
            <a:ext cx="2487854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8" name="Nom 2"/>
          <p:cNvSpPr/>
          <p:nvPr>
            <p:ph idx="116" type="body" hasCustomPrompt="1"/>
          </p:nvPr>
        </p:nvSpPr>
        <p:spPr>
          <a:xfrm>
            <a:off x="3447974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9" name="Rôle 2"/>
          <p:cNvSpPr/>
          <p:nvPr>
            <p:ph idx="117" type="body" hasCustomPrompt="1"/>
          </p:nvPr>
        </p:nvSpPr>
        <p:spPr>
          <a:xfrm>
            <a:off x="3447974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0" name="Shape 10"/>
          <p:cNvSpPr/>
          <p:nvPr/>
        </p:nvSpPr>
        <p:spPr>
          <a:xfrm>
            <a:off x="6255868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1" name="Portrait 3"/>
          <p:cNvSpPr/>
          <p:nvPr>
            <p:ph type="pic" idx="119" hasCustomPrompt="1"/>
          </p:nvPr>
        </p:nvSpPr>
        <p:spPr>
          <a:xfrm>
            <a:off x="6255868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6255868" y="4709160"/>
            <a:ext cx="2487854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</p:sp>
      <p:sp>
        <p:nvSpPr>
          <p:cNvPr id="23" name="Nom 3"/>
          <p:cNvSpPr/>
          <p:nvPr>
            <p:ph idx="121" type="body" hasCustomPrompt="1"/>
          </p:nvPr>
        </p:nvSpPr>
        <p:spPr>
          <a:xfrm>
            <a:off x="6255868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4" name="Rôle 3"/>
          <p:cNvSpPr/>
          <p:nvPr>
            <p:ph idx="122" type="body" hasCustomPrompt="1"/>
          </p:nvPr>
        </p:nvSpPr>
        <p:spPr>
          <a:xfrm>
            <a:off x="6255868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5" name="Shape 12"/>
          <p:cNvSpPr/>
          <p:nvPr/>
        </p:nvSpPr>
        <p:spPr>
          <a:xfrm>
            <a:off x="9063761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6" name="Portrait 4"/>
          <p:cNvSpPr/>
          <p:nvPr>
            <p:ph type="pic" idx="124" hasCustomPrompt="1"/>
          </p:nvPr>
        </p:nvSpPr>
        <p:spPr>
          <a:xfrm>
            <a:off x="9063761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7" name="Shape 13"/>
          <p:cNvSpPr/>
          <p:nvPr/>
        </p:nvSpPr>
        <p:spPr>
          <a:xfrm>
            <a:off x="9063761" y="4709160"/>
            <a:ext cx="2487854" cy="54864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28" name="Nom 4"/>
          <p:cNvSpPr/>
          <p:nvPr>
            <p:ph idx="126" type="body" hasCustomPrompt="1"/>
          </p:nvPr>
        </p:nvSpPr>
        <p:spPr>
          <a:xfrm>
            <a:off x="9063761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9" name="Rôle 4"/>
          <p:cNvSpPr/>
          <p:nvPr>
            <p:ph idx="127" type="body" hasCustomPrompt="1"/>
          </p:nvPr>
        </p:nvSpPr>
        <p:spPr>
          <a:xfrm>
            <a:off x="9063761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1015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Titre seul — zone libr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1016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 Clôture et contact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1668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3336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5005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6673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8341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50009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1677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33345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75014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6682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8350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0018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1686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83354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25023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66691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359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50027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002975" y="603504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22431" y="603504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441887" y="603504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itre"/>
          <p:cNvSpPr/>
          <p:nvPr>
            <p:ph idx="123" type="title" hasCustomPrompt="1"/>
          </p:nvPr>
        </p:nvSpPr>
        <p:spPr>
          <a:xfrm>
            <a:off x="640080" y="1737360"/>
            <a:ext cx="8229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Merci</a:t>
            </a:r>
            <a:endParaRPr lang="en-US" sz="6400" dirty="0"/>
          </a:p>
        </p:txBody>
      </p:sp>
      <p:sp>
        <p:nvSpPr>
          <p:cNvPr id="26" name="Shape 23"/>
          <p:cNvSpPr/>
          <p:nvPr/>
        </p:nvSpPr>
        <p:spPr>
          <a:xfrm>
            <a:off x="640080" y="342900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27" name="Contact"/>
          <p:cNvSpPr/>
          <p:nvPr>
            <p:ph idx="125" type="body" hasCustomPrompt="1"/>
          </p:nvPr>
        </p:nvSpPr>
        <p:spPr>
          <a:xfrm>
            <a:off x="640080" y="365760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adresse@poptables.com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tretch>
            <a:fillRect/>
          </a:stretch>
        </p:blipFill>
        <p:spPr>
          <a:xfrm>
            <a:off x="5120640" y="0"/>
            <a:ext cx="7071055" cy="6858000"/>
          </a:xfrm>
          <a:prstGeom prst="rect">
            <a:avLst/>
          </a:prstGeom>
        </p:spPr>
      </p:pic>
      <p:sp>
        <p:nvSpPr>
          <p:cNvPr id="3" name="Text 6"/>
          <p:cNvSpPr/>
          <p:nvPr>
            <p:ph idx="107" type="title" hasCustomPrompt="1"/>
          </p:nvPr>
        </p:nvSpPr>
        <p:spPr>
          <a:xfrm>
            <a:off x="640080" y="21031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 chefs rares, des lieux choisis</a:t>
            </a:r>
            <a:endParaRPr lang="en-US" sz="4000" dirty="0"/>
          </a:p>
        </p:txBody>
      </p:sp>
      <p:sp>
        <p:nvSpPr>
          <p:cNvPr id="4" name="Text 6"/>
          <p:cNvSpPr/>
          <p:nvPr>
            <p:ph idx="108" type="body" hasCustomPrompt="1"/>
          </p:nvPr>
        </p:nvSpPr>
        <p:spPr>
          <a:xfrm>
            <a:off x="640080" y="4297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Présentation investisseurs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Masque de travail</a:t>
            </a:r>
            <a:endParaRPr lang="en-US" sz="1400" dirty="0"/>
          </a:p>
        </p:txBody>
      </p:sp>
      <p:sp>
        <p:nvSpPr>
          <p:cNvPr id="5" name="Text 6"/>
          <p:cNvSpPr/>
          <p:nvPr>
            <p:ph idx="109" type="body" hasCustomPrompt="1"/>
          </p:nvPr>
        </p:nvSpPr>
        <p:spPr>
          <a:xfrm>
            <a:off x="640080" y="6035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PARIS · NOVEMBRE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7"/>
          <p:cNvSpPr/>
          <p:nvPr>
            <p:ph idx="117" type="title" hasCustomPrompt="1"/>
          </p:nvPr>
        </p:nvSpPr>
        <p:spPr>
          <a:xfrm>
            <a:off x="640080" y="18288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C896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Pop</a:t>
            </a:r>
            <a:r>
              <a: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Tables</a:t>
            </a:r>
            <a:endParaRPr lang="en-US" sz="4800" dirty="0"/>
          </a:p>
        </p:txBody>
      </p:sp>
      <p:sp>
        <p:nvSpPr>
          <p:cNvPr id="3" name="Text 17"/>
          <p:cNvSpPr/>
          <p:nvPr>
            <p:ph idx="118" type="body" hasCustomPrompt="1"/>
          </p:nvPr>
        </p:nvSpPr>
        <p:spPr>
          <a:xfrm>
            <a:off x="640080" y="44348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table éphémère des talents culinaires rares</a:t>
            </a:r>
            <a:endParaRPr lang="en-US" sz="1500" dirty="0"/>
          </a:p>
        </p:txBody>
      </p:sp>
      <p:sp>
        <p:nvSpPr>
          <p:cNvPr id="4" name="Text 17"/>
          <p:cNvSpPr/>
          <p:nvPr>
            <p:ph idx="119" type="body" hasCustomPrompt="1"/>
          </p:nvPr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PARIS · NOVEMBRE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CHARTE EN UN COUP D’ŒIL</a:t>
            </a:r>
            <a:endParaRPr lang="en-US" sz="1000" dirty="0"/>
          </a:p>
        </p:txBody>
      </p:sp>
      <p:sp>
        <p:nvSpPr>
          <p:cNvPr id="3" name="Text 6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palette d’atelier, deux typographies, un motif de nappe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99427" cy="1463040"/>
          </a:xfrm>
          <a:prstGeom prst="rect">
            <a:avLst/>
          </a:prstGeom>
          <a:solidFill>
            <a:srgbClr val="1E1B2E"/>
          </a:solidFill>
          <a:ln w="9525">
            <a:solidFill>
              <a:srgbClr val="D3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337560"/>
            <a:ext cx="17251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#1E1B2E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Encre de nuit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Ouvertures et sections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68107" y="2286000"/>
            <a:ext cx="1999427" cy="1463040"/>
          </a:xfrm>
          <a:prstGeom prst="rect">
            <a:avLst/>
          </a:prstGeom>
          <a:solidFill>
            <a:srgbClr val="F4EEE3"/>
          </a:solidFill>
          <a:ln w="9525">
            <a:solidFill>
              <a:srgbClr val="D3C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05267" y="3337560"/>
            <a:ext cx="17251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#F4EEE3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68107" y="38862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Ivoire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68107" y="4251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Fond des pages de contenu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96134" y="2286000"/>
            <a:ext cx="1999427" cy="1463040"/>
          </a:xfrm>
          <a:prstGeom prst="rect">
            <a:avLst/>
          </a:prstGeom>
          <a:solidFill>
            <a:srgbClr val="C2432B"/>
          </a:solidFill>
          <a:ln w="9525">
            <a:solidFill>
              <a:srgbClr val="D3C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3294" y="3337560"/>
            <a:ext cx="17251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#C2432B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96134" y="38862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Vermillon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96134" y="4251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Accent principal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24161" y="2286000"/>
            <a:ext cx="1999427" cy="1463040"/>
          </a:xfrm>
          <a:prstGeom prst="rect">
            <a:avLst/>
          </a:prstGeom>
          <a:solidFill>
            <a:srgbClr val="C8963A"/>
          </a:solidFill>
          <a:ln w="9525">
            <a:solidFill>
              <a:srgbClr val="D3C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1321" y="3337560"/>
            <a:ext cx="17251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#C8963A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24161" y="38862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Ocre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24161" y="4251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Accent secondaire, filets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52188" y="2286000"/>
            <a:ext cx="1999427" cy="1463040"/>
          </a:xfrm>
          <a:prstGeom prst="rect">
            <a:avLst/>
          </a:prstGeom>
          <a:solidFill>
            <a:srgbClr val="8FA593"/>
          </a:solidFill>
          <a:ln w="9525">
            <a:solidFill>
              <a:srgbClr val="D3C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89348" y="3337560"/>
            <a:ext cx="17251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#8FA593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52188" y="38862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Céladon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52188" y="4251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Touche discrète, motifs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983480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20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Playfair Display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Titres, citations, chiffres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09360" y="5120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Montserrat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Textes, surtitres, légendes</a:t>
            </a:r>
            <a:endParaRPr lang="en-US" sz="2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Sommaire</a:t>
            </a:r>
            <a:endParaRPr lang="en-US" sz="40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937760" y="1325880"/>
            <a:ext cx="65836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   La promesse</a:t>
            </a:r>
            <a:endParaRPr lang="en-US" sz="2000" dirty="0"/>
          </a:p>
          <a:p>
            <a:pPr algn="l"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   Le marché et les clients</a:t>
            </a:r>
            <a:endParaRPr lang="en-US" sz="2000" dirty="0"/>
          </a:p>
          <a:p>
            <a:pPr algn="l"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   Les offres et le prix</a:t>
            </a:r>
            <a:endParaRPr lang="en-US" sz="2000" dirty="0"/>
          </a:p>
          <a:p>
            <a:pPr algn="l"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   Le modèle économique</a:t>
            </a:r>
            <a:endParaRPr lang="en-US" sz="2000" dirty="0"/>
          </a:p>
          <a:p>
            <a:pPr algn="l"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   Le plan de déploiement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6"/>
          <p:cNvSpPr/>
          <p:nvPr>
            <p:ph idx="126" type="body" hasCustomPrompt="1"/>
          </p:nvPr>
        </p:nvSpPr>
        <p:spPr>
          <a:xfrm>
            <a:off x="640080" y="12801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27"/>
          <p:cNvSpPr/>
          <p:nvPr>
            <p:ph idx="128" type="title" hasCustomPrompt="1"/>
          </p:nvPr>
        </p:nvSpPr>
        <p:spPr>
          <a:xfrm>
            <a:off x="640080" y="356616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promesse</a:t>
            </a:r>
            <a:endParaRPr lang="en-US" sz="4000" dirty="0"/>
          </a:p>
        </p:txBody>
      </p:sp>
      <p:sp>
        <p:nvSpPr>
          <p:cNvPr id="4" name="Text 27"/>
          <p:cNvSpPr/>
          <p:nvPr>
            <p:ph idx="129" type="body" hasCustomPrompt="1"/>
          </p:nvPr>
        </p:nvSpPr>
        <p:spPr>
          <a:xfrm>
            <a:off x="640080" y="5212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nous créons et pourquoi nos clients l’achètent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CONCEPT</a:t>
            </a:r>
            <a:endParaRPr lang="en-US" sz="1000" dirty="0"/>
          </a:p>
        </p:txBody>
      </p:sp>
      <p:sp>
        <p:nvSpPr>
          <p:cNvPr id="3" name="Text 6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Nous ouvrons les restaurants les jours où ils sont fermés</a:t>
            </a:r>
            <a:endParaRPr lang="en-US" sz="3000" dirty="0"/>
          </a:p>
        </p:txBody>
      </p:sp>
      <p:sp>
        <p:nvSpPr>
          <p:cNvPr id="4" name="Text 6"/>
          <p:cNvSpPr/>
          <p:nvPr>
            <p:ph idx="108" type="body" hasCustomPrompt="1"/>
          </p:nvPr>
        </p:nvSpPr>
        <p:spPr>
          <a:xfrm>
            <a:off x="640080" y="2560320"/>
            <a:ext cx="7680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lieu disponible sur ses jours ou moments de fermeture</a:t>
            </a:r>
            <a:endParaRPr lang="en-US" sz="15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chef habituellement inaccessible : chef étranger, second d’une grande maison, talent médiatique</a:t>
            </a:r>
            <a:endParaRPr lang="en-US" sz="15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rencontre conçue et produite par PopTables, de la réservation au service</a:t>
            </a:r>
            <a:endParaRPr lang="en-US" sz="15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publics : les communautés de gastronomes et les entreprises</a:t>
            </a:r>
            <a:endParaRPr lang="en-US" sz="1500" dirty="0"/>
          </a:p>
        </p:txBody>
      </p:sp>
      <p:sp>
        <p:nvSpPr>
          <p:cNvPr id="5" name="Text 7"/>
          <p:cNvSpPr/>
          <p:nvPr>
            <p:ph idx="110" type="body" hasCustomPrompt="1"/>
          </p:nvPr>
        </p:nvSpPr>
        <p:spPr>
          <a:xfrm>
            <a:off x="9464040" y="2560320"/>
            <a:ext cx="2103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soirée, un lieu, un talent rare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PORTES D’ENTRÉE</a:t>
            </a:r>
            <a:endParaRPr lang="en-US" sz="1000" dirty="0"/>
          </a:p>
        </p:txBody>
      </p:sp>
      <p:sp>
        <p:nvSpPr>
          <p:cNvPr id="3" name="Text 6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Deux offres partagent un même socle de production</a:t>
            </a:r>
            <a:endParaRPr lang="en-US" sz="30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640080" y="274320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Dîners à la place</a:t>
            </a:r>
            <a:endParaRPr lang="en-US" sz="2000" dirty="0"/>
          </a:p>
        </p:txBody>
      </p:sp>
      <p:sp>
        <p:nvSpPr>
          <p:cNvPr id="5" name="Text 8"/>
          <p:cNvSpPr/>
          <p:nvPr>
            <p:ph idx="111" type="body" hasCustomPrompt="1"/>
          </p:nvPr>
        </p:nvSpPr>
        <p:spPr>
          <a:xfrm>
            <a:off x="6309360" y="274320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Événements privatifs</a:t>
            </a:r>
            <a:endParaRPr lang="en-US" sz="2000" dirty="0"/>
          </a:p>
        </p:txBody>
      </p:sp>
      <p:sp>
        <p:nvSpPr>
          <p:cNvPr id="6" name="Text 8"/>
          <p:cNvSpPr/>
          <p:nvPr>
            <p:ph idx="112" type="body" hasCustomPrompt="1"/>
          </p:nvPr>
        </p:nvSpPr>
        <p:spPr>
          <a:xfrm>
            <a:off x="640080" y="3291840"/>
            <a:ext cx="5257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expérience conçue pour les gastronomes</a:t>
            </a:r>
            <a:endParaRPr lang="en-US" sz="15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Prix par personne, contenu mets et vins inclus</a:t>
            </a:r>
            <a:endParaRPr lang="en-US" sz="15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Programmation éditorialisée et communauté</a:t>
            </a:r>
            <a:endParaRPr lang="en-US" sz="1500" dirty="0"/>
          </a:p>
        </p:txBody>
      </p:sp>
      <p:sp>
        <p:nvSpPr>
          <p:cNvPr id="7" name="Text 8"/>
          <p:cNvSpPr/>
          <p:nvPr>
            <p:ph idx="113" type="body" hasCustomPrompt="1"/>
          </p:nvPr>
        </p:nvSpPr>
        <p:spPr>
          <a:xfrm>
            <a:off x="6309360" y="3291840"/>
            <a:ext cx="5257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événement conçu à partir du brief client</a:t>
            </a:r>
            <a:endParaRPr lang="en-US" sz="15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Forfait global, options détaillées</a:t>
            </a:r>
            <a:endParaRPr lang="en-US" sz="15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Interlocuteur unique, de la conception au jour J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tretch>
            <a:fillRect/>
          </a:stretch>
        </p:blipFill>
        <p:spPr>
          <a:xfrm>
            <a:off x="6492240" y="0"/>
            <a:ext cx="5699455" cy="6858000"/>
          </a:xfrm>
          <a:prstGeom prst="rect">
            <a:avLst/>
          </a:prstGeom>
        </p:spPr>
      </p:pic>
      <p:sp>
        <p:nvSpPr>
          <p:cNvPr id="3" name="Text 2"/>
          <p:cNvSpPr/>
          <p:nvPr>
            <p:ph idx="103" type="body" hasCustomPrompt="1"/>
          </p:nvPr>
        </p:nvSpPr>
        <p:spPr>
          <a:xfrm>
            <a:off x="640080" y="914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TALENTS</a:t>
            </a:r>
            <a:endParaRPr lang="en-US" sz="10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640080" y="123444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L’accès au talent</a:t>
            </a:r>
            <a:endParaRPr lang="en-US" sz="3000" dirty="0"/>
          </a:p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fait la promesse</a:t>
            </a:r>
            <a:endParaRPr lang="en-US" sz="30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640080" y="333756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 chefs que le public ne peut pas réserver ailleurs</a:t>
            </a:r>
            <a:endParaRPr lang="en-US" sz="15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menu conçu pour l’occasion</a:t>
            </a:r>
            <a:endParaRPr lang="en-US" sz="15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sélection exigeante, renouvelée à chaque date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Text 4"/>
          <p:cNvSpPr/>
          <p:nvPr>
            <p:ph idx="105" type="body" hasCustomPrompt="1"/>
          </p:nvPr>
        </p:nvSpPr>
        <p:spPr>
          <a:xfrm>
            <a:off x="6309360" y="914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L’EXPÉRIENCE</a:t>
            </a:r>
            <a:endParaRPr lang="en-US" sz="1000" dirty="0"/>
          </a:p>
        </p:txBody>
      </p:sp>
      <p:sp>
        <p:nvSpPr>
          <p:cNvPr id="4" name="Text 4"/>
          <p:cNvSpPr/>
          <p:nvPr>
            <p:ph idx="106" type="title" hasCustomPrompt="1"/>
          </p:nvPr>
        </p:nvSpPr>
        <p:spPr>
          <a:xfrm>
            <a:off x="6309360" y="123444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table pensée comme une mise en scène</a:t>
            </a:r>
            <a:endParaRPr lang="en-US" sz="3000" dirty="0"/>
          </a:p>
        </p:txBody>
      </p:sp>
      <p:sp>
        <p:nvSpPr>
          <p:cNvPr id="5" name="Text 5"/>
          <p:cNvSpPr/>
          <p:nvPr>
            <p:ph idx="108" type="body" hasCustomPrompt="1"/>
          </p:nvPr>
        </p:nvSpPr>
        <p:spPr>
          <a:xfrm>
            <a:off x="6309360" y="333756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lieu, un chef et un public, le temps d’un soir</a:t>
            </a:r>
            <a:endParaRPr lang="en-US" sz="15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scénographie propre à chaque rencontre</a:t>
            </a:r>
            <a:endParaRPr lang="en-US" sz="15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accueil et un service à la hauteur de la promesse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695" cy="4892040"/>
          </a:xfrm>
          <a:prstGeom prst="rect">
            <a:avLst/>
          </a:prstGeom>
        </p:spPr>
      </p:pic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40080" y="5212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Les lieux ont une âme, même fermés</a:t>
            </a:r>
            <a:endParaRPr lang="en-US" sz="26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046720" y="5212080"/>
            <a:ext cx="3504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Visuel d’illustration : brasserie parisienne, généré par IA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SAVOIR-FAIRE</a:t>
            </a:r>
            <a:endParaRPr lang="en-US" sz="1000" dirty="0"/>
          </a:p>
        </p:txBody>
      </p:sp>
      <p:sp>
        <p:nvSpPr>
          <p:cNvPr id="3" name="Text 6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Trois ingrédients composent chaque rencontre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>
            <p:ph idx="109" hasCustomPrompt="1"/>
          </p:nvPr>
        </p:nvPicPr>
        <p:blipFill>
          <a:blip r:embed="rId1"/>
          <a:stretch>
            <a:fillRect/>
          </a:stretch>
        </p:blipFill>
        <p:spPr>
          <a:xfrm>
            <a:off x="640080" y="2240280"/>
            <a:ext cx="3423818" cy="2240280"/>
          </a:xfrm>
          <a:prstGeom prst="rect">
            <a:avLst/>
          </a:prstGeom>
        </p:spPr>
      </p:pic>
      <p:sp>
        <p:nvSpPr>
          <p:cNvPr id="5" name="Text 8"/>
          <p:cNvSpPr/>
          <p:nvPr>
            <p:ph idx="111" type="body" hasCustomPrompt="1"/>
          </p:nvPr>
        </p:nvSpPr>
        <p:spPr>
          <a:xfrm>
            <a:off x="640080" y="466344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 lieu</a:t>
            </a:r>
            <a:endParaRPr lang="en-US" sz="1800" dirty="0"/>
          </a:p>
        </p:txBody>
      </p:sp>
      <p:sp>
        <p:nvSpPr>
          <p:cNvPr id="6" name="Text 8"/>
          <p:cNvSpPr/>
          <p:nvPr>
            <p:ph idx="112" type="body" hasCustomPrompt="1"/>
          </p:nvPr>
        </p:nvSpPr>
        <p:spPr>
          <a:xfrm>
            <a:off x="640080" y="5120640"/>
            <a:ext cx="3423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restaurant ou un lieu équipé, sur ses jours de fermeture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>
            <p:ph idx="114" hasCustomPrompt="1"/>
          </p:nvPr>
        </p:nvPicPr>
        <p:blipFill>
          <a:blip r:embed="rId2"/>
          <a:stretch>
            <a:fillRect/>
          </a:stretch>
        </p:blipFill>
        <p:spPr>
          <a:xfrm>
            <a:off x="4383938" y="2240280"/>
            <a:ext cx="3423818" cy="2240280"/>
          </a:xfrm>
          <a:prstGeom prst="rect">
            <a:avLst/>
          </a:prstGeom>
        </p:spPr>
      </p:pic>
      <p:sp>
        <p:nvSpPr>
          <p:cNvPr id="8" name="Text 10"/>
          <p:cNvSpPr/>
          <p:nvPr>
            <p:ph idx="116" type="body" hasCustomPrompt="1"/>
          </p:nvPr>
        </p:nvSpPr>
        <p:spPr>
          <a:xfrm>
            <a:off x="4383938" y="466344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 chef</a:t>
            </a:r>
            <a:endParaRPr lang="en-US" sz="1800" dirty="0"/>
          </a:p>
        </p:txBody>
      </p:sp>
      <p:sp>
        <p:nvSpPr>
          <p:cNvPr id="9" name="Text 10"/>
          <p:cNvSpPr/>
          <p:nvPr>
            <p:ph idx="117" type="body" hasCustomPrompt="1"/>
          </p:nvPr>
        </p:nvSpPr>
        <p:spPr>
          <a:xfrm>
            <a:off x="4383938" y="5120640"/>
            <a:ext cx="3423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talent rare et singulier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>
            <p:ph idx="119" hasCustomPrompt="1"/>
          </p:nvPr>
        </p:nvPicPr>
        <p:blipFill>
          <a:blip r:embed="rId3"/>
          <a:stretch>
            <a:fillRect/>
          </a:stretch>
        </p:blipFill>
        <p:spPr>
          <a:xfrm>
            <a:off x="8127797" y="2240280"/>
            <a:ext cx="3423818" cy="2240280"/>
          </a:xfrm>
          <a:prstGeom prst="rect">
            <a:avLst/>
          </a:prstGeom>
        </p:spPr>
      </p:pic>
      <p:sp>
        <p:nvSpPr>
          <p:cNvPr id="11" name="Text 12"/>
          <p:cNvSpPr/>
          <p:nvPr>
            <p:ph idx="121" type="body" hasCustomPrompt="1"/>
          </p:nvPr>
        </p:nvSpPr>
        <p:spPr>
          <a:xfrm>
            <a:off x="8127797" y="466344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mise en scène</a:t>
            </a:r>
            <a:endParaRPr lang="en-US" sz="1800" dirty="0"/>
          </a:p>
        </p:txBody>
      </p:sp>
      <p:sp>
        <p:nvSpPr>
          <p:cNvPr id="12" name="Text 12"/>
          <p:cNvSpPr/>
          <p:nvPr>
            <p:ph idx="122" type="body" hasCustomPrompt="1"/>
          </p:nvPr>
        </p:nvSpPr>
        <p:spPr>
          <a:xfrm>
            <a:off x="8127797" y="5120640"/>
            <a:ext cx="3423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table, un récit et un service conçus sur mesure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L’OFFRE EN CHIFFRES</a:t>
            </a:r>
            <a:endParaRPr lang="en-US" sz="1000" dirty="0"/>
          </a:p>
        </p:txBody>
      </p:sp>
      <p:sp>
        <p:nvSpPr>
          <p:cNvPr id="3" name="Text 6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expérience premium à un prix lisible</a:t>
            </a:r>
            <a:endParaRPr lang="en-US" sz="30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960120" y="297180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290 €</a:t>
            </a:r>
            <a:endParaRPr lang="en-US" sz="6000" dirty="0"/>
          </a:p>
        </p:txBody>
      </p:sp>
      <p:sp>
        <p:nvSpPr>
          <p:cNvPr id="5" name="Text 8"/>
          <p:cNvSpPr/>
          <p:nvPr>
            <p:ph idx="111" type="body" hasCustomPrompt="1"/>
          </p:nvPr>
        </p:nvSpPr>
        <p:spPr>
          <a:xfrm>
            <a:off x="960120" y="44348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PRIX MOYEN</a:t>
            </a:r>
            <a:endParaRPr lang="en-US" sz="1100" dirty="0"/>
          </a:p>
        </p:txBody>
      </p:sp>
      <p:sp>
        <p:nvSpPr>
          <p:cNvPr id="6" name="Text 8"/>
          <p:cNvSpPr/>
          <p:nvPr>
            <p:ph idx="112" type="body" hasCustomPrompt="1"/>
          </p:nvPr>
        </p:nvSpPr>
        <p:spPr>
          <a:xfrm>
            <a:off x="960120" y="484632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Mets et vins, par personne</a:t>
            </a:r>
            <a:endParaRPr lang="en-US" sz="1300" dirty="0"/>
          </a:p>
        </p:txBody>
      </p:sp>
      <p:sp>
        <p:nvSpPr>
          <p:cNvPr id="7" name="Text 10"/>
          <p:cNvSpPr/>
          <p:nvPr>
            <p:ph idx="115" type="body" hasCustomPrompt="1"/>
          </p:nvPr>
        </p:nvSpPr>
        <p:spPr>
          <a:xfrm>
            <a:off x="4703978" y="297180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[xx]</a:t>
            </a:r>
            <a:endParaRPr lang="en-US" sz="6000" dirty="0"/>
          </a:p>
        </p:txBody>
      </p:sp>
      <p:sp>
        <p:nvSpPr>
          <p:cNvPr id="8" name="Text 10"/>
          <p:cNvSpPr/>
          <p:nvPr>
            <p:ph idx="116" type="body" hasCustomPrompt="1"/>
          </p:nvPr>
        </p:nvSpPr>
        <p:spPr>
          <a:xfrm>
            <a:off x="4703978" y="44348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COUVERTS PAR SOIRÉE</a:t>
            </a:r>
            <a:endParaRPr lang="en-US" sz="1100" dirty="0"/>
          </a:p>
        </p:txBody>
      </p:sp>
      <p:sp>
        <p:nvSpPr>
          <p:cNvPr id="9" name="Text 10"/>
          <p:cNvSpPr/>
          <p:nvPr>
            <p:ph idx="117" type="body" hasCustomPrompt="1"/>
          </p:nvPr>
        </p:nvSpPr>
        <p:spPr>
          <a:xfrm>
            <a:off x="4703978" y="484632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Capacité moyenne, à confirmer</a:t>
            </a:r>
            <a:endParaRPr lang="en-US" sz="1300" dirty="0"/>
          </a:p>
        </p:txBody>
      </p:sp>
      <p:sp>
        <p:nvSpPr>
          <p:cNvPr id="10" name="Text 12"/>
          <p:cNvSpPr/>
          <p:nvPr>
            <p:ph idx="120" type="body" hasCustomPrompt="1"/>
          </p:nvPr>
        </p:nvSpPr>
        <p:spPr>
          <a:xfrm>
            <a:off x="8447837" y="297180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[xx] %</a:t>
            </a:r>
            <a:endParaRPr lang="en-US" sz="6000" dirty="0"/>
          </a:p>
        </p:txBody>
      </p:sp>
      <p:sp>
        <p:nvSpPr>
          <p:cNvPr id="11" name="Text 12"/>
          <p:cNvSpPr/>
          <p:nvPr>
            <p:ph idx="121" type="body" hasCustomPrompt="1"/>
          </p:nvPr>
        </p:nvSpPr>
        <p:spPr>
          <a:xfrm>
            <a:off x="8447837" y="44348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MARGE DE CONTRIBUTION</a:t>
            </a:r>
            <a:endParaRPr lang="en-US" sz="1100" dirty="0"/>
          </a:p>
        </p:txBody>
      </p:sp>
      <p:sp>
        <p:nvSpPr>
          <p:cNvPr id="12" name="Text 12"/>
          <p:cNvSpPr/>
          <p:nvPr>
            <p:ph idx="122" type="body" hasCustomPrompt="1"/>
          </p:nvPr>
        </p:nvSpPr>
        <p:spPr>
          <a:xfrm>
            <a:off x="8447837" y="484632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Hypothèse du modèle financier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1828800" y="1828800"/>
            <a:ext cx="8595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Nous ne louons pas des salles, nous provoquons des rencontres</a:t>
            </a:r>
            <a:endParaRPr lang="en-US" sz="34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182880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L’ÉQUIPE POPTABLES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9A3B5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 DE GRAPHIQUE</a:t>
            </a:r>
            <a:endParaRPr lang="en-US" sz="1000" dirty="0"/>
          </a:p>
        </p:txBody>
      </p:sp>
      <p:sp>
        <p:nvSpPr>
          <p:cNvPr id="3" name="Text 6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 remplissage des jours de fermeture crée la valeur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>
            <p:ph idx="108" type="body" hasCustomPrompt="1"/>
          </p:nvPr>
        </p:nvGraphicFramePr>
        <p:xfrm>
          <a:off x="640080" y="2240280"/>
          <a:ext cx="78638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8"/>
          <p:cNvSpPr/>
          <p:nvPr>
            <p:ph idx="111" type="body" hasCustomPrompt="1"/>
          </p:nvPr>
        </p:nvSpPr>
        <p:spPr>
          <a:xfrm>
            <a:off x="9189720" y="2468880"/>
            <a:ext cx="2194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Données fictives, à remplacer</a:t>
            </a:r>
            <a:endParaRPr lang="en-US" sz="1300" dirty="0"/>
          </a:p>
          <a:p>
            <a:pPr algn="l" marL="228600" indent="-2286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couleur d’accent par message</a:t>
            </a:r>
            <a:endParaRPr lang="en-US" sz="1300" dirty="0"/>
          </a:p>
          <a:p>
            <a:pPr algn="l" marL="228600" indent="-2286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titre porte la conclusion</a:t>
            </a:r>
            <a:endParaRPr lang="en-US" sz="1300" dirty="0"/>
          </a:p>
        </p:txBody>
      </p:sp>
      <p:sp>
        <p:nvSpPr>
          <p:cNvPr id="6" name="Text 8"/>
          <p:cNvSpPr/>
          <p:nvPr>
            <p:ph idx="112" type="body" hasCustomPrompt="1"/>
          </p:nvPr>
        </p:nvSpPr>
        <p:spPr>
          <a:xfrm>
            <a:off x="640080" y="6080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illustration du masque, données non réelles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L’ÉQUIPE</a:t>
            </a:r>
            <a:endParaRPr lang="en-US" sz="1000" dirty="0"/>
          </a:p>
        </p:txBody>
      </p:sp>
      <p:sp>
        <p:nvSpPr>
          <p:cNvPr id="3" name="Text 6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équipe complémentaire pour concevoir et produire</a:t>
            </a:r>
            <a:endParaRPr lang="en-US" sz="3000" dirty="0"/>
          </a:p>
        </p:txBody>
      </p:sp>
      <p:sp>
        <p:nvSpPr>
          <p:cNvPr id="4" name="Text 8"/>
          <p:cNvSpPr/>
          <p:nvPr>
            <p:ph idx="111" type="body" hasCustomPrompt="1"/>
          </p:nvPr>
        </p:nvSpPr>
        <p:spPr>
          <a:xfrm>
            <a:off x="640080" y="4892040"/>
            <a:ext cx="2487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5" name="Text 8"/>
          <p:cNvSpPr/>
          <p:nvPr>
            <p:ph idx="112" type="body" hasCustomPrompt="1"/>
          </p:nvPr>
        </p:nvSpPr>
        <p:spPr>
          <a:xfrm>
            <a:off x="640080" y="5303520"/>
            <a:ext cx="24878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Stratégie et finance</a:t>
            </a:r>
            <a:endParaRPr lang="en-US" sz="1200" dirty="0"/>
          </a:p>
        </p:txBody>
      </p:sp>
      <p:sp>
        <p:nvSpPr>
          <p:cNvPr id="6" name="Text 10"/>
          <p:cNvSpPr/>
          <p:nvPr>
            <p:ph idx="116" type="body" hasCustomPrompt="1"/>
          </p:nvPr>
        </p:nvSpPr>
        <p:spPr>
          <a:xfrm>
            <a:off x="3447974" y="4892040"/>
            <a:ext cx="2487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7" name="Text 10"/>
          <p:cNvSpPr/>
          <p:nvPr>
            <p:ph idx="117" type="body" hasCustomPrompt="1"/>
          </p:nvPr>
        </p:nvSpPr>
        <p:spPr>
          <a:xfrm>
            <a:off x="3447974" y="5303520"/>
            <a:ext cx="24878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et communauté</a:t>
            </a:r>
            <a:endParaRPr lang="en-US" sz="1200" dirty="0"/>
          </a:p>
        </p:txBody>
      </p:sp>
      <p:sp>
        <p:nvSpPr>
          <p:cNvPr id="8" name="Text 12"/>
          <p:cNvSpPr/>
          <p:nvPr>
            <p:ph idx="121" type="body" hasCustomPrompt="1"/>
          </p:nvPr>
        </p:nvSpPr>
        <p:spPr>
          <a:xfrm>
            <a:off x="6255868" y="4892040"/>
            <a:ext cx="2487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9" name="Text 12"/>
          <p:cNvSpPr/>
          <p:nvPr>
            <p:ph idx="122" type="body" hasCustomPrompt="1"/>
          </p:nvPr>
        </p:nvSpPr>
        <p:spPr>
          <a:xfrm>
            <a:off x="6255868" y="5303520"/>
            <a:ext cx="24878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Partenariats chefs et lieux</a:t>
            </a:r>
            <a:endParaRPr lang="en-US" sz="1200" dirty="0"/>
          </a:p>
        </p:txBody>
      </p:sp>
      <p:sp>
        <p:nvSpPr>
          <p:cNvPr id="10" name="Text 14"/>
          <p:cNvSpPr/>
          <p:nvPr>
            <p:ph idx="126" type="body" hasCustomPrompt="1"/>
          </p:nvPr>
        </p:nvSpPr>
        <p:spPr>
          <a:xfrm>
            <a:off x="9063761" y="4892040"/>
            <a:ext cx="2487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1" name="Text 14"/>
          <p:cNvSpPr/>
          <p:nvPr>
            <p:ph idx="127" type="body" hasCustomPrompt="1"/>
          </p:nvPr>
        </p:nvSpPr>
        <p:spPr>
          <a:xfrm>
            <a:off x="9063761" y="5303520"/>
            <a:ext cx="24878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et opérations</a:t>
            </a:r>
            <a:endParaRPr lang="en-US" sz="1200" dirty="0"/>
          </a:p>
        </p:txBody>
      </p:sp>
      <p:sp>
        <p:nvSpPr>
          <p:cNvPr id="12" name="Text 7"/>
          <p:cNvSpPr/>
          <p:nvPr>
            <p:ph idx="109" hasCustomPrompt="1"/>
          </p:nvPr>
        </p:nvSpPr>
        <p:spPr>
          <a:xfrm>
            <a:off x="640080" y="2240280"/>
            <a:ext cx="248785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3" name="Text 9"/>
          <p:cNvSpPr/>
          <p:nvPr>
            <p:ph idx="114" hasCustomPrompt="1"/>
          </p:nvPr>
        </p:nvSpPr>
        <p:spPr>
          <a:xfrm>
            <a:off x="3447974" y="2240280"/>
            <a:ext cx="248785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1"/>
          <p:cNvSpPr/>
          <p:nvPr>
            <p:ph idx="119" hasCustomPrompt="1"/>
          </p:nvPr>
        </p:nvSpPr>
        <p:spPr>
          <a:xfrm>
            <a:off x="6255868" y="2240280"/>
            <a:ext cx="248785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>
            <p:ph idx="124" hasCustomPrompt="1"/>
          </p:nvPr>
        </p:nvSpPr>
        <p:spPr>
          <a:xfrm>
            <a:off x="9063761" y="2240280"/>
            <a:ext cx="248785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ZONE LIBRE</a:t>
            </a:r>
            <a:endParaRPr lang="en-US" sz="1000" dirty="0"/>
          </a:p>
        </p:txBody>
      </p:sp>
      <p:sp>
        <p:nvSpPr>
          <p:cNvPr id="3" name="Text 6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page ouverte pour un schéma ou une frise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036003" cy="73152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80360"/>
            <a:ext cx="2036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Repérer le lieu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58963" y="2651760"/>
            <a:ext cx="2036003" cy="73152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8963" y="2880360"/>
            <a:ext cx="2036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858963" y="379476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Choisir le chef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77846" y="2651760"/>
            <a:ext cx="2036003" cy="73152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7846" y="2880360"/>
            <a:ext cx="2036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77846" y="379476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Concevoir la soirée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96729" y="2651760"/>
            <a:ext cx="2036003" cy="73152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6729" y="2880360"/>
            <a:ext cx="2036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296729" y="379476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Vendre les places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15612" y="2651760"/>
            <a:ext cx="2036003" cy="73152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15612" y="2880360"/>
            <a:ext cx="2036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515612" y="379476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Recevoir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3"/>
          <p:cNvSpPr/>
          <p:nvPr>
            <p:ph idx="123" type="title" hasCustomPrompt="1"/>
          </p:nvPr>
        </p:nvSpPr>
        <p:spPr>
          <a:xfrm>
            <a:off x="640080" y="17373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Merci</a:t>
            </a:r>
            <a:endParaRPr lang="en-US" sz="6400" dirty="0"/>
          </a:p>
        </p:txBody>
      </p:sp>
      <p:sp>
        <p:nvSpPr>
          <p:cNvPr id="3" name="Text 24"/>
          <p:cNvSpPr/>
          <p:nvPr>
            <p:ph idx="125" type="body" hasCustomPrompt="1"/>
          </p:nvPr>
        </p:nvSpPr>
        <p:spPr>
          <a:xfrm>
            <a:off x="640080" y="36576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Équipe PopTables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contact@poptables.com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PopTables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PopTables — Masque de présentation</dc:title>
  <dc:subject>PptxGenJS Presentation</dc:subject>
  <dc:creator>PopTables</dc:creator>
  <cp:lastModifiedBy>PopTables</cp:lastModifiedBy>
  <cp:revision>1</cp:revision>
  <dcterms:created xsi:type="dcterms:W3CDTF">2026-10-29T09:17:27Z</dcterms:created>
  <dcterms:modified xsi:type="dcterms:W3CDTF">2026-10-29T09:17:27Z</dcterms:modified>
</cp:coreProperties>
</file>