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21" Type="http://schemas.openxmlformats.org/officeDocument/2006/relationships/viewProps" Target="viewProps.xml"/><Relationship Id="rId17" Type="http://schemas.openxmlformats.org/officeDocument/2006/relationships/slide" Target="slides/slide16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3" Type="http://schemas.openxmlformats.org/officeDocument/2006/relationships/tableStyles" Target="tableStyles.xml"/><Relationship Id="rId19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484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Prix = propositions du Produit, classées P dans le modèle Finance du 28/10/2026, à valider. Offre A (B2C) : Premier soir 290 € (40 couverts), Le Voyage 420 € (35), La Grande Nuit 690 € (30), TTC par place. Offre B : entreprises 250/350/600 € HT par convive selon le chef ; groupes (B2C) forfait de salle dès 6 000 € HT, chef confirmé. À confirmer : le « dès », ce que recouvre le forfait et son total pour un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 Page vie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Couverture — avec photo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7071055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Photo de couverture"/>
          <p:cNvSpPr>
            <a:spLocks noGrp="1"/>
          </p:cNvSpPr>
          <p:nvPr>
            <p:ph type="pic" idx="101" hasCustomPrompt="1"/>
          </p:nvPr>
        </p:nvSpPr>
        <p:spPr>
          <a:xfrm>
            <a:off x="5120640" y="0"/>
            <a:ext cx="707105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120640" y="0"/>
            <a:ext cx="73152" cy="685800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960120"/>
            <a:ext cx="146304" cy="14630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960120"/>
            <a:ext cx="146304" cy="146304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78992" y="960120"/>
            <a:ext cx="146304" cy="146304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2103120"/>
            <a:ext cx="41148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présentation</a:t>
            </a:r>
            <a:endParaRPr lang="en-US" sz="4000" dirty="0"/>
          </a:p>
        </p:txBody>
      </p:sp>
      <p:sp>
        <p:nvSpPr>
          <p:cNvPr id="10" name="Sous-titre"/>
          <p:cNvSpPr>
            <a:spLocks noGrp="1"/>
          </p:cNvSpPr>
          <p:nvPr>
            <p:ph type="body" idx="108" hasCustomPrompt="1"/>
          </p:nvPr>
        </p:nvSpPr>
        <p:spPr>
          <a:xfrm>
            <a:off x="640080" y="4297680"/>
            <a:ext cx="4023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 ou promesse</a:t>
            </a:r>
            <a:endParaRPr lang="en-US" sz="1400" dirty="0"/>
          </a:p>
        </p:txBody>
      </p:sp>
      <p:sp>
        <p:nvSpPr>
          <p:cNvPr id="11" name="Date"/>
          <p:cNvSpPr>
            <a:spLocks noGrp="1"/>
          </p:cNvSpPr>
          <p:nvPr>
            <p:ph type="body" idx="109" hasCustomPrompt="1"/>
          </p:nvPr>
        </p:nvSpPr>
        <p:spPr>
          <a:xfrm>
            <a:off x="640080" y="6035040"/>
            <a:ext cx="40233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9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9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LIEU · DATE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Couverture — typographique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097280"/>
            <a:ext cx="3840480" cy="38404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920240"/>
            <a:ext cx="1645920" cy="1645920"/>
          </a:xfrm>
          <a:prstGeom prst="ellipse">
            <a:avLst/>
          </a:prstGeom>
          <a:solidFill>
            <a:srgbClr val="C8963A"/>
          </a:solidFill>
          <a:ln>
            <a:solidFill>
              <a:srgbClr val="C8963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49640" y="2240280"/>
            <a:ext cx="1005840" cy="1005840"/>
          </a:xfrm>
          <a:prstGeom prst="ellipse">
            <a:avLst/>
          </a:prstGeom>
          <a:solidFill>
            <a:srgbClr val="F4EEE3"/>
          </a:solidFill>
          <a:ln>
            <a:solidFill>
              <a:srgbClr val="F4EEE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058400" y="1737360"/>
            <a:ext cx="914400" cy="201168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19" name="Titre"/>
          <p:cNvSpPr>
            <a:spLocks noGrp="1"/>
          </p:cNvSpPr>
          <p:nvPr>
            <p:ph type="title" idx="117" hasCustomPrompt="1"/>
          </p:nvPr>
        </p:nvSpPr>
        <p:spPr>
          <a:xfrm>
            <a:off x="640080" y="1828800"/>
            <a:ext cx="63093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présentation</a:t>
            </a:r>
            <a:endParaRPr lang="en-US" sz="4800" dirty="0"/>
          </a:p>
        </p:txBody>
      </p:sp>
      <p:sp>
        <p:nvSpPr>
          <p:cNvPr id="20" name="Sous-titre"/>
          <p:cNvSpPr>
            <a:spLocks noGrp="1"/>
          </p:cNvSpPr>
          <p:nvPr>
            <p:ph type="body" idx="118" hasCustomPrompt="1"/>
          </p:nvPr>
        </p:nvSpPr>
        <p:spPr>
          <a:xfrm>
            <a:off x="640080" y="443484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 ou promesse</a:t>
            </a:r>
            <a:endParaRPr lang="en-US" sz="1500" dirty="0"/>
          </a:p>
        </p:txBody>
      </p:sp>
      <p:sp>
        <p:nvSpPr>
          <p:cNvPr id="21" name="Date"/>
          <p:cNvSpPr>
            <a:spLocks noGrp="1"/>
          </p:cNvSpPr>
          <p:nvPr>
            <p:ph type="body" idx="119" hasCustomPrompt="1"/>
          </p:nvPr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9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9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LIEU · DATE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Sommaire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4206240" cy="512064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371600"/>
            <a:ext cx="3200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Sommaire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1" name="Sommaire"/>
          <p:cNvSpPr>
            <a:spLocks noGrp="1"/>
          </p:cNvSpPr>
          <p:nvPr>
            <p:ph type="body" idx="109" hasCustomPrompt="1"/>
          </p:nvPr>
        </p:nvSpPr>
        <p:spPr>
          <a:xfrm>
            <a:off x="4937760" y="1325880"/>
            <a:ext cx="6583680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35000"/>
              </a:lnSpc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lnSpc>
                <a:spcPct val="135000"/>
              </a:lnSpc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du texte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Intercalaire de section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0911535" y="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1615" y="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11535" y="64008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51615" y="64008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11535" y="128016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128016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11535" y="19202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51615" y="192024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11535" y="256032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51615" y="25603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11535" y="320040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51615" y="320040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11535" y="384048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1615" y="384048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11535" y="448056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551615" y="448056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11535" y="512064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51615" y="51206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11535" y="57607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51615" y="576072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11535" y="640080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51615" y="640080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8" name="Numéro"/>
          <p:cNvSpPr>
            <a:spLocks noGrp="1"/>
          </p:cNvSpPr>
          <p:nvPr>
            <p:ph type="body" idx="126" hasCustomPrompt="1"/>
          </p:nvPr>
        </p:nvSpPr>
        <p:spPr>
          <a:xfrm>
            <a:off x="640080" y="1280160"/>
            <a:ext cx="3657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1000" dirty="0"/>
          </a:p>
        </p:txBody>
      </p:sp>
      <p:sp>
        <p:nvSpPr>
          <p:cNvPr id="29" name="Shape 26"/>
          <p:cNvSpPr/>
          <p:nvPr/>
        </p:nvSpPr>
        <p:spPr>
          <a:xfrm>
            <a:off x="640080" y="329184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30" name="Titre"/>
          <p:cNvSpPr>
            <a:spLocks noGrp="1"/>
          </p:cNvSpPr>
          <p:nvPr>
            <p:ph type="title" idx="128" hasCustomPrompt="1"/>
          </p:nvPr>
        </p:nvSpPr>
        <p:spPr>
          <a:xfrm>
            <a:off x="640080" y="3566160"/>
            <a:ext cx="87782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section</a:t>
            </a:r>
            <a:endParaRPr lang="en-US" sz="4000" dirty="0"/>
          </a:p>
        </p:txBody>
      </p:sp>
      <p:sp>
        <p:nvSpPr>
          <p:cNvPr id="31" name="Sous-titre"/>
          <p:cNvSpPr>
            <a:spLocks noGrp="1"/>
          </p:cNvSpPr>
          <p:nvPr>
            <p:ph type="body" idx="129" hasCustomPrompt="1"/>
          </p:nvPr>
        </p:nvSpPr>
        <p:spPr>
          <a:xfrm>
            <a:off x="640080" y="5212080"/>
            <a:ext cx="8412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phrase pour annoncer la section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Titre et texte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Texte"/>
          <p:cNvSpPr>
            <a:spLocks noGrp="1"/>
          </p:cNvSpPr>
          <p:nvPr>
            <p:ph type="body" idx="108" hasCustomPrompt="1"/>
          </p:nvPr>
        </p:nvSpPr>
        <p:spPr>
          <a:xfrm>
            <a:off x="640080" y="2560320"/>
            <a:ext cx="768096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9144000" y="2606040"/>
            <a:ext cx="36576" cy="3474720"/>
          </a:xfrm>
          <a:prstGeom prst="rect">
            <a:avLst/>
          </a:prstGeom>
          <a:solidFill>
            <a:srgbClr val="D3C8B5"/>
          </a:solidFill>
          <a:ln w="12700">
            <a:solidFill>
              <a:srgbClr val="D3C8B5"/>
            </a:solidFill>
            <a:prstDash val="solid"/>
          </a:ln>
        </p:spPr>
      </p:sp>
      <p:sp>
        <p:nvSpPr>
          <p:cNvPr id="12" name="Encadré"/>
          <p:cNvSpPr>
            <a:spLocks noGrp="1"/>
          </p:cNvSpPr>
          <p:nvPr>
            <p:ph type="body" idx="110" hasCustomPrompt="1"/>
          </p:nvPr>
        </p:nvSpPr>
        <p:spPr>
          <a:xfrm>
            <a:off x="9464040" y="2560320"/>
            <a:ext cx="210312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Message clé ou chiffre à retenir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Deux colonnes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560320"/>
            <a:ext cx="5257800" cy="4572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09360" y="2560320"/>
            <a:ext cx="5257800" cy="4572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2" name="Intertitre gauche"/>
          <p:cNvSpPr>
            <a:spLocks noGrp="1"/>
          </p:cNvSpPr>
          <p:nvPr>
            <p:ph type="body" idx="110" hasCustomPrompt="1"/>
          </p:nvPr>
        </p:nvSpPr>
        <p:spPr>
          <a:xfrm>
            <a:off x="640080" y="2743200"/>
            <a:ext cx="5257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2000" dirty="0"/>
          </a:p>
        </p:txBody>
      </p:sp>
      <p:sp>
        <p:nvSpPr>
          <p:cNvPr id="13" name="Intertitre droite"/>
          <p:cNvSpPr>
            <a:spLocks noGrp="1"/>
          </p:cNvSpPr>
          <p:nvPr>
            <p:ph type="body" idx="111" hasCustomPrompt="1"/>
          </p:nvPr>
        </p:nvSpPr>
        <p:spPr>
          <a:xfrm>
            <a:off x="6309360" y="2743200"/>
            <a:ext cx="5257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2000" dirty="0"/>
          </a:p>
        </p:txBody>
      </p:sp>
      <p:sp>
        <p:nvSpPr>
          <p:cNvPr id="14" name="Texte gauche"/>
          <p:cNvSpPr>
            <a:spLocks noGrp="1"/>
          </p:cNvSpPr>
          <p:nvPr>
            <p:ph type="body" idx="112" hasCustomPrompt="1"/>
          </p:nvPr>
        </p:nvSpPr>
        <p:spPr>
          <a:xfrm>
            <a:off x="640080" y="3291840"/>
            <a:ext cx="525780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5" name="Texte droite"/>
          <p:cNvSpPr>
            <a:spLocks noGrp="1"/>
          </p:cNvSpPr>
          <p:nvPr>
            <p:ph type="body" idx="113" hasCustomPrompt="1"/>
          </p:nvPr>
        </p:nvSpPr>
        <p:spPr>
          <a:xfrm>
            <a:off x="6309360" y="3291840"/>
            <a:ext cx="525780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Texte et image à droite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0"/>
            <a:ext cx="5699455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Image"/>
          <p:cNvSpPr>
            <a:spLocks noGrp="1"/>
          </p:cNvSpPr>
          <p:nvPr>
            <p:ph type="pic" idx="101" hasCustomPrompt="1"/>
          </p:nvPr>
        </p:nvSpPr>
        <p:spPr>
          <a:xfrm>
            <a:off x="6492240" y="0"/>
            <a:ext cx="569945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5" name="Surtitre"/>
          <p:cNvSpPr>
            <a:spLocks noGrp="1"/>
          </p:cNvSpPr>
          <p:nvPr>
            <p:ph type="body" idx="103" hasCustomPrompt="1"/>
          </p:nvPr>
        </p:nvSpPr>
        <p:spPr>
          <a:xfrm>
            <a:off x="640080" y="914400"/>
            <a:ext cx="53035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6" name="Titre"/>
          <p:cNvSpPr>
            <a:spLocks noGrp="1"/>
          </p:cNvSpPr>
          <p:nvPr>
            <p:ph type="title" idx="104" hasCustomPrompt="1"/>
          </p:nvPr>
        </p:nvSpPr>
        <p:spPr>
          <a:xfrm>
            <a:off x="640080" y="1234440"/>
            <a:ext cx="53035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7" name="Shape 2"/>
          <p:cNvSpPr/>
          <p:nvPr/>
        </p:nvSpPr>
        <p:spPr>
          <a:xfrm>
            <a:off x="640080" y="30632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Texte"/>
          <p:cNvSpPr>
            <a:spLocks noGrp="1"/>
          </p:cNvSpPr>
          <p:nvPr>
            <p:ph type="body" idx="106" hasCustomPrompt="1"/>
          </p:nvPr>
        </p:nvSpPr>
        <p:spPr>
          <a:xfrm>
            <a:off x="640080" y="3337560"/>
            <a:ext cx="530352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9" name="Shape 3"/>
          <p:cNvSpPr/>
          <p:nvPr/>
        </p:nvSpPr>
        <p:spPr>
          <a:xfrm>
            <a:off x="640080" y="6382512"/>
            <a:ext cx="5303520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64008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Image à gauche et texte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Image"/>
          <p:cNvSpPr>
            <a:spLocks noGrp="1"/>
          </p:cNvSpPr>
          <p:nvPr>
            <p:ph type="pic" idx="101" hasCustomPrompt="1"/>
          </p:nvPr>
        </p:nvSpPr>
        <p:spPr>
          <a:xfrm>
            <a:off x="0" y="0"/>
            <a:ext cx="566928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urtitre"/>
          <p:cNvSpPr>
            <a:spLocks noGrp="1"/>
          </p:cNvSpPr>
          <p:nvPr>
            <p:ph type="body" idx="105" hasCustomPrompt="1"/>
          </p:nvPr>
        </p:nvSpPr>
        <p:spPr>
          <a:xfrm>
            <a:off x="6309360" y="914400"/>
            <a:ext cx="52120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8" name="Titre"/>
          <p:cNvSpPr>
            <a:spLocks noGrp="1"/>
          </p:cNvSpPr>
          <p:nvPr>
            <p:ph type="title" idx="106" hasCustomPrompt="1"/>
          </p:nvPr>
        </p:nvSpPr>
        <p:spPr>
          <a:xfrm>
            <a:off x="6309360" y="1234440"/>
            <a:ext cx="5212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9" name="Shape 4"/>
          <p:cNvSpPr/>
          <p:nvPr/>
        </p:nvSpPr>
        <p:spPr>
          <a:xfrm>
            <a:off x="6309360" y="30632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0" name="Texte"/>
          <p:cNvSpPr>
            <a:spLocks noGrp="1"/>
          </p:cNvSpPr>
          <p:nvPr>
            <p:ph type="body" idx="108" hasCustomPrompt="1"/>
          </p:nvPr>
        </p:nvSpPr>
        <p:spPr>
          <a:xfrm>
            <a:off x="6309360" y="3337560"/>
            <a:ext cx="521208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1" name="Shape 5"/>
          <p:cNvSpPr/>
          <p:nvPr/>
        </p:nvSpPr>
        <p:spPr>
          <a:xfrm>
            <a:off x="6309360" y="6382512"/>
            <a:ext cx="524225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630936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Grande image et légende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9204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Image"/>
          <p:cNvSpPr>
            <a:spLocks noGrp="1"/>
          </p:cNvSpPr>
          <p:nvPr>
            <p:ph type="pic" idx="101" hasCustomPrompt="1"/>
          </p:nvPr>
        </p:nvSpPr>
        <p:spPr>
          <a:xfrm>
            <a:off x="0" y="0"/>
            <a:ext cx="12191695" cy="4892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0" y="4892040"/>
            <a:ext cx="12191695" cy="6400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5" name="Titre"/>
          <p:cNvSpPr>
            <a:spLocks noGrp="1"/>
          </p:cNvSpPr>
          <p:nvPr>
            <p:ph type="title" idx="103" hasCustomPrompt="1"/>
          </p:nvPr>
        </p:nvSpPr>
        <p:spPr>
          <a:xfrm>
            <a:off x="640080" y="521208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6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ou citation courte</a:t>
            </a:r>
            <a:endParaRPr lang="en-US" sz="2600" dirty="0"/>
          </a:p>
        </p:txBody>
      </p:sp>
      <p:sp>
        <p:nvSpPr>
          <p:cNvPr id="6" name="Légende"/>
          <p:cNvSpPr>
            <a:spLocks noGrp="1"/>
          </p:cNvSpPr>
          <p:nvPr>
            <p:ph type="body" idx="104" hasCustomPrompt="1"/>
          </p:nvPr>
        </p:nvSpPr>
        <p:spPr>
          <a:xfrm>
            <a:off x="8046720" y="5212080"/>
            <a:ext cx="35048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Légende de l’image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Trois visuels et légendes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1" name="Image 1"/>
          <p:cNvSpPr>
            <a:spLocks noGrp="1"/>
          </p:cNvSpPr>
          <p:nvPr>
            <p:ph type="pic" idx="109" hasCustomPrompt="1"/>
          </p:nvPr>
        </p:nvSpPr>
        <p:spPr>
          <a:xfrm>
            <a:off x="640080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4480560"/>
            <a:ext cx="3423818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Intertitre 1"/>
          <p:cNvSpPr>
            <a:spLocks noGrp="1"/>
          </p:cNvSpPr>
          <p:nvPr>
            <p:ph type="body" idx="111" hasCustomPrompt="1"/>
          </p:nvPr>
        </p:nvSpPr>
        <p:spPr>
          <a:xfrm>
            <a:off x="640080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14" name="Texte 1"/>
          <p:cNvSpPr>
            <a:spLocks noGrp="1"/>
          </p:cNvSpPr>
          <p:nvPr>
            <p:ph type="body" idx="112" hasCustomPrompt="1"/>
          </p:nvPr>
        </p:nvSpPr>
        <p:spPr>
          <a:xfrm>
            <a:off x="640080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4383938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6" name="Image 2"/>
          <p:cNvSpPr>
            <a:spLocks noGrp="1"/>
          </p:cNvSpPr>
          <p:nvPr>
            <p:ph type="pic" idx="114" hasCustomPrompt="1"/>
          </p:nvPr>
        </p:nvSpPr>
        <p:spPr>
          <a:xfrm>
            <a:off x="4383938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4383938" y="4480560"/>
            <a:ext cx="3423818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8" name="Intertitre 2"/>
          <p:cNvSpPr>
            <a:spLocks noGrp="1"/>
          </p:cNvSpPr>
          <p:nvPr>
            <p:ph type="body" idx="116" hasCustomPrompt="1"/>
          </p:nvPr>
        </p:nvSpPr>
        <p:spPr>
          <a:xfrm>
            <a:off x="4383938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19" name="Texte 2"/>
          <p:cNvSpPr>
            <a:spLocks noGrp="1"/>
          </p:cNvSpPr>
          <p:nvPr>
            <p:ph type="body" idx="117" hasCustomPrompt="1"/>
          </p:nvPr>
        </p:nvSpPr>
        <p:spPr>
          <a:xfrm>
            <a:off x="4383938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20" name="Shape 10"/>
          <p:cNvSpPr/>
          <p:nvPr/>
        </p:nvSpPr>
        <p:spPr>
          <a:xfrm>
            <a:off x="8127797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21" name="Image 3"/>
          <p:cNvSpPr>
            <a:spLocks noGrp="1"/>
          </p:cNvSpPr>
          <p:nvPr>
            <p:ph type="pic" idx="119" hasCustomPrompt="1"/>
          </p:nvPr>
        </p:nvSpPr>
        <p:spPr>
          <a:xfrm>
            <a:off x="8127797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2" name="Shape 11"/>
          <p:cNvSpPr/>
          <p:nvPr/>
        </p:nvSpPr>
        <p:spPr>
          <a:xfrm>
            <a:off x="8127797" y="4480560"/>
            <a:ext cx="3423818" cy="54864"/>
          </a:xfrm>
          <a:prstGeom prst="rect">
            <a:avLst/>
          </a:prstGeom>
          <a:solidFill>
            <a:srgbClr val="8FA593"/>
          </a:solidFill>
          <a:ln w="12700">
            <a:solidFill>
              <a:srgbClr val="8FA593"/>
            </a:solidFill>
            <a:prstDash val="solid"/>
          </a:ln>
        </p:spPr>
      </p:sp>
      <p:sp>
        <p:nvSpPr>
          <p:cNvPr id="23" name="Intertitre 3"/>
          <p:cNvSpPr>
            <a:spLocks noGrp="1"/>
          </p:cNvSpPr>
          <p:nvPr>
            <p:ph type="body" idx="121" hasCustomPrompt="1"/>
          </p:nvPr>
        </p:nvSpPr>
        <p:spPr>
          <a:xfrm>
            <a:off x="8127797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24" name="Texte 3"/>
          <p:cNvSpPr>
            <a:spLocks noGrp="1"/>
          </p:cNvSpPr>
          <p:nvPr>
            <p:ph type="body" idx="122" hasCustomPrompt="1"/>
          </p:nvPr>
        </p:nvSpPr>
        <p:spPr>
          <a:xfrm>
            <a:off x="8127797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Chiffres clés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2651760"/>
            <a:ext cx="3423818" cy="73152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2" name="Chiffre 1"/>
          <p:cNvSpPr>
            <a:spLocks noGrp="1"/>
          </p:cNvSpPr>
          <p:nvPr>
            <p:ph type="body" idx="110" hasCustomPrompt="1"/>
          </p:nvPr>
        </p:nvSpPr>
        <p:spPr>
          <a:xfrm>
            <a:off x="960120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13" name="Libellé 1"/>
          <p:cNvSpPr>
            <a:spLocks noGrp="1"/>
          </p:cNvSpPr>
          <p:nvPr>
            <p:ph type="body" idx="111" hasCustomPrompt="1"/>
          </p:nvPr>
        </p:nvSpPr>
        <p:spPr>
          <a:xfrm>
            <a:off x="960120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14" name="Commentaire 1"/>
          <p:cNvSpPr>
            <a:spLocks noGrp="1"/>
          </p:cNvSpPr>
          <p:nvPr>
            <p:ph type="body" idx="112" hasCustomPrompt="1"/>
          </p:nvPr>
        </p:nvSpPr>
        <p:spPr>
          <a:xfrm>
            <a:off x="960120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4383938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4383938" y="2651760"/>
            <a:ext cx="3423818" cy="73152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7" name="Chiffre 2"/>
          <p:cNvSpPr>
            <a:spLocks noGrp="1"/>
          </p:cNvSpPr>
          <p:nvPr>
            <p:ph type="body" idx="115" hasCustomPrompt="1"/>
          </p:nvPr>
        </p:nvSpPr>
        <p:spPr>
          <a:xfrm>
            <a:off x="4703978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18" name="Libellé 2"/>
          <p:cNvSpPr>
            <a:spLocks noGrp="1"/>
          </p:cNvSpPr>
          <p:nvPr>
            <p:ph type="body" idx="116" hasCustomPrompt="1"/>
          </p:nvPr>
        </p:nvSpPr>
        <p:spPr>
          <a:xfrm>
            <a:off x="4703978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19" name="Commentaire 2"/>
          <p:cNvSpPr>
            <a:spLocks noGrp="1"/>
          </p:cNvSpPr>
          <p:nvPr>
            <p:ph type="body" idx="117" hasCustomPrompt="1"/>
          </p:nvPr>
        </p:nvSpPr>
        <p:spPr>
          <a:xfrm>
            <a:off x="4703978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20" name="Shape 10"/>
          <p:cNvSpPr/>
          <p:nvPr/>
        </p:nvSpPr>
        <p:spPr>
          <a:xfrm>
            <a:off x="8127797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21" name="Shape 11"/>
          <p:cNvSpPr/>
          <p:nvPr/>
        </p:nvSpPr>
        <p:spPr>
          <a:xfrm>
            <a:off x="8127797" y="2651760"/>
            <a:ext cx="3423818" cy="73152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22" name="Chiffre 3"/>
          <p:cNvSpPr>
            <a:spLocks noGrp="1"/>
          </p:cNvSpPr>
          <p:nvPr>
            <p:ph type="body" idx="120" hasCustomPrompt="1"/>
          </p:nvPr>
        </p:nvSpPr>
        <p:spPr>
          <a:xfrm>
            <a:off x="8447837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23" name="Libellé 3"/>
          <p:cNvSpPr>
            <a:spLocks noGrp="1"/>
          </p:cNvSpPr>
          <p:nvPr>
            <p:ph type="body" idx="121" hasCustomPrompt="1"/>
          </p:nvPr>
        </p:nvSpPr>
        <p:spPr>
          <a:xfrm>
            <a:off x="8447837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24" name="Commentaire 3"/>
          <p:cNvSpPr>
            <a:spLocks noGrp="1"/>
          </p:cNvSpPr>
          <p:nvPr>
            <p:ph type="body" idx="122" hasCustomPrompt="1"/>
          </p:nvPr>
        </p:nvSpPr>
        <p:spPr>
          <a:xfrm>
            <a:off x="8447837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Citation ou manifeste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4A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B5AF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7772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16000" dirty="0"/>
          </a:p>
        </p:txBody>
      </p:sp>
      <p:sp>
        <p:nvSpPr>
          <p:cNvPr id="9" name="Citation"/>
          <p:cNvSpPr>
            <a:spLocks noGrp="1"/>
          </p:cNvSpPr>
          <p:nvPr>
            <p:ph type="body" idx="107" hasCustomPrompt="1"/>
          </p:nvPr>
        </p:nvSpPr>
        <p:spPr>
          <a:xfrm>
            <a:off x="1828800" y="1828800"/>
            <a:ext cx="85953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4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phrase forte, une conviction, un manifeste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1828800" y="507492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1" name="Auteur"/>
          <p:cNvSpPr>
            <a:spLocks noGrp="1"/>
          </p:cNvSpPr>
          <p:nvPr>
            <p:ph type="body" idx="109" hasCustomPrompt="1"/>
          </p:nvPr>
        </p:nvSpPr>
        <p:spPr>
          <a:xfrm>
            <a:off x="1828800" y="525780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 · FONCTION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9A3B5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aphique ou tableau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Graphique"/>
          <p:cNvSpPr>
            <a:spLocks noGrp="1"/>
          </p:cNvSpPr>
          <p:nvPr>
            <p:ph type="body" idx="108" hasCustomPrompt="1"/>
          </p:nvPr>
        </p:nvSpPr>
        <p:spPr>
          <a:xfrm>
            <a:off x="640080" y="2240280"/>
            <a:ext cx="7863840" cy="3794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 graphique, un tableau ou un schéma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8915400" y="2240280"/>
            <a:ext cx="2633472" cy="379476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915400" y="2240280"/>
            <a:ext cx="54864" cy="379476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Lecture"/>
          <p:cNvSpPr>
            <a:spLocks noGrp="1"/>
          </p:cNvSpPr>
          <p:nvPr>
            <p:ph type="body" idx="111" hasCustomPrompt="1"/>
          </p:nvPr>
        </p:nvSpPr>
        <p:spPr>
          <a:xfrm>
            <a:off x="9189720" y="2468880"/>
            <a:ext cx="219456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retenir : la lecture du graphique en trois points</a:t>
            </a:r>
            <a:endParaRPr lang="en-US" sz="1300" dirty="0"/>
          </a:p>
        </p:txBody>
      </p:sp>
      <p:sp>
        <p:nvSpPr>
          <p:cNvPr id="14" name="Source"/>
          <p:cNvSpPr>
            <a:spLocks noGrp="1"/>
          </p:cNvSpPr>
          <p:nvPr>
            <p:ph type="body" idx="112" hasCustomPrompt="1"/>
          </p:nvPr>
        </p:nvSpPr>
        <p:spPr>
          <a:xfrm>
            <a:off x="640080" y="6080760"/>
            <a:ext cx="786384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8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8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à compléter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Équipe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1" name="Portrait 1"/>
          <p:cNvSpPr>
            <a:spLocks noGrp="1"/>
          </p:cNvSpPr>
          <p:nvPr>
            <p:ph type="pic" idx="109" hasCustomPrompt="1"/>
          </p:nvPr>
        </p:nvSpPr>
        <p:spPr>
          <a:xfrm>
            <a:off x="640080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4709160"/>
            <a:ext cx="2487854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Nom 1"/>
          <p:cNvSpPr>
            <a:spLocks noGrp="1"/>
          </p:cNvSpPr>
          <p:nvPr>
            <p:ph type="body" idx="111" hasCustomPrompt="1"/>
          </p:nvPr>
        </p:nvSpPr>
        <p:spPr>
          <a:xfrm>
            <a:off x="640080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14" name="Rôle 1"/>
          <p:cNvSpPr>
            <a:spLocks noGrp="1"/>
          </p:cNvSpPr>
          <p:nvPr>
            <p:ph type="body" idx="112" hasCustomPrompt="1"/>
          </p:nvPr>
        </p:nvSpPr>
        <p:spPr>
          <a:xfrm>
            <a:off x="640080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3447974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6" name="Portrait 2"/>
          <p:cNvSpPr>
            <a:spLocks noGrp="1"/>
          </p:cNvSpPr>
          <p:nvPr>
            <p:ph type="pic" idx="114" hasCustomPrompt="1"/>
          </p:nvPr>
        </p:nvSpPr>
        <p:spPr>
          <a:xfrm>
            <a:off x="3447974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3447974" y="4709160"/>
            <a:ext cx="2487854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8" name="Nom 2"/>
          <p:cNvSpPr>
            <a:spLocks noGrp="1"/>
          </p:cNvSpPr>
          <p:nvPr>
            <p:ph type="body" idx="116" hasCustomPrompt="1"/>
          </p:nvPr>
        </p:nvSpPr>
        <p:spPr>
          <a:xfrm>
            <a:off x="3447974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19" name="Rôle 2"/>
          <p:cNvSpPr>
            <a:spLocks noGrp="1"/>
          </p:cNvSpPr>
          <p:nvPr>
            <p:ph type="body" idx="117" hasCustomPrompt="1"/>
          </p:nvPr>
        </p:nvSpPr>
        <p:spPr>
          <a:xfrm>
            <a:off x="3447974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20" name="Shape 10"/>
          <p:cNvSpPr/>
          <p:nvPr/>
        </p:nvSpPr>
        <p:spPr>
          <a:xfrm>
            <a:off x="6255868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21" name="Portrait 3"/>
          <p:cNvSpPr>
            <a:spLocks noGrp="1"/>
          </p:cNvSpPr>
          <p:nvPr>
            <p:ph type="pic" idx="119" hasCustomPrompt="1"/>
          </p:nvPr>
        </p:nvSpPr>
        <p:spPr>
          <a:xfrm>
            <a:off x="6255868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2" name="Shape 11"/>
          <p:cNvSpPr/>
          <p:nvPr/>
        </p:nvSpPr>
        <p:spPr>
          <a:xfrm>
            <a:off x="6255868" y="4709160"/>
            <a:ext cx="2487854" cy="54864"/>
          </a:xfrm>
          <a:prstGeom prst="rect">
            <a:avLst/>
          </a:prstGeom>
          <a:solidFill>
            <a:srgbClr val="8FA593"/>
          </a:solidFill>
          <a:ln w="12700">
            <a:solidFill>
              <a:srgbClr val="8FA593"/>
            </a:solidFill>
            <a:prstDash val="solid"/>
          </a:ln>
        </p:spPr>
      </p:sp>
      <p:sp>
        <p:nvSpPr>
          <p:cNvPr id="23" name="Nom 3"/>
          <p:cNvSpPr>
            <a:spLocks noGrp="1"/>
          </p:cNvSpPr>
          <p:nvPr>
            <p:ph type="body" idx="121" hasCustomPrompt="1"/>
          </p:nvPr>
        </p:nvSpPr>
        <p:spPr>
          <a:xfrm>
            <a:off x="6255868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24" name="Rôle 3"/>
          <p:cNvSpPr>
            <a:spLocks noGrp="1"/>
          </p:cNvSpPr>
          <p:nvPr>
            <p:ph type="body" idx="122" hasCustomPrompt="1"/>
          </p:nvPr>
        </p:nvSpPr>
        <p:spPr>
          <a:xfrm>
            <a:off x="6255868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25" name="Shape 12"/>
          <p:cNvSpPr/>
          <p:nvPr/>
        </p:nvSpPr>
        <p:spPr>
          <a:xfrm>
            <a:off x="9063761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26" name="Portrait 4"/>
          <p:cNvSpPr>
            <a:spLocks noGrp="1"/>
          </p:cNvSpPr>
          <p:nvPr>
            <p:ph type="pic" idx="124" hasCustomPrompt="1"/>
          </p:nvPr>
        </p:nvSpPr>
        <p:spPr>
          <a:xfrm>
            <a:off x="9063761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7" name="Shape 13"/>
          <p:cNvSpPr/>
          <p:nvPr/>
        </p:nvSpPr>
        <p:spPr>
          <a:xfrm>
            <a:off x="9063761" y="4709160"/>
            <a:ext cx="2487854" cy="54864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28" name="Nom 4"/>
          <p:cNvSpPr>
            <a:spLocks noGrp="1"/>
          </p:cNvSpPr>
          <p:nvPr>
            <p:ph type="body" idx="126" hasCustomPrompt="1"/>
          </p:nvPr>
        </p:nvSpPr>
        <p:spPr>
          <a:xfrm>
            <a:off x="9063761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29" name="Rôle 4"/>
          <p:cNvSpPr>
            <a:spLocks noGrp="1"/>
          </p:cNvSpPr>
          <p:nvPr>
            <p:ph type="body" idx="127" hasCustomPrompt="1"/>
          </p:nvPr>
        </p:nvSpPr>
        <p:spPr>
          <a:xfrm>
            <a:off x="9063761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 Titre seul — zone libre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 Clôture et contact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1668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3336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5005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6673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8341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50009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1677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33345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75014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6682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58350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00018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41686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83354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25023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66691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359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50027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002975" y="603504"/>
            <a:ext cx="146304" cy="14630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22431" y="603504"/>
            <a:ext cx="146304" cy="146304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441887" y="603504"/>
            <a:ext cx="146304" cy="146304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itre"/>
          <p:cNvSpPr>
            <a:spLocks noGrp="1"/>
          </p:cNvSpPr>
          <p:nvPr>
            <p:ph type="title" idx="123" hasCustomPrompt="1"/>
          </p:nvPr>
        </p:nvSpPr>
        <p:spPr>
          <a:xfrm>
            <a:off x="640080" y="1737360"/>
            <a:ext cx="8229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4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64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Merci</a:t>
            </a:r>
            <a:endParaRPr lang="en-US" sz="6400" dirty="0"/>
          </a:p>
        </p:txBody>
      </p:sp>
      <p:sp>
        <p:nvSpPr>
          <p:cNvPr id="26" name="Shape 23"/>
          <p:cNvSpPr/>
          <p:nvPr/>
        </p:nvSpPr>
        <p:spPr>
          <a:xfrm>
            <a:off x="640080" y="342900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27" name="Contact"/>
          <p:cNvSpPr>
            <a:spLocks noGrp="1"/>
          </p:cNvSpPr>
          <p:nvPr>
            <p:ph type="body" idx="125" hasCustomPrompt="1"/>
          </p:nvPr>
        </p:nvSpPr>
        <p:spPr>
          <a:xfrm>
            <a:off x="640080" y="3657600"/>
            <a:ext cx="6400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 · fonction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adresse@poptables.com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OFFRES ET LE PRIX</a:t>
            </a:r>
            <a:endParaRPr lang="en-US" sz="1000" dirty="0"/>
          </a:p>
        </p:txBody>
      </p:sp>
      <p:sp>
        <p:nvSpPr>
          <p:cNvPr id="3" name="Text 6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Deux offres, une même promesse :</a:t>
            </a:r>
            <a:br>
              <a:rPr lang="en-US" sz="2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</a:br>
            <a:r>
              <a:rPr lang="en-US" sz="2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soirée qui ne se rejoue jamais</a:t>
            </a:r>
            <a:endParaRPr lang="en-US" sz="2800" dirty="0"/>
          </a:p>
        </p:txBody>
      </p:sp>
      <p:sp>
        <p:nvSpPr>
          <p:cNvPr id="41" name="Bloc offre A"/>
          <p:cNvSpPr/>
          <p:nvPr/>
        </p:nvSpPr>
        <p:spPr>
          <a:xfrm>
            <a:off x="640080" y="2331720"/>
            <a:ext cx="5349240" cy="3840480"/>
          </a:xfrm>
          <a:prstGeom prst="roundRect">
            <a:avLst>
              <a:gd name="adj" fmla="val 4000"/>
            </a:avLst>
          </a:prstGeom>
          <a:solidFill>
            <a:srgbClr val="1E1B2E"/>
          </a:solidFill>
          <a:ln>
            <a:noFill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42" name="Titre offre A"/>
          <p:cNvSpPr txBox="1"/>
          <p:nvPr/>
        </p:nvSpPr>
        <p:spPr>
          <a:xfrm>
            <a:off x="914400" y="2587752"/>
            <a:ext cx="4800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00" b="1" spc="25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OFFRE A · PLACES À L’UNITÉ</a:t>
            </a:r>
          </a:p>
        </p:txBody>
      </p:sp>
      <p:sp>
        <p:nvSpPr>
          <p:cNvPr id="43" name="Accroche offre A"/>
          <p:cNvSpPr txBox="1"/>
          <p:nvPr/>
        </p:nvSpPr>
        <p:spPr>
          <a:xfrm>
            <a:off x="914400" y="288036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7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place à la table, en pré-vente</a:t>
            </a:r>
          </a:p>
        </p:txBody>
      </p:sp>
      <p:sp>
        <p:nvSpPr>
          <p:cNvPr id="44" name="Pastille A1"/>
          <p:cNvSpPr/>
          <p:nvPr/>
        </p:nvSpPr>
        <p:spPr>
          <a:xfrm>
            <a:off x="914400" y="3520439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8FA593"/>
          </a:solidFill>
          <a:ln>
            <a:noFill/>
          </a:ln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Chef montant</a:t>
            </a:r>
          </a:p>
        </p:txBody>
      </p:sp>
      <p:sp>
        <p:nvSpPr>
          <p:cNvPr id="45" name="Prix A1"/>
          <p:cNvSpPr txBox="1"/>
          <p:nvPr/>
        </p:nvSpPr>
        <p:spPr>
          <a:xfrm>
            <a:off x="914400" y="3977639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dirty="0">
                <a:solidFill>
                  <a:srgbClr val="C896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290 €</a:t>
            </a:r>
            <a:r>
              <a:rPr lang="fr-FR" sz="1000" b="1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TTC</a:t>
            </a:r>
          </a:p>
        </p:txBody>
      </p:sp>
      <p:sp>
        <p:nvSpPr>
          <p:cNvPr id="46" name="Unité A1"/>
          <p:cNvSpPr txBox="1"/>
          <p:nvPr/>
        </p:nvSpPr>
        <p:spPr>
          <a:xfrm>
            <a:off x="914400" y="4754879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800" b="1" spc="60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PARTICULIERS (B2C)</a:t>
            </a:r>
          </a:p>
        </p:txBody>
      </p:sp>
      <p:sp>
        <p:nvSpPr>
          <p:cNvPr id="47" name="Unité2 A1"/>
          <p:cNvSpPr txBox="1"/>
          <p:nvPr/>
        </p:nvSpPr>
        <p:spPr>
          <a:xfrm>
            <a:off x="914400" y="493776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800" b="1" spc="60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 PLACE</a:t>
            </a:r>
          </a:p>
        </p:txBody>
      </p:sp>
      <p:sp>
        <p:nvSpPr>
          <p:cNvPr id="48" name="Soirée A1"/>
          <p:cNvSpPr txBox="1"/>
          <p:nvPr/>
        </p:nvSpPr>
        <p:spPr>
          <a:xfrm>
            <a:off x="914400" y="5303520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5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Premier soir</a:t>
            </a:r>
          </a:p>
        </p:txBody>
      </p:sp>
      <p:sp>
        <p:nvSpPr>
          <p:cNvPr id="49" name="Détail A1"/>
          <p:cNvSpPr txBox="1"/>
          <p:nvPr/>
        </p:nvSpPr>
        <p:spPr>
          <a:xfrm>
            <a:off x="914400" y="56235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900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 couverts · 6 services</a:t>
            </a:r>
          </a:p>
        </p:txBody>
      </p:sp>
      <p:sp>
        <p:nvSpPr>
          <p:cNvPr id="50" name="Pastille A2"/>
          <p:cNvSpPr/>
          <p:nvPr/>
        </p:nvSpPr>
        <p:spPr>
          <a:xfrm>
            <a:off x="2514600" y="3520439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8FA593"/>
          </a:solidFill>
          <a:ln>
            <a:noFill/>
          </a:ln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Chef confirmé</a:t>
            </a:r>
          </a:p>
        </p:txBody>
      </p:sp>
      <p:sp>
        <p:nvSpPr>
          <p:cNvPr id="51" name="Prix A2"/>
          <p:cNvSpPr txBox="1"/>
          <p:nvPr/>
        </p:nvSpPr>
        <p:spPr>
          <a:xfrm>
            <a:off x="2514600" y="3977639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dirty="0">
                <a:solidFill>
                  <a:srgbClr val="C896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420 €</a:t>
            </a:r>
            <a:r>
              <a:rPr lang="fr-FR" sz="1000" b="1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TTC</a:t>
            </a:r>
          </a:p>
        </p:txBody>
      </p:sp>
      <p:sp>
        <p:nvSpPr>
          <p:cNvPr id="52" name="Unité A2"/>
          <p:cNvSpPr txBox="1"/>
          <p:nvPr/>
        </p:nvSpPr>
        <p:spPr>
          <a:xfrm>
            <a:off x="2514600" y="4754879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800" b="1" spc="60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PARTICULIERS (B2C)</a:t>
            </a:r>
          </a:p>
        </p:txBody>
      </p:sp>
      <p:sp>
        <p:nvSpPr>
          <p:cNvPr id="53" name="Unité2 A2"/>
          <p:cNvSpPr txBox="1"/>
          <p:nvPr/>
        </p:nvSpPr>
        <p:spPr>
          <a:xfrm>
            <a:off x="2514600" y="493776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800" b="1" spc="60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 PLACE</a:t>
            </a:r>
          </a:p>
        </p:txBody>
      </p:sp>
      <p:sp>
        <p:nvSpPr>
          <p:cNvPr id="54" name="Soirée A2"/>
          <p:cNvSpPr txBox="1"/>
          <p:nvPr/>
        </p:nvSpPr>
        <p:spPr>
          <a:xfrm>
            <a:off x="2514600" y="5303520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5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 Voyage</a:t>
            </a:r>
          </a:p>
        </p:txBody>
      </p:sp>
      <p:sp>
        <p:nvSpPr>
          <p:cNvPr id="55" name="Détail A2"/>
          <p:cNvSpPr txBox="1"/>
          <p:nvPr/>
        </p:nvSpPr>
        <p:spPr>
          <a:xfrm>
            <a:off x="2514600" y="56235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900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couverts · 7 services</a:t>
            </a:r>
          </a:p>
        </p:txBody>
      </p:sp>
      <p:sp>
        <p:nvSpPr>
          <p:cNvPr id="56" name="Pastille A3"/>
          <p:cNvSpPr/>
          <p:nvPr/>
        </p:nvSpPr>
        <p:spPr>
          <a:xfrm>
            <a:off x="4114800" y="3520439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8FA593"/>
          </a:solidFill>
          <a:ln>
            <a:noFill/>
          </a:ln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Chef étoilé</a:t>
            </a:r>
          </a:p>
        </p:txBody>
      </p:sp>
      <p:sp>
        <p:nvSpPr>
          <p:cNvPr id="57" name="Prix A3"/>
          <p:cNvSpPr txBox="1"/>
          <p:nvPr/>
        </p:nvSpPr>
        <p:spPr>
          <a:xfrm>
            <a:off x="4114800" y="3977639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dirty="0">
                <a:solidFill>
                  <a:srgbClr val="C896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690 €</a:t>
            </a:r>
            <a:r>
              <a:rPr lang="fr-FR" sz="1000" b="1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TTC</a:t>
            </a:r>
          </a:p>
        </p:txBody>
      </p:sp>
      <p:sp>
        <p:nvSpPr>
          <p:cNvPr id="58" name="Unité A3"/>
          <p:cNvSpPr txBox="1"/>
          <p:nvPr/>
        </p:nvSpPr>
        <p:spPr>
          <a:xfrm>
            <a:off x="4114800" y="4754879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800" b="1" spc="60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PARTICULIERS (B2C)</a:t>
            </a:r>
          </a:p>
        </p:txBody>
      </p:sp>
      <p:sp>
        <p:nvSpPr>
          <p:cNvPr id="59" name="Unité2 A3"/>
          <p:cNvSpPr txBox="1"/>
          <p:nvPr/>
        </p:nvSpPr>
        <p:spPr>
          <a:xfrm>
            <a:off x="4114800" y="493776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800" b="1" spc="60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 PLACE</a:t>
            </a:r>
          </a:p>
        </p:txBody>
      </p:sp>
      <p:sp>
        <p:nvSpPr>
          <p:cNvPr id="60" name="Soirée A3"/>
          <p:cNvSpPr txBox="1"/>
          <p:nvPr/>
        </p:nvSpPr>
        <p:spPr>
          <a:xfrm>
            <a:off x="4114800" y="5303520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5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Grande Nuit</a:t>
            </a:r>
          </a:p>
        </p:txBody>
      </p:sp>
      <p:sp>
        <p:nvSpPr>
          <p:cNvPr id="61" name="Détail A3"/>
          <p:cNvSpPr txBox="1"/>
          <p:nvPr/>
        </p:nvSpPr>
        <p:spPr>
          <a:xfrm>
            <a:off x="4114800" y="56235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900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couverts · 8 à 9 services</a:t>
            </a:r>
          </a:p>
        </p:txBody>
      </p:sp>
      <p:sp>
        <p:nvSpPr>
          <p:cNvPr id="62" name="Bloc offre B"/>
          <p:cNvSpPr/>
          <p:nvPr/>
        </p:nvSpPr>
        <p:spPr>
          <a:xfrm>
            <a:off x="6199632" y="2331720"/>
            <a:ext cx="5349240" cy="3840480"/>
          </a:xfrm>
          <a:prstGeom prst="roundRect">
            <a:avLst>
              <a:gd name="adj" fmla="val 4000"/>
            </a:avLst>
          </a:prstGeom>
          <a:solidFill>
            <a:srgbClr val="C2432B"/>
          </a:solidFill>
          <a:ln>
            <a:noFill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63" name="Titre offre B"/>
          <p:cNvSpPr txBox="1"/>
          <p:nvPr/>
        </p:nvSpPr>
        <p:spPr>
          <a:xfrm>
            <a:off x="6473952" y="2587752"/>
            <a:ext cx="4800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00" b="1" spc="25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OFFRE B · PRIVATISATION DE SALLE</a:t>
            </a:r>
          </a:p>
        </p:txBody>
      </p:sp>
      <p:sp>
        <p:nvSpPr>
          <p:cNvPr id="64" name="Accroche offre B"/>
          <p:cNvSpPr txBox="1"/>
          <p:nvPr/>
        </p:nvSpPr>
        <p:spPr>
          <a:xfrm>
            <a:off x="6473952" y="288036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7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salle entière, chef au choix</a:t>
            </a:r>
          </a:p>
        </p:txBody>
      </p:sp>
      <p:sp>
        <p:nvSpPr>
          <p:cNvPr id="65" name="Pastille B1"/>
          <p:cNvSpPr/>
          <p:nvPr/>
        </p:nvSpPr>
        <p:spPr>
          <a:xfrm>
            <a:off x="6473952" y="3520439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4EEE3"/>
          </a:solidFill>
          <a:ln>
            <a:noFill/>
          </a:ln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Chef montant</a:t>
            </a:r>
          </a:p>
        </p:txBody>
      </p:sp>
      <p:sp>
        <p:nvSpPr>
          <p:cNvPr id="66" name="Prix B1"/>
          <p:cNvSpPr txBox="1"/>
          <p:nvPr/>
        </p:nvSpPr>
        <p:spPr>
          <a:xfrm>
            <a:off x="6473952" y="3977639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250 €</a:t>
            </a:r>
            <a:r>
              <a:rPr lang="fr-FR" sz="1000" b="1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HT</a:t>
            </a:r>
          </a:p>
        </p:txBody>
      </p:sp>
      <p:sp>
        <p:nvSpPr>
          <p:cNvPr id="67" name="Unité B1"/>
          <p:cNvSpPr txBox="1"/>
          <p:nvPr/>
        </p:nvSpPr>
        <p:spPr>
          <a:xfrm>
            <a:off x="6473952" y="4754879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800" b="1" spc="60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ENTREPRISES (B2B)</a:t>
            </a:r>
          </a:p>
        </p:txBody>
      </p:sp>
      <p:sp>
        <p:nvSpPr>
          <p:cNvPr id="68" name="Unité2 B1"/>
          <p:cNvSpPr txBox="1"/>
          <p:nvPr/>
        </p:nvSpPr>
        <p:spPr>
          <a:xfrm>
            <a:off x="6473952" y="493776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800" b="1" spc="60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 CONVIVE</a:t>
            </a:r>
          </a:p>
        </p:txBody>
      </p:sp>
      <p:sp>
        <p:nvSpPr>
          <p:cNvPr id="69" name="Pastille B2"/>
          <p:cNvSpPr/>
          <p:nvPr/>
        </p:nvSpPr>
        <p:spPr>
          <a:xfrm>
            <a:off x="8074152" y="3520439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4EEE3"/>
          </a:solidFill>
          <a:ln>
            <a:noFill/>
          </a:ln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Chef confirmé</a:t>
            </a:r>
          </a:p>
        </p:txBody>
      </p:sp>
      <p:sp>
        <p:nvSpPr>
          <p:cNvPr id="70" name="Prix B2"/>
          <p:cNvSpPr txBox="1"/>
          <p:nvPr/>
        </p:nvSpPr>
        <p:spPr>
          <a:xfrm>
            <a:off x="8074152" y="3977639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350 €</a:t>
            </a:r>
            <a:r>
              <a:rPr lang="fr-FR" sz="1000" b="1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HT</a:t>
            </a:r>
          </a:p>
        </p:txBody>
      </p:sp>
      <p:sp>
        <p:nvSpPr>
          <p:cNvPr id="71" name="Unité B2"/>
          <p:cNvSpPr txBox="1"/>
          <p:nvPr/>
        </p:nvSpPr>
        <p:spPr>
          <a:xfrm>
            <a:off x="8074152" y="4754879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800" b="1" spc="60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ENTREPRISES (B2B)</a:t>
            </a:r>
          </a:p>
        </p:txBody>
      </p:sp>
      <p:sp>
        <p:nvSpPr>
          <p:cNvPr id="72" name="Unité2 B2"/>
          <p:cNvSpPr txBox="1"/>
          <p:nvPr/>
        </p:nvSpPr>
        <p:spPr>
          <a:xfrm>
            <a:off x="8074152" y="493776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800" b="1" spc="60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 CONVIVE</a:t>
            </a:r>
          </a:p>
        </p:txBody>
      </p:sp>
      <p:sp>
        <p:nvSpPr>
          <p:cNvPr id="73" name="Pastille B3"/>
          <p:cNvSpPr/>
          <p:nvPr/>
        </p:nvSpPr>
        <p:spPr>
          <a:xfrm>
            <a:off x="9674352" y="3520439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4EEE3"/>
          </a:solidFill>
          <a:ln>
            <a:noFill/>
          </a:ln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Chef étoilé</a:t>
            </a:r>
          </a:p>
        </p:txBody>
      </p:sp>
      <p:sp>
        <p:nvSpPr>
          <p:cNvPr id="74" name="Prix B3"/>
          <p:cNvSpPr txBox="1"/>
          <p:nvPr/>
        </p:nvSpPr>
        <p:spPr>
          <a:xfrm>
            <a:off x="9674352" y="3977639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600 €</a:t>
            </a:r>
            <a:r>
              <a:rPr lang="fr-FR" sz="1000" b="1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HT</a:t>
            </a:r>
          </a:p>
        </p:txBody>
      </p:sp>
      <p:sp>
        <p:nvSpPr>
          <p:cNvPr id="75" name="Unité B3"/>
          <p:cNvSpPr txBox="1"/>
          <p:nvPr/>
        </p:nvSpPr>
        <p:spPr>
          <a:xfrm>
            <a:off x="9674352" y="4754879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800" b="1" spc="60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ENTREPRISES (B2B)</a:t>
            </a:r>
          </a:p>
        </p:txBody>
      </p:sp>
      <p:sp>
        <p:nvSpPr>
          <p:cNvPr id="76" name="Unité2 B3"/>
          <p:cNvSpPr txBox="1"/>
          <p:nvPr/>
        </p:nvSpPr>
        <p:spPr>
          <a:xfrm>
            <a:off x="9674352" y="493776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800" b="1" spc="60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 CONVIVE</a:t>
            </a:r>
          </a:p>
        </p:txBody>
      </p:sp>
      <p:sp>
        <p:nvSpPr>
          <p:cNvPr id="77" name="Séparateur B"/>
          <p:cNvSpPr/>
          <p:nvPr/>
        </p:nvSpPr>
        <p:spPr>
          <a:xfrm>
            <a:off x="6473952" y="5257800"/>
            <a:ext cx="4800600" cy="9144"/>
          </a:xfrm>
          <a:prstGeom prst="rect">
            <a:avLst/>
          </a:prstGeom>
          <a:solidFill>
            <a:srgbClr val="F0C9BF"/>
          </a:solidFill>
          <a:ln>
            <a:noFill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8" name="Légende groupes B"/>
          <p:cNvSpPr txBox="1"/>
          <p:nvPr/>
        </p:nvSpPr>
        <p:spPr>
          <a:xfrm>
            <a:off x="6473952" y="5349240"/>
            <a:ext cx="4800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800" b="1" spc="60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GROUPES (B2C)</a:t>
            </a:r>
          </a:p>
        </p:txBody>
      </p:sp>
      <p:sp>
        <p:nvSpPr>
          <p:cNvPr id="79" name="Groupes B"/>
          <p:cNvSpPr txBox="1"/>
          <p:nvPr/>
        </p:nvSpPr>
        <p:spPr>
          <a:xfrm>
            <a:off x="6473952" y="5550408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15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Chef confirmé : </a:t>
            </a:r>
            <a:r>
              <a:rPr lang="fr-FR" sz="1150" b="1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forfait de salle dès 6 000 € HT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ayfai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</Words>
  <Application>Microsoft Macintosh PowerPoint</Application>
  <PresentationFormat>Grand écran</PresentationFormat>
  <Paragraphs>149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Montserrat</vt:lpstr>
      <vt:lpstr>Playfair Display</vt:lpstr>
      <vt:lpstr>Office Theme</vt:lpstr>
      <vt:lpstr>Des chefs rares, des lieux choisis</vt:lpstr>
      <vt:lpstr>PopTables</vt:lpstr>
      <vt:lpstr>Une palette d’atelier, deux typographies, un motif de nappe</vt:lpstr>
      <vt:lpstr>Sommaire</vt:lpstr>
      <vt:lpstr>La promesse</vt:lpstr>
      <vt:lpstr>Nous ouvrons les restaurants les jours où ils sont fermés</vt:lpstr>
      <vt:lpstr>Deux offres partagent un même socle de production</vt:lpstr>
      <vt:lpstr>L’accès au talent fait la promesse</vt:lpstr>
      <vt:lpstr>Une table pensée comme une mise en scène</vt:lpstr>
      <vt:lpstr>Les lieux ont une âme, même fermés</vt:lpstr>
      <vt:lpstr>Trois ingrédients composent chaque rencontre</vt:lpstr>
      <vt:lpstr>Une expérience premium à un prix lisible</vt:lpstr>
      <vt:lpstr>Présentation PowerPoint</vt:lpstr>
      <vt:lpstr>Le remplissage des jours de fermeture crée la valeur</vt:lpstr>
      <vt:lpstr>Une équipe complémentaire pour concevoir et produire</vt:lpstr>
      <vt:lpstr>Une page ouverte pour un schéma ou une frise</vt:lpstr>
      <vt:lpstr>Merci</vt:lpstr>
    </vt:vector>
  </TitlesOfParts>
  <Company>PopTables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PopTables — Masque de présentation</dc:title>
  <dc:subject>PptxGenJS Presentation</dc:subject>
  <dc:creator>PopTables</dc:creator>
  <cp:lastModifiedBy>Frederique LAY</cp:lastModifiedBy>
  <cp:revision>1</cp:revision>
  <dcterms:created xsi:type="dcterms:W3CDTF">2026-10-29T09:17:27Z</dcterms:created>
  <dcterms:modified xsi:type="dcterms:W3CDTF">2026-10-29T10:21:31Z</dcterms:modified>
</cp:coreProperties>
</file>