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6670"/>
                </a:solidFill>
                <a:latin typeface="Montserrat"/>
              </a:defRPr>
            </a:pPr>
            <a:r>
              <a:rPr sz="1100" b="0" i="0" u="none" strike="noStrike">
                <a:solidFill>
                  <a:srgbClr val="6B6670"/>
                </a:solidFill>
                <a:latin typeface="Montserrat"/>
              </a:rPr>
              <a:t>Nombre de soirées par trimestre (valeurs fictives)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Soirées</c:v>
                </c:pt>
              </c:strCache>
            </c:strRef>
          </c:tx>
          <c:spPr>
            <a:solidFill>
              <a:srgbClr val="C243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1B2E"/>
                    </a:solidFill>
                    <a:latin typeface="Montserra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11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EE-8A4C-91FD-4060C0545C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C8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70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3C8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70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48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Prix = propositions du Produit, classées P dans le modèle Finance du 28/10/2026, à valider. Offre A (B2C) : Premier soir 290 € (40 couverts), Le Voyage 420 € (35), La Grande Nuit 690 € (30), TTC par place. Offre B : entreprises 250/350/600 € HT par convive selon le chef ; groupes (B2C) forfait de salle dès 6 000 € HT, chef confirmé. À confirmer : le « dès », ce que recouvre le forfait et son total pour un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>
            <a:spLocks noGrp="1"/>
          </p:cNvSpPr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>
            <a:spLocks noGrp="1"/>
          </p:cNvSpPr>
          <p:nvPr>
            <p:ph type="body" idx="108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>
            <a:spLocks noGrp="1"/>
          </p:cNvSpPr>
          <p:nvPr>
            <p:ph type="body" idx="109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>
            <a:spLocks noGrp="1"/>
          </p:cNvSpPr>
          <p:nvPr>
            <p:ph type="title" idx="117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>
            <a:spLocks noGrp="1"/>
          </p:cNvSpPr>
          <p:nvPr>
            <p:ph type="body" idx="118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>
            <a:spLocks noGrp="1"/>
          </p:cNvSpPr>
          <p:nvPr>
            <p:ph type="body" idx="119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>
            <a:spLocks noGrp="1"/>
          </p:cNvSpPr>
          <p:nvPr>
            <p:ph type="body" idx="109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>
            <a:spLocks noGrp="1"/>
          </p:cNvSpPr>
          <p:nvPr>
            <p:ph type="body" idx="126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>
            <a:spLocks noGrp="1"/>
          </p:cNvSpPr>
          <p:nvPr>
            <p:ph type="title" idx="128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>
            <a:spLocks noGrp="1"/>
          </p:cNvSpPr>
          <p:nvPr>
            <p:ph type="body" idx="129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>
            <a:spLocks noGrp="1"/>
          </p:cNvSpPr>
          <p:nvPr>
            <p:ph type="body" idx="110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>
            <a:spLocks noGrp="1"/>
          </p:cNvSpPr>
          <p:nvPr>
            <p:ph type="body" idx="110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>
            <a:spLocks noGrp="1"/>
          </p:cNvSpPr>
          <p:nvPr>
            <p:ph type="body" idx="111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>
            <a:spLocks noGrp="1"/>
          </p:cNvSpPr>
          <p:nvPr>
            <p:ph type="body" idx="112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>
            <a:spLocks noGrp="1"/>
          </p:cNvSpPr>
          <p:nvPr>
            <p:ph type="body" idx="113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>
            <a:spLocks noGrp="1"/>
          </p:cNvSpPr>
          <p:nvPr>
            <p:ph type="body" idx="103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>
            <a:spLocks noGrp="1"/>
          </p:cNvSpPr>
          <p:nvPr>
            <p:ph type="title" idx="104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>
            <a:spLocks noGrp="1"/>
          </p:cNvSpPr>
          <p:nvPr>
            <p:ph type="body" idx="106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urtitre"/>
          <p:cNvSpPr>
            <a:spLocks noGrp="1"/>
          </p:cNvSpPr>
          <p:nvPr>
            <p:ph type="body" idx="105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>
            <a:spLocks noGrp="1"/>
          </p:cNvSpPr>
          <p:nvPr>
            <p:ph type="title" idx="106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>
            <a:spLocks noGrp="1"/>
          </p:cNvSpPr>
          <p:nvPr>
            <p:ph type="title" idx="103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>
            <a:spLocks noGrp="1"/>
          </p:cNvSpPr>
          <p:nvPr>
            <p:ph type="body" idx="104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>
            <a:spLocks noGrp="1"/>
          </p:cNvSpPr>
          <p:nvPr>
            <p:ph type="body" idx="111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>
            <a:spLocks noGrp="1"/>
          </p:cNvSpPr>
          <p:nvPr>
            <p:ph type="body" idx="112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>
            <a:spLocks noGrp="1"/>
          </p:cNvSpPr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>
            <a:spLocks noGrp="1"/>
          </p:cNvSpPr>
          <p:nvPr>
            <p:ph type="body" idx="116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>
            <a:spLocks noGrp="1"/>
          </p:cNvSpPr>
          <p:nvPr>
            <p:ph type="body" idx="117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>
            <a:spLocks noGrp="1"/>
          </p:cNvSpPr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>
            <a:spLocks noGrp="1"/>
          </p:cNvSpPr>
          <p:nvPr>
            <p:ph type="body" idx="121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>
            <a:spLocks noGrp="1"/>
          </p:cNvSpPr>
          <p:nvPr>
            <p:ph type="body" idx="122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>
            <a:spLocks noGrp="1"/>
          </p:cNvSpPr>
          <p:nvPr>
            <p:ph type="body" idx="110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>
            <a:spLocks noGrp="1"/>
          </p:cNvSpPr>
          <p:nvPr>
            <p:ph type="body" idx="111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>
            <a:spLocks noGrp="1"/>
          </p:cNvSpPr>
          <p:nvPr>
            <p:ph type="body" idx="112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>
            <a:spLocks noGrp="1"/>
          </p:cNvSpPr>
          <p:nvPr>
            <p:ph type="body" idx="115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>
            <a:spLocks noGrp="1"/>
          </p:cNvSpPr>
          <p:nvPr>
            <p:ph type="body" idx="116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>
            <a:spLocks noGrp="1"/>
          </p:cNvSpPr>
          <p:nvPr>
            <p:ph type="body" idx="117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>
            <a:spLocks noGrp="1"/>
          </p:cNvSpPr>
          <p:nvPr>
            <p:ph type="body" idx="120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>
            <a:spLocks noGrp="1"/>
          </p:cNvSpPr>
          <p:nvPr>
            <p:ph type="body" idx="121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>
            <a:spLocks noGrp="1"/>
          </p:cNvSpPr>
          <p:nvPr>
            <p:ph type="body" idx="122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>
            <a:spLocks noGrp="1"/>
          </p:cNvSpPr>
          <p:nvPr>
            <p:ph type="body" idx="107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>
            <a:spLocks noGrp="1"/>
          </p:cNvSpPr>
          <p:nvPr>
            <p:ph type="body" idx="109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>
            <a:spLocks noGrp="1"/>
          </p:cNvSpPr>
          <p:nvPr>
            <p:ph type="body" idx="108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>
            <a:spLocks noGrp="1"/>
          </p:cNvSpPr>
          <p:nvPr>
            <p:ph type="body" idx="111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>
            <a:spLocks noGrp="1"/>
          </p:cNvSpPr>
          <p:nvPr>
            <p:ph type="body" idx="112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>
            <a:spLocks noGrp="1"/>
          </p:cNvSpPr>
          <p:nvPr>
            <p:ph type="body" idx="111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>
            <a:spLocks noGrp="1"/>
          </p:cNvSpPr>
          <p:nvPr>
            <p:ph type="body" idx="112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>
            <a:spLocks noGrp="1"/>
          </p:cNvSpPr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>
            <a:spLocks noGrp="1"/>
          </p:cNvSpPr>
          <p:nvPr>
            <p:ph type="body" idx="116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>
            <a:spLocks noGrp="1"/>
          </p:cNvSpPr>
          <p:nvPr>
            <p:ph type="body" idx="117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>
            <a:spLocks noGrp="1"/>
          </p:cNvSpPr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>
            <a:spLocks noGrp="1"/>
          </p:cNvSpPr>
          <p:nvPr>
            <p:ph type="body" idx="121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>
            <a:spLocks noGrp="1"/>
          </p:cNvSpPr>
          <p:nvPr>
            <p:ph type="body" idx="122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>
            <a:spLocks noGrp="1"/>
          </p:cNvSpPr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>
            <a:spLocks noGrp="1"/>
          </p:cNvSpPr>
          <p:nvPr>
            <p:ph type="body" idx="126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>
            <a:spLocks noGrp="1"/>
          </p:cNvSpPr>
          <p:nvPr>
            <p:ph type="body" idx="127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itre"/>
          <p:cNvSpPr>
            <a:spLocks noGrp="1"/>
          </p:cNvSpPr>
          <p:nvPr>
            <p:ph type="title" idx="123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>
            <a:spLocks noGrp="1"/>
          </p:cNvSpPr>
          <p:nvPr>
            <p:ph type="body" idx="125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ChangeAspect="1"/>
          </p:cNvPicPr>
          <p:nvPr>
            <p:ph idx="101" hasCustomPrompt="1"/>
          </p:nvPr>
        </p:nvPicPr>
        <p:blipFill>
          <a:blip r:embed="rId3"/>
          <a:stretch>
            <a:fillRect/>
          </a:stretch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 chefs rares, des lieux choisis</a:t>
            </a:r>
            <a:endParaRPr lang="en-US" sz="4000" dirty="0"/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investisseurs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Masque de travail</a:t>
            </a:r>
            <a:endParaRPr lang="en-US" sz="1400" dirty="0"/>
          </a:p>
        </p:txBody>
      </p:sp>
      <p:sp>
        <p:nvSpPr>
          <p:cNvPr id="5" name="Text 6"/>
          <p:cNvSpPr>
            <a:spLocks noGrp="1"/>
          </p:cNvSpPr>
          <p:nvPr>
            <p:ph type="body" idx="109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PARIS · NOVEMBRE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>
            <a:spLocks noGrp="1"/>
          </p:cNvSpPr>
          <p:nvPr>
            <p:ph type="title" idx="117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Pop</a:t>
            </a: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Tables</a:t>
            </a:r>
            <a:endParaRPr lang="en-US" sz="4800" dirty="0"/>
          </a:p>
        </p:txBody>
      </p:sp>
      <p:sp>
        <p:nvSpPr>
          <p:cNvPr id="3" name="Text 17"/>
          <p:cNvSpPr>
            <a:spLocks noGrp="1"/>
          </p:cNvSpPr>
          <p:nvPr>
            <p:ph type="body" idx="118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table éphémère des talents culinaires rares</a:t>
            </a:r>
            <a:endParaRPr lang="en-US" sz="1500" dirty="0"/>
          </a:p>
        </p:txBody>
      </p:sp>
      <p:sp>
        <p:nvSpPr>
          <p:cNvPr id="4" name="Text 17"/>
          <p:cNvSpPr>
            <a:spLocks noGrp="1"/>
          </p:cNvSpPr>
          <p:nvPr>
            <p:ph type="body" idx="119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PARIS · NOVEMBRE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CHARTE EN UN COUP D’ŒIL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palette d’atelier, deux typographies, un motif de nappe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99427" cy="1463040"/>
          </a:xfrm>
          <a:prstGeom prst="rect">
            <a:avLst/>
          </a:prstGeom>
          <a:solidFill>
            <a:srgbClr val="1E1B2E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#1E1B2E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Encre de nuit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Ouvertures et sections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8107" y="2286000"/>
            <a:ext cx="1999427" cy="1463040"/>
          </a:xfrm>
          <a:prstGeom prst="rect">
            <a:avLst/>
          </a:prstGeom>
          <a:solidFill>
            <a:srgbClr val="F4EEE3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5267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#F4EEE3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8107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Ivoire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68107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 des pages de contenu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96134" y="2286000"/>
            <a:ext cx="1999427" cy="1463040"/>
          </a:xfrm>
          <a:prstGeom prst="rect">
            <a:avLst/>
          </a:prstGeom>
          <a:solidFill>
            <a:srgbClr val="C2432B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3294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#C2432B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6134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Vermillon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96134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Accent principal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4161" y="2286000"/>
            <a:ext cx="1999427" cy="1463040"/>
          </a:xfrm>
          <a:prstGeom prst="rect">
            <a:avLst/>
          </a:prstGeom>
          <a:solidFill>
            <a:srgbClr val="C8963A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321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#C8963A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24161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Ocre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24161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Accent secondaire, filets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52188" y="2286000"/>
            <a:ext cx="1999427" cy="1463040"/>
          </a:xfrm>
          <a:prstGeom prst="rect">
            <a:avLst/>
          </a:prstGeom>
          <a:solidFill>
            <a:srgbClr val="8FA593"/>
          </a:solidFill>
          <a:ln w="9525">
            <a:solidFill>
              <a:srgbClr val="D3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9348" y="3337560"/>
            <a:ext cx="1725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#8FA593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52188" y="388620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Céladon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52188" y="4251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Touche discrète, motifs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Playfair Display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Titres, citations, chiffres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Textes, surtitres, légendes</a:t>
            </a:r>
            <a:endParaRPr lang="en-US" sz="2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7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3" name="Text 8"/>
          <p:cNvSpPr>
            <a:spLocks noGrp="1"/>
          </p:cNvSpPr>
          <p:nvPr>
            <p:ph type="body" idx="109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   La promesse</a:t>
            </a:r>
            <a:endParaRPr lang="en-US" sz="2000" dirty="0"/>
          </a:p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   Le marché et les clients</a:t>
            </a:r>
            <a:endParaRPr lang="en-US" sz="2000" dirty="0"/>
          </a:p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   Les offres et le prix</a:t>
            </a:r>
            <a:endParaRPr lang="en-US" sz="2000" dirty="0"/>
          </a:p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   Le modèle économique</a:t>
            </a:r>
            <a:endParaRPr lang="en-US" sz="2000" dirty="0"/>
          </a:p>
          <a:p>
            <a:pPr marL="0" indent="0" algn="l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   Le plan de déploiement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6"/>
          <p:cNvSpPr>
            <a:spLocks noGrp="1"/>
          </p:cNvSpPr>
          <p:nvPr>
            <p:ph type="body" idx="126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27"/>
          <p:cNvSpPr>
            <a:spLocks noGrp="1"/>
          </p:cNvSpPr>
          <p:nvPr>
            <p:ph type="title" idx="128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promesse</a:t>
            </a:r>
            <a:endParaRPr lang="en-US" sz="4000" dirty="0"/>
          </a:p>
        </p:txBody>
      </p:sp>
      <p:sp>
        <p:nvSpPr>
          <p:cNvPr id="4" name="Text 27"/>
          <p:cNvSpPr>
            <a:spLocks noGrp="1"/>
          </p:cNvSpPr>
          <p:nvPr>
            <p:ph type="body" idx="129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créons et pourquoi nos clients l’achètent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CONCEPT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Nous ouvrons les restaurants les jours où ils sont fermés</a:t>
            </a:r>
            <a:endParaRPr lang="en-US" sz="3000" dirty="0"/>
          </a:p>
        </p:txBody>
      </p:sp>
      <p:sp>
        <p:nvSpPr>
          <p:cNvPr id="4" name="Text 6"/>
          <p:cNvSpPr>
            <a:spLocks noGrp="1"/>
          </p:cNvSpPr>
          <p:nvPr>
            <p:ph type="body" idx="108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lieu disponible sur ses jours ou moments de fermeture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chef habituellement inaccessible : chef étranger, second d’une grande maison, talent médiatique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rencontre conçue et produite par PopTables, de la réservation au service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publics : les communautés de gastronomes et les entreprises</a:t>
            </a:r>
            <a:endParaRPr lang="en-US" sz="1500" dirty="0"/>
          </a:p>
        </p:txBody>
      </p:sp>
      <p:sp>
        <p:nvSpPr>
          <p:cNvPr id="5" name="Text 7"/>
          <p:cNvSpPr>
            <a:spLocks noGrp="1"/>
          </p:cNvSpPr>
          <p:nvPr>
            <p:ph type="body" idx="110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soirée, un lieu, un talent rare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PORTES D’ENTRÉE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Deux offres partagent un même socle de production</a:t>
            </a:r>
            <a:endParaRPr lang="en-US" sz="3000" dirty="0"/>
          </a:p>
        </p:txBody>
      </p:sp>
      <p:sp>
        <p:nvSpPr>
          <p:cNvPr id="4" name="Text 8"/>
          <p:cNvSpPr>
            <a:spLocks noGrp="1"/>
          </p:cNvSpPr>
          <p:nvPr>
            <p:ph type="body" idx="110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Dîners à la place</a:t>
            </a:r>
            <a:endParaRPr lang="en-US" sz="2000" dirty="0"/>
          </a:p>
        </p:txBody>
      </p:sp>
      <p:sp>
        <p:nvSpPr>
          <p:cNvPr id="5" name="Text 8"/>
          <p:cNvSpPr>
            <a:spLocks noGrp="1"/>
          </p:cNvSpPr>
          <p:nvPr>
            <p:ph type="body" idx="111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Événements privatifs</a:t>
            </a:r>
            <a:endParaRPr lang="en-US" sz="2000" dirty="0"/>
          </a:p>
        </p:txBody>
      </p:sp>
      <p:sp>
        <p:nvSpPr>
          <p:cNvPr id="6" name="Text 8"/>
          <p:cNvSpPr>
            <a:spLocks noGrp="1"/>
          </p:cNvSpPr>
          <p:nvPr>
            <p:ph type="body" idx="112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expérience conçue pour les gastronomes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par personne, contenu mets et vins inclus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Programmation éditorialisée et communauté</a:t>
            </a:r>
            <a:endParaRPr lang="en-US" sz="1500" dirty="0"/>
          </a:p>
        </p:txBody>
      </p:sp>
      <p:sp>
        <p:nvSpPr>
          <p:cNvPr id="7" name="Text 8"/>
          <p:cNvSpPr>
            <a:spLocks noGrp="1"/>
          </p:cNvSpPr>
          <p:nvPr>
            <p:ph type="body" idx="113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événement conçu à partir du brief client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global, options détaillées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Interlocuteur unique, de la conception au jour 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ChangeAspect="1"/>
          </p:cNvPicPr>
          <p:nvPr>
            <p:ph idx="101" hasCustomPrompt="1"/>
          </p:nvPr>
        </p:nvPicPr>
        <p:blipFill>
          <a:blip r:embed="rId3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TALENTS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L’accès au talent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fait la promesse</a:t>
            </a:r>
            <a:endParaRPr lang="en-US" sz="3000" dirty="0"/>
          </a:p>
        </p:txBody>
      </p:sp>
      <p:sp>
        <p:nvSpPr>
          <p:cNvPr id="5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chefs que le public ne peut pas réserver ailleurs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menu conçu pour l’occasion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sélection exigeante, renouvelée à chaque 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ChangeAspect="1"/>
          </p:cNvPicPr>
          <p:nvPr>
            <p:ph idx="101" hasCustomPrompt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 4"/>
          <p:cNvSpPr>
            <a:spLocks noGrp="1"/>
          </p:cNvSpPr>
          <p:nvPr>
            <p:ph type="body" idx="105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L’EXPÉRIENCE</a:t>
            </a:r>
            <a:endParaRPr lang="en-US" sz="1000" dirty="0"/>
          </a:p>
        </p:txBody>
      </p:sp>
      <p:sp>
        <p:nvSpPr>
          <p:cNvPr id="4" name="Text 4"/>
          <p:cNvSpPr>
            <a:spLocks noGrp="1"/>
          </p:cNvSpPr>
          <p:nvPr>
            <p:ph type="title" idx="106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table pensée comme une mise en scène</a:t>
            </a:r>
            <a:endParaRPr lang="en-US" sz="3000" dirty="0"/>
          </a:p>
        </p:txBody>
      </p:sp>
      <p:sp>
        <p:nvSpPr>
          <p:cNvPr id="5" name="Text 5"/>
          <p:cNvSpPr>
            <a:spLocks noGrp="1"/>
          </p:cNvSpPr>
          <p:nvPr>
            <p:ph type="body" idx="108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lieu, un chef et un public, le temps d’un soir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scénographie propre à chaque rencontre</a:t>
            </a:r>
            <a:endParaRPr lang="en-US" sz="15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—"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accueil et un service à la hauteur de la promesse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ChangeAspect="1"/>
          </p:cNvPicPr>
          <p:nvPr>
            <p:ph idx="101" hasCustomPrompt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4892040"/>
          </a:xfrm>
          <a:prstGeom prst="rect">
            <a:avLst/>
          </a:prstGeom>
        </p:spPr>
      </p:pic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 lieux ont une âme, même fermés</a:t>
            </a:r>
            <a:endParaRPr lang="en-US" sz="26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Visuel d’illustration : brasserie parisienne, généré par IA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SAVOIR-FAIRE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Trois ingrédients composent chaque rencontre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Grp="1" noChangeAspect="1"/>
          </p:cNvPicPr>
          <p:nvPr>
            <p:ph idx="109" hasCustomPrompt="1"/>
          </p:nvPr>
        </p:nvPicPr>
        <p:blipFill>
          <a:blip r:embed="rId3"/>
          <a:stretch>
            <a:fillRect/>
          </a:stretch>
        </p:blipFill>
        <p:spPr>
          <a:xfrm>
            <a:off x="640080" y="2240280"/>
            <a:ext cx="3423818" cy="2240280"/>
          </a:xfrm>
          <a:prstGeom prst="rect">
            <a:avLst/>
          </a:prstGeom>
        </p:spPr>
      </p:pic>
      <p:sp>
        <p:nvSpPr>
          <p:cNvPr id="5" name="Text 8"/>
          <p:cNvSpPr>
            <a:spLocks noGrp="1"/>
          </p:cNvSpPr>
          <p:nvPr>
            <p:ph type="body" idx="111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lieu</a:t>
            </a:r>
            <a:endParaRPr lang="en-US" sz="1800" dirty="0"/>
          </a:p>
        </p:txBody>
      </p:sp>
      <p:sp>
        <p:nvSpPr>
          <p:cNvPr id="6" name="Text 8"/>
          <p:cNvSpPr>
            <a:spLocks noGrp="1"/>
          </p:cNvSpPr>
          <p:nvPr>
            <p:ph type="body" idx="112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restaurant ou un lieu équipé, sur ses jours de fermeture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Grp="1" noChangeAspect="1"/>
          </p:cNvPicPr>
          <p:nvPr>
            <p:ph idx="114" hasCustomPrompt="1"/>
          </p:nvPr>
        </p:nvPicPr>
        <p:blipFill>
          <a:blip r:embed="rId4"/>
          <a:stretch>
            <a:fillRect/>
          </a:stretch>
        </p:blipFill>
        <p:spPr>
          <a:xfrm>
            <a:off x="4383938" y="2240280"/>
            <a:ext cx="3423818" cy="2240280"/>
          </a:xfrm>
          <a:prstGeom prst="rect">
            <a:avLst/>
          </a:prstGeom>
        </p:spPr>
      </p:pic>
      <p:sp>
        <p:nvSpPr>
          <p:cNvPr id="8" name="Text 10"/>
          <p:cNvSpPr>
            <a:spLocks noGrp="1"/>
          </p:cNvSpPr>
          <p:nvPr>
            <p:ph type="body" idx="116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chef</a:t>
            </a:r>
            <a:endParaRPr lang="en-US" sz="1800" dirty="0"/>
          </a:p>
        </p:txBody>
      </p:sp>
      <p:sp>
        <p:nvSpPr>
          <p:cNvPr id="9" name="Text 10"/>
          <p:cNvSpPr>
            <a:spLocks noGrp="1"/>
          </p:cNvSpPr>
          <p:nvPr>
            <p:ph type="body" idx="117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talent rare et singulier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Grp="1" noChangeAspect="1"/>
          </p:cNvPicPr>
          <p:nvPr>
            <p:ph idx="119" hasCustomPrompt="1"/>
          </p:nvPr>
        </p:nvPicPr>
        <p:blipFill>
          <a:blip r:embed="rId5"/>
          <a:stretch>
            <a:fillRect/>
          </a:stretch>
        </p:blipFill>
        <p:spPr>
          <a:xfrm>
            <a:off x="8127797" y="2240280"/>
            <a:ext cx="3423818" cy="2240280"/>
          </a:xfrm>
          <a:prstGeom prst="rect">
            <a:avLst/>
          </a:prstGeom>
        </p:spPr>
      </p:pic>
      <p:sp>
        <p:nvSpPr>
          <p:cNvPr id="11" name="Text 12"/>
          <p:cNvSpPr>
            <a:spLocks noGrp="1"/>
          </p:cNvSpPr>
          <p:nvPr>
            <p:ph type="body" idx="121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mise en scène</a:t>
            </a:r>
            <a:endParaRPr lang="en-US" sz="1800" dirty="0"/>
          </a:p>
        </p:txBody>
      </p:sp>
      <p:sp>
        <p:nvSpPr>
          <p:cNvPr id="12" name="Text 12"/>
          <p:cNvSpPr>
            <a:spLocks noGrp="1"/>
          </p:cNvSpPr>
          <p:nvPr>
            <p:ph type="body" idx="122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table, un récit et un service conçus sur mesure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L’OFFRE EN CHIFFRES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expérience premium à un prix lisible</a:t>
            </a:r>
            <a:endParaRPr lang="en-US" sz="3000" dirty="0"/>
          </a:p>
        </p:txBody>
      </p:sp>
      <p:sp>
        <p:nvSpPr>
          <p:cNvPr id="4" name="Text 8"/>
          <p:cNvSpPr>
            <a:spLocks noGrp="1"/>
          </p:cNvSpPr>
          <p:nvPr>
            <p:ph type="body" idx="110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290 €</a:t>
            </a:r>
            <a:endParaRPr lang="en-US" sz="6000" dirty="0"/>
          </a:p>
        </p:txBody>
      </p:sp>
      <p:sp>
        <p:nvSpPr>
          <p:cNvPr id="5" name="Text 8"/>
          <p:cNvSpPr>
            <a:spLocks noGrp="1"/>
          </p:cNvSpPr>
          <p:nvPr>
            <p:ph type="body" idx="111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MOYEN</a:t>
            </a:r>
            <a:endParaRPr lang="en-US" sz="1100" dirty="0"/>
          </a:p>
        </p:txBody>
      </p:sp>
      <p:sp>
        <p:nvSpPr>
          <p:cNvPr id="6" name="Text 8"/>
          <p:cNvSpPr>
            <a:spLocks noGrp="1"/>
          </p:cNvSpPr>
          <p:nvPr>
            <p:ph type="body" idx="112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Mets et vins, par personne</a:t>
            </a:r>
            <a:endParaRPr lang="en-US" sz="1300" dirty="0"/>
          </a:p>
        </p:txBody>
      </p:sp>
      <p:sp>
        <p:nvSpPr>
          <p:cNvPr id="7" name="Text 10"/>
          <p:cNvSpPr>
            <a:spLocks noGrp="1"/>
          </p:cNvSpPr>
          <p:nvPr>
            <p:ph type="body" idx="115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[xx]</a:t>
            </a:r>
            <a:endParaRPr lang="en-US" sz="6000" dirty="0"/>
          </a:p>
        </p:txBody>
      </p:sp>
      <p:sp>
        <p:nvSpPr>
          <p:cNvPr id="8" name="Text 10"/>
          <p:cNvSpPr>
            <a:spLocks noGrp="1"/>
          </p:cNvSpPr>
          <p:nvPr>
            <p:ph type="body" idx="116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COUVERTS PAR SOIRÉE</a:t>
            </a:r>
            <a:endParaRPr lang="en-US" sz="1100" dirty="0"/>
          </a:p>
        </p:txBody>
      </p:sp>
      <p:sp>
        <p:nvSpPr>
          <p:cNvPr id="9" name="Text 10"/>
          <p:cNvSpPr>
            <a:spLocks noGrp="1"/>
          </p:cNvSpPr>
          <p:nvPr>
            <p:ph type="body" idx="117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Capacité moyenne, à confirmer</a:t>
            </a:r>
            <a:endParaRPr lang="en-US" sz="1300" dirty="0"/>
          </a:p>
        </p:txBody>
      </p:sp>
      <p:sp>
        <p:nvSpPr>
          <p:cNvPr id="10" name="Text 12"/>
          <p:cNvSpPr>
            <a:spLocks noGrp="1"/>
          </p:cNvSpPr>
          <p:nvPr>
            <p:ph type="body" idx="120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[xx] %</a:t>
            </a:r>
            <a:endParaRPr lang="en-US" sz="6000" dirty="0"/>
          </a:p>
        </p:txBody>
      </p:sp>
      <p:sp>
        <p:nvSpPr>
          <p:cNvPr id="11" name="Text 12"/>
          <p:cNvSpPr>
            <a:spLocks noGrp="1"/>
          </p:cNvSpPr>
          <p:nvPr>
            <p:ph type="body" idx="121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 DE CONTRIBUTION</a:t>
            </a:r>
            <a:endParaRPr lang="en-US" sz="1100" dirty="0"/>
          </a:p>
        </p:txBody>
      </p:sp>
      <p:sp>
        <p:nvSpPr>
          <p:cNvPr id="12" name="Text 12"/>
          <p:cNvSpPr>
            <a:spLocks noGrp="1"/>
          </p:cNvSpPr>
          <p:nvPr>
            <p:ph type="body" idx="122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Hypothèse du modèle financier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body" idx="107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Nous ne louons pas des salles, nous provoquons des rencontres</a:t>
            </a:r>
            <a:endParaRPr lang="en-US" sz="3400" dirty="0"/>
          </a:p>
        </p:txBody>
      </p:sp>
      <p:sp>
        <p:nvSpPr>
          <p:cNvPr id="3" name="Text 8"/>
          <p:cNvSpPr>
            <a:spLocks noGrp="1"/>
          </p:cNvSpPr>
          <p:nvPr>
            <p:ph type="body" idx="109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L’ÉQUIPE POPTABLES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 DE GRAPHIQUE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remplissage des jours de fermeture crée la valeur</a:t>
            </a:r>
            <a:endParaRPr lang="en-US" sz="3000" dirty="0"/>
          </a:p>
        </p:txBody>
      </p:sp>
      <p:graphicFrame>
        <p:nvGraphicFramePr>
          <p:cNvPr id="4" name="Chart 0"/>
          <p:cNvGraphicFramePr>
            <a:graphicFrameLocks noGrp="1"/>
          </p:cNvGraphicFramePr>
          <p:nvPr>
            <p:ph type="body" idx="108" hasCustomPrompt="1"/>
          </p:nvPr>
        </p:nvGraphicFramePr>
        <p:xfrm>
          <a:off x="640080" y="2240280"/>
          <a:ext cx="7863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8"/>
          <p:cNvSpPr>
            <a:spLocks noGrp="1"/>
          </p:cNvSpPr>
          <p:nvPr>
            <p:ph type="body" idx="111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fictives, à remplacer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couleur d’accent par message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titre porte la conclusion</a:t>
            </a:r>
            <a:endParaRPr lang="en-US" sz="1300" dirty="0"/>
          </a:p>
        </p:txBody>
      </p:sp>
      <p:sp>
        <p:nvSpPr>
          <p:cNvPr id="6" name="Text 8"/>
          <p:cNvSpPr>
            <a:spLocks noGrp="1"/>
          </p:cNvSpPr>
          <p:nvPr>
            <p:ph type="body" idx="112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illustration du masque, données non réelles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L’ÉQUIPE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équipe complémentaire pour concevoir et produire</a:t>
            </a:r>
            <a:endParaRPr lang="en-US" sz="3000" dirty="0"/>
          </a:p>
        </p:txBody>
      </p:sp>
      <p:sp>
        <p:nvSpPr>
          <p:cNvPr id="4" name="Text 8"/>
          <p:cNvSpPr>
            <a:spLocks noGrp="1"/>
          </p:cNvSpPr>
          <p:nvPr>
            <p:ph type="body" idx="111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5" name="Text 8"/>
          <p:cNvSpPr>
            <a:spLocks noGrp="1"/>
          </p:cNvSpPr>
          <p:nvPr>
            <p:ph type="body" idx="112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et finance</a:t>
            </a:r>
            <a:endParaRPr lang="en-US" sz="1200" dirty="0"/>
          </a:p>
        </p:txBody>
      </p:sp>
      <p:sp>
        <p:nvSpPr>
          <p:cNvPr id="6" name="Text 10"/>
          <p:cNvSpPr>
            <a:spLocks noGrp="1"/>
          </p:cNvSpPr>
          <p:nvPr>
            <p:ph type="body" idx="116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7" name="Text 10"/>
          <p:cNvSpPr>
            <a:spLocks noGrp="1"/>
          </p:cNvSpPr>
          <p:nvPr>
            <p:ph type="body" idx="117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et communauté</a:t>
            </a:r>
            <a:endParaRPr lang="en-US" sz="1200" dirty="0"/>
          </a:p>
        </p:txBody>
      </p:sp>
      <p:sp>
        <p:nvSpPr>
          <p:cNvPr id="8" name="Text 12"/>
          <p:cNvSpPr>
            <a:spLocks noGrp="1"/>
          </p:cNvSpPr>
          <p:nvPr>
            <p:ph type="body" idx="121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9" name="Text 12"/>
          <p:cNvSpPr>
            <a:spLocks noGrp="1"/>
          </p:cNvSpPr>
          <p:nvPr>
            <p:ph type="body" idx="122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Partenariats chefs et lieux</a:t>
            </a:r>
            <a:endParaRPr lang="en-US" sz="1200" dirty="0"/>
          </a:p>
        </p:txBody>
      </p:sp>
      <p:sp>
        <p:nvSpPr>
          <p:cNvPr id="10" name="Text 14"/>
          <p:cNvSpPr>
            <a:spLocks noGrp="1"/>
          </p:cNvSpPr>
          <p:nvPr>
            <p:ph type="body" idx="126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1" name="Text 14"/>
          <p:cNvSpPr>
            <a:spLocks noGrp="1"/>
          </p:cNvSpPr>
          <p:nvPr>
            <p:ph type="body" idx="127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et opérations</a:t>
            </a:r>
            <a:endParaRPr lang="en-US" sz="1200" dirty="0"/>
          </a:p>
        </p:txBody>
      </p:sp>
      <p:sp>
        <p:nvSpPr>
          <p:cNvPr id="12" name="Text 7"/>
          <p:cNvSpPr>
            <a:spLocks noGrp="1"/>
          </p:cNvSpPr>
          <p:nvPr>
            <p:ph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3" name="Text 9"/>
          <p:cNvSpPr>
            <a:spLocks noGrp="1"/>
          </p:cNvSpPr>
          <p:nvPr>
            <p:ph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4" name="Text 11"/>
          <p:cNvSpPr>
            <a:spLocks noGrp="1"/>
          </p:cNvSpPr>
          <p:nvPr>
            <p:ph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5" name="Text 13"/>
          <p:cNvSpPr>
            <a:spLocks noGrp="1"/>
          </p:cNvSpPr>
          <p:nvPr>
            <p:ph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OFFRES ET LE PRIX</a:t>
            </a:r>
            <a:endParaRPr lang="en-US" sz="1000" dirty="0"/>
          </a:p>
        </p:txBody>
      </p:sp>
      <p:sp>
        <p:nvSpPr>
          <p:cNvPr id="3" name="Text 6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Deux offres, une même promesse :</a:t>
            </a:r>
            <a:b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</a:br>
            <a:r>
              <a:rPr lang="en-US" sz="2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soirée qui ne se rejoue jamais</a:t>
            </a:r>
            <a:endParaRPr lang="en-US" sz="2800" dirty="0"/>
          </a:p>
        </p:txBody>
      </p:sp>
      <p:sp>
        <p:nvSpPr>
          <p:cNvPr id="41" name="Bloc offre A"/>
          <p:cNvSpPr/>
          <p:nvPr/>
        </p:nvSpPr>
        <p:spPr>
          <a:xfrm>
            <a:off x="640080" y="2331720"/>
            <a:ext cx="5349240" cy="3840480"/>
          </a:xfrm>
          <a:prstGeom prst="roundRect">
            <a:avLst>
              <a:gd name="adj" fmla="val 4000"/>
            </a:avLst>
          </a:prstGeom>
          <a:solidFill>
            <a:srgbClr val="1E1B2E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2" name="Titre offre A"/>
          <p:cNvSpPr txBox="1"/>
          <p:nvPr/>
        </p:nvSpPr>
        <p:spPr>
          <a:xfrm>
            <a:off x="914400" y="25877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spc="25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A · PLACES À L’UNITÉ</a:t>
            </a:r>
          </a:p>
        </p:txBody>
      </p:sp>
      <p:sp>
        <p:nvSpPr>
          <p:cNvPr id="43" name="Accroche offre A"/>
          <p:cNvSpPr txBox="1"/>
          <p:nvPr/>
        </p:nvSpPr>
        <p:spPr>
          <a:xfrm>
            <a:off x="914400" y="28803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place à la table</a:t>
            </a:r>
          </a:p>
        </p:txBody>
      </p:sp>
      <p:sp>
        <p:nvSpPr>
          <p:cNvPr id="44" name="Filet"/>
          <p:cNvSpPr/>
          <p:nvPr/>
        </p:nvSpPr>
        <p:spPr>
          <a:xfrm>
            <a:off x="914400" y="3383279"/>
            <a:ext cx="4800600" cy="7315"/>
          </a:xfrm>
          <a:prstGeom prst="rect">
            <a:avLst/>
          </a:prstGeom>
          <a:solidFill>
            <a:srgbClr val="3A3650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45" name="Soirée A1"/>
          <p:cNvSpPr txBox="1"/>
          <p:nvPr/>
        </p:nvSpPr>
        <p:spPr>
          <a:xfrm>
            <a:off x="914400" y="34015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Premier soir</a:t>
            </a:r>
          </a:p>
        </p:txBody>
      </p:sp>
      <p:sp>
        <p:nvSpPr>
          <p:cNvPr id="46" name="Promesse A1"/>
          <p:cNvSpPr txBox="1"/>
          <p:nvPr/>
        </p:nvSpPr>
        <p:spPr>
          <a:xfrm>
            <a:off x="914400" y="3749039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J’étais là avant. »</a:t>
            </a:r>
          </a:p>
        </p:txBody>
      </p:sp>
      <p:sp>
        <p:nvSpPr>
          <p:cNvPr id="47" name="Détail A1"/>
          <p:cNvSpPr txBox="1"/>
          <p:nvPr/>
        </p:nvSpPr>
        <p:spPr>
          <a:xfrm>
            <a:off x="914400" y="393192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montant · 40 couverts · 6 services</a:t>
            </a:r>
          </a:p>
        </p:txBody>
      </p:sp>
      <p:sp>
        <p:nvSpPr>
          <p:cNvPr id="48" name="Prix A1"/>
          <p:cNvSpPr txBox="1"/>
          <p:nvPr/>
        </p:nvSpPr>
        <p:spPr>
          <a:xfrm>
            <a:off x="4160520" y="34198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290 €</a:t>
            </a:r>
            <a:r>
              <a:rPr lang="fr-FR" sz="8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49" name="Unité A1"/>
          <p:cNvSpPr txBox="1"/>
          <p:nvPr/>
        </p:nvSpPr>
        <p:spPr>
          <a:xfrm>
            <a:off x="4160520" y="374903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50" name="Filet"/>
          <p:cNvSpPr/>
          <p:nvPr/>
        </p:nvSpPr>
        <p:spPr>
          <a:xfrm>
            <a:off x="914400" y="4133087"/>
            <a:ext cx="4800600" cy="7315"/>
          </a:xfrm>
          <a:prstGeom prst="rect">
            <a:avLst/>
          </a:prstGeom>
          <a:solidFill>
            <a:srgbClr val="3A3650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1" name="Soirée A2"/>
          <p:cNvSpPr txBox="1"/>
          <p:nvPr/>
        </p:nvSpPr>
        <p:spPr>
          <a:xfrm>
            <a:off x="914400" y="4151375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 Voyage</a:t>
            </a:r>
          </a:p>
        </p:txBody>
      </p:sp>
      <p:sp>
        <p:nvSpPr>
          <p:cNvPr id="52" name="Promesse A2"/>
          <p:cNvSpPr txBox="1"/>
          <p:nvPr/>
        </p:nvSpPr>
        <p:spPr>
          <a:xfrm>
            <a:off x="914400" y="44988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Dépaysés pour une nuit. »</a:t>
            </a:r>
          </a:p>
        </p:txBody>
      </p:sp>
      <p:sp>
        <p:nvSpPr>
          <p:cNvPr id="53" name="Détail A2"/>
          <p:cNvSpPr txBox="1"/>
          <p:nvPr/>
        </p:nvSpPr>
        <p:spPr>
          <a:xfrm>
            <a:off x="914400" y="4681727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confirmé · 35 couverts · 7 services</a:t>
            </a:r>
          </a:p>
        </p:txBody>
      </p:sp>
      <p:sp>
        <p:nvSpPr>
          <p:cNvPr id="54" name="Prix A2"/>
          <p:cNvSpPr txBox="1"/>
          <p:nvPr/>
        </p:nvSpPr>
        <p:spPr>
          <a:xfrm>
            <a:off x="4160520" y="4169663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420 €</a:t>
            </a:r>
            <a:r>
              <a:rPr lang="fr-FR" sz="8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55" name="Unité A2"/>
          <p:cNvSpPr txBox="1"/>
          <p:nvPr/>
        </p:nvSpPr>
        <p:spPr>
          <a:xfrm>
            <a:off x="4160520" y="449884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56" name="Filet"/>
          <p:cNvSpPr/>
          <p:nvPr/>
        </p:nvSpPr>
        <p:spPr>
          <a:xfrm>
            <a:off x="914400" y="4882896"/>
            <a:ext cx="4800600" cy="7315"/>
          </a:xfrm>
          <a:prstGeom prst="rect">
            <a:avLst/>
          </a:prstGeom>
          <a:solidFill>
            <a:srgbClr val="3A3650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7" name="Soirée A3"/>
          <p:cNvSpPr txBox="1"/>
          <p:nvPr/>
        </p:nvSpPr>
        <p:spPr>
          <a:xfrm>
            <a:off x="914400" y="4901183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Grande Nuit</a:t>
            </a:r>
          </a:p>
        </p:txBody>
      </p:sp>
      <p:sp>
        <p:nvSpPr>
          <p:cNvPr id="58" name="Promesse A3"/>
          <p:cNvSpPr txBox="1"/>
          <p:nvPr/>
        </p:nvSpPr>
        <p:spPr>
          <a:xfrm>
            <a:off x="914400" y="524865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 Un chef pour qui on traverserait le monde. »</a:t>
            </a:r>
          </a:p>
        </p:txBody>
      </p:sp>
      <p:sp>
        <p:nvSpPr>
          <p:cNvPr id="59" name="Détail A3"/>
          <p:cNvSpPr txBox="1"/>
          <p:nvPr/>
        </p:nvSpPr>
        <p:spPr>
          <a:xfrm>
            <a:off x="914400" y="543153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étoilé · 30 couverts · 8 à 9 services</a:t>
            </a:r>
          </a:p>
        </p:txBody>
      </p:sp>
      <p:sp>
        <p:nvSpPr>
          <p:cNvPr id="60" name="Prix A3"/>
          <p:cNvSpPr txBox="1"/>
          <p:nvPr/>
        </p:nvSpPr>
        <p:spPr>
          <a:xfrm>
            <a:off x="4160520" y="491947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C896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690 €</a:t>
            </a:r>
            <a:r>
              <a:rPr lang="fr-FR" sz="800" b="1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TTC</a:t>
            </a:r>
          </a:p>
        </p:txBody>
      </p:sp>
      <p:sp>
        <p:nvSpPr>
          <p:cNvPr id="61" name="Unité A3"/>
          <p:cNvSpPr txBox="1"/>
          <p:nvPr/>
        </p:nvSpPr>
        <p:spPr>
          <a:xfrm>
            <a:off x="4160520" y="524865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CFC8B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place</a:t>
            </a:r>
          </a:p>
        </p:txBody>
      </p:sp>
      <p:sp>
        <p:nvSpPr>
          <p:cNvPr id="62" name="Pied A"/>
          <p:cNvSpPr txBox="1"/>
          <p:nvPr/>
        </p:nvSpPr>
        <p:spPr>
          <a:xfrm>
            <a:off x="914400" y="57607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PARTICULIERS (B2C)  </a:t>
            </a:r>
            <a:r>
              <a:rPr lang="fr-FR" sz="11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Pré-vente en drops, place par place</a:t>
            </a:r>
          </a:p>
        </p:txBody>
      </p:sp>
      <p:sp>
        <p:nvSpPr>
          <p:cNvPr id="63" name="Bloc offre B"/>
          <p:cNvSpPr/>
          <p:nvPr/>
        </p:nvSpPr>
        <p:spPr>
          <a:xfrm>
            <a:off x="6199632" y="2331720"/>
            <a:ext cx="5349240" cy="3840480"/>
          </a:xfrm>
          <a:prstGeom prst="roundRect">
            <a:avLst>
              <a:gd name="adj" fmla="val 4000"/>
            </a:avLst>
          </a:prstGeom>
          <a:solidFill>
            <a:srgbClr val="C2432B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4" name="Titre offre B"/>
          <p:cNvSpPr txBox="1"/>
          <p:nvPr/>
        </p:nvSpPr>
        <p:spPr>
          <a:xfrm>
            <a:off x="6473952" y="25877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spc="25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B · PRIVATISATION DE SALLE</a:t>
            </a:r>
          </a:p>
        </p:txBody>
      </p:sp>
      <p:sp>
        <p:nvSpPr>
          <p:cNvPr id="65" name="Accroche offre B"/>
          <p:cNvSpPr txBox="1"/>
          <p:nvPr/>
        </p:nvSpPr>
        <p:spPr>
          <a:xfrm>
            <a:off x="6473952" y="288036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7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salle entière, chef au choix</a:t>
            </a:r>
          </a:p>
        </p:txBody>
      </p:sp>
      <p:sp>
        <p:nvSpPr>
          <p:cNvPr id="66" name="Filet"/>
          <p:cNvSpPr/>
          <p:nvPr/>
        </p:nvSpPr>
        <p:spPr>
          <a:xfrm>
            <a:off x="6473952" y="3383279"/>
            <a:ext cx="4800600" cy="7315"/>
          </a:xfrm>
          <a:prstGeom prst="rect">
            <a:avLst/>
          </a:prstGeom>
          <a:solidFill>
            <a:srgbClr val="E08A78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7" name="Chef B1"/>
          <p:cNvSpPr txBox="1"/>
          <p:nvPr/>
        </p:nvSpPr>
        <p:spPr>
          <a:xfrm>
            <a:off x="6473952" y="34015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Chef montant</a:t>
            </a:r>
          </a:p>
        </p:txBody>
      </p:sp>
      <p:sp>
        <p:nvSpPr>
          <p:cNvPr id="68" name="Promesse B1"/>
          <p:cNvSpPr txBox="1"/>
          <p:nvPr/>
        </p:nvSpPr>
        <p:spPr>
          <a:xfrm>
            <a:off x="6473952" y="3749039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talent qu’on découvre avant tout le monde</a:t>
            </a:r>
          </a:p>
        </p:txBody>
      </p:sp>
      <p:sp>
        <p:nvSpPr>
          <p:cNvPr id="69" name="Détail B1"/>
          <p:cNvSpPr txBox="1"/>
          <p:nvPr/>
        </p:nvSpPr>
        <p:spPr>
          <a:xfrm>
            <a:off x="6473952" y="393192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 · la salle entière</a:t>
            </a:r>
          </a:p>
        </p:txBody>
      </p:sp>
      <p:sp>
        <p:nvSpPr>
          <p:cNvPr id="70" name="Prix B1"/>
          <p:cNvSpPr txBox="1"/>
          <p:nvPr/>
        </p:nvSpPr>
        <p:spPr>
          <a:xfrm>
            <a:off x="9720072" y="34198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250 €</a:t>
            </a:r>
            <a:r>
              <a:rPr lang="fr-FR" sz="8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71" name="Unité B1"/>
          <p:cNvSpPr txBox="1"/>
          <p:nvPr/>
        </p:nvSpPr>
        <p:spPr>
          <a:xfrm>
            <a:off x="9720072" y="374903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72" name="Filet"/>
          <p:cNvSpPr/>
          <p:nvPr/>
        </p:nvSpPr>
        <p:spPr>
          <a:xfrm>
            <a:off x="6473952" y="4133087"/>
            <a:ext cx="4800600" cy="7315"/>
          </a:xfrm>
          <a:prstGeom prst="rect">
            <a:avLst/>
          </a:prstGeom>
          <a:solidFill>
            <a:srgbClr val="E08A78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3" name="Chef B2"/>
          <p:cNvSpPr txBox="1"/>
          <p:nvPr/>
        </p:nvSpPr>
        <p:spPr>
          <a:xfrm>
            <a:off x="6473952" y="4151375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Chef confirmé</a:t>
            </a:r>
          </a:p>
        </p:txBody>
      </p:sp>
      <p:sp>
        <p:nvSpPr>
          <p:cNvPr id="74" name="Promesse B2"/>
          <p:cNvSpPr txBox="1"/>
          <p:nvPr/>
        </p:nvSpPr>
        <p:spPr>
          <a:xfrm>
            <a:off x="6473952" y="44988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chef reconnu dans son pays</a:t>
            </a:r>
          </a:p>
        </p:txBody>
      </p:sp>
      <p:sp>
        <p:nvSpPr>
          <p:cNvPr id="75" name="Détail B2"/>
          <p:cNvSpPr txBox="1"/>
          <p:nvPr/>
        </p:nvSpPr>
        <p:spPr>
          <a:xfrm>
            <a:off x="6473952" y="4681727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 · la salle entière</a:t>
            </a:r>
          </a:p>
        </p:txBody>
      </p:sp>
      <p:sp>
        <p:nvSpPr>
          <p:cNvPr id="76" name="Prix B2"/>
          <p:cNvSpPr txBox="1"/>
          <p:nvPr/>
        </p:nvSpPr>
        <p:spPr>
          <a:xfrm>
            <a:off x="9720072" y="4169663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350 €</a:t>
            </a:r>
            <a:r>
              <a:rPr lang="fr-FR" sz="8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77" name="Unité B2"/>
          <p:cNvSpPr txBox="1"/>
          <p:nvPr/>
        </p:nvSpPr>
        <p:spPr>
          <a:xfrm>
            <a:off x="9720072" y="449884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78" name="Filet"/>
          <p:cNvSpPr/>
          <p:nvPr/>
        </p:nvSpPr>
        <p:spPr>
          <a:xfrm>
            <a:off x="6473952" y="4882896"/>
            <a:ext cx="4800600" cy="7315"/>
          </a:xfrm>
          <a:prstGeom prst="rect">
            <a:avLst/>
          </a:prstGeom>
          <a:solidFill>
            <a:srgbClr val="E08A78"/>
          </a:solidFill>
          <a:ln>
            <a:noFill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9" name="Chef B3"/>
          <p:cNvSpPr txBox="1"/>
          <p:nvPr/>
        </p:nvSpPr>
        <p:spPr>
          <a:xfrm>
            <a:off x="6473952" y="4901183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2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Chef étoilé</a:t>
            </a:r>
          </a:p>
        </p:txBody>
      </p:sp>
      <p:sp>
        <p:nvSpPr>
          <p:cNvPr id="80" name="Promesse B3"/>
          <p:cNvSpPr txBox="1"/>
          <p:nvPr/>
        </p:nvSpPr>
        <p:spPr>
          <a:xfrm>
            <a:off x="6473952" y="524865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i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table étoilée, rien que pour vous</a:t>
            </a:r>
          </a:p>
        </p:txBody>
      </p:sp>
      <p:sp>
        <p:nvSpPr>
          <p:cNvPr id="81" name="Détail B3"/>
          <p:cNvSpPr txBox="1"/>
          <p:nvPr/>
        </p:nvSpPr>
        <p:spPr>
          <a:xfrm>
            <a:off x="6473952" y="543153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Entreprises (B2B) · la salle entière</a:t>
            </a:r>
          </a:p>
        </p:txBody>
      </p:sp>
      <p:sp>
        <p:nvSpPr>
          <p:cNvPr id="82" name="Prix B3"/>
          <p:cNvSpPr txBox="1"/>
          <p:nvPr/>
        </p:nvSpPr>
        <p:spPr>
          <a:xfrm>
            <a:off x="9720072" y="491947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600 €</a:t>
            </a:r>
            <a:r>
              <a:rPr lang="fr-FR" sz="800" b="1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HT</a:t>
            </a:r>
          </a:p>
        </p:txBody>
      </p:sp>
      <p:sp>
        <p:nvSpPr>
          <p:cNvPr id="83" name="Unité B3"/>
          <p:cNvSpPr txBox="1"/>
          <p:nvPr/>
        </p:nvSpPr>
        <p:spPr>
          <a:xfrm>
            <a:off x="9720072" y="524865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5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 convive</a:t>
            </a:r>
          </a:p>
        </p:txBody>
      </p:sp>
      <p:sp>
        <p:nvSpPr>
          <p:cNvPr id="84" name="Pied B"/>
          <p:cNvSpPr txBox="1"/>
          <p:nvPr/>
        </p:nvSpPr>
        <p:spPr>
          <a:xfrm>
            <a:off x="6473952" y="57607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800" b="1" spc="60" dirty="0">
                <a:solidFill>
                  <a:srgbClr val="F0C9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GROUPES (B2C)  </a:t>
            </a:r>
            <a:r>
              <a:rPr lang="fr-FR" sz="11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Chef confirmé : </a:t>
            </a:r>
            <a:r>
              <a:rPr lang="fr-FR" sz="1100" b="1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de salle dès 6 000 € HT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3"/>
          <p:cNvSpPr>
            <a:spLocks noGrp="1"/>
          </p:cNvSpPr>
          <p:nvPr>
            <p:ph type="title" idx="123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3" name="Text 24"/>
          <p:cNvSpPr>
            <a:spLocks noGrp="1"/>
          </p:cNvSpPr>
          <p:nvPr>
            <p:ph type="body" idx="125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 PopTables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contact@poptables.com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Macintosh PowerPoint</Application>
  <PresentationFormat>Grand écran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Montserrat</vt:lpstr>
      <vt:lpstr>Playfair Display</vt:lpstr>
      <vt:lpstr>Office Theme</vt:lpstr>
      <vt:lpstr>Des chefs rares, des lieux choisis</vt:lpstr>
      <vt:lpstr>PopTables</vt:lpstr>
      <vt:lpstr>Une palette d’atelier, deux typographies, un motif de nappe</vt:lpstr>
      <vt:lpstr>Sommaire</vt:lpstr>
      <vt:lpstr>La promesse</vt:lpstr>
      <vt:lpstr>Nous ouvrons les restaurants les jours où ils sont fermés</vt:lpstr>
      <vt:lpstr>Deux offres partagent un même socle de production</vt:lpstr>
      <vt:lpstr>L’accès au talent fait la promesse</vt:lpstr>
      <vt:lpstr>Une table pensée comme une mise en scène</vt:lpstr>
      <vt:lpstr>Les lieux ont une âme, même fermés</vt:lpstr>
      <vt:lpstr>Trois ingrédients composent chaque rencontre</vt:lpstr>
      <vt:lpstr>Une expérience premium à un prix lisible</vt:lpstr>
      <vt:lpstr>Présentation PowerPoint</vt:lpstr>
      <vt:lpstr>Le remplissage des jours de fermeture crée la valeur</vt:lpstr>
      <vt:lpstr>Une équipe complémentaire pour concevoir et produire</vt:lpstr>
      <vt:lpstr>Une page ouverte pour un schéma ou une frise</vt:lpstr>
      <vt:lpstr>Merci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Frederique LAY</cp:lastModifiedBy>
  <cp:revision>1</cp:revision>
  <dcterms:created xsi:type="dcterms:W3CDTF">2026-10-29T09:17:27Z</dcterms:created>
  <dcterms:modified xsi:type="dcterms:W3CDTF">2026-10-29T10:21:31Z</dcterms:modified>
</cp:coreProperties>
</file>