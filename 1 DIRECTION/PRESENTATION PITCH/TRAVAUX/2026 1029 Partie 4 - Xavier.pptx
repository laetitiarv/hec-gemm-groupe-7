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Cibles</c:v>
                </c:pt>
              </c:strCache>
            </c:strRef>
          </c:tx>
          <c:spPr>
            <a:solidFill>
              <a:srgbClr val="C2432B"/>
            </a:solidFill>
          </c:spPr>
          <c:cat>
            <c:strRef>
              <c:f>Sheet1!$A$2:$A$4</c:f>
              <c:strCache>
                <c:ptCount val="3"/>
                <c:pt idx="0">
                  <c:v>Maisons de luxe</c:v>
                </c:pt>
                <c:pt idx="1">
                  <c:v>Clubs et cercles</c:v>
                </c:pt>
                <c:pt idx="2">
                  <c:v>Entreprises*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</c:v>
                </c:pt>
                <c:pt idx="1">
                  <c:v>38</c:v>
                </c:pt>
                <c:pt idx="2">
                  <c:v>1245</c:v>
                </c:pt>
              </c:numCache>
            </c:numRef>
          </c:val>
        </c:ser>
        <c:dLbls>
          <c:numFmt formatCode="# ##0" sourceLinked="0"/>
          <c:txPr>
            <a:bodyPr/>
            <a:lstStyle/>
            <a:p>
              <a:pPr>
                <a:defRPr sz="1000" b="1">
                  <a:solidFill>
                    <a:srgbClr val="26232F"/>
                  </a:solidFill>
                  <a:latin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50">
                <a:solidFill>
                  <a:srgbClr val="26232F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 TTC</c:v>
                </c:pt>
              </c:strCache>
            </c:strRef>
          </c:tx>
          <c:dPt>
            <c:idx val="0"/>
            <c:spPr>
              <a:solidFill>
                <a:srgbClr val="DDC08A"/>
              </a:solidFill>
            </c:spPr>
          </c:dPt>
          <c:dPt>
            <c:idx val="1"/>
            <c:spPr>
              <a:solidFill>
                <a:srgbClr val="8FA593"/>
              </a:solidFill>
            </c:spPr>
          </c:dPt>
          <c:dPt>
            <c:idx val="2"/>
            <c:spPr>
              <a:solidFill>
                <a:srgbClr val="1E1B2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32F"/>
                        </a:solidFill>
                        <a:latin typeface="Playfair Display"/>
                      </a:rPr>
                      <a:t>105 k€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32F"/>
                        </a:solidFill>
                        <a:latin typeface="Playfair Display"/>
                      </a:rPr>
                      <a:t>1,8 M€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26232F"/>
                        </a:solidFill>
                        <a:latin typeface="Playfair Display"/>
                      </a:rPr>
                      <a:t>3,6 M€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Année 1
7 évén.</c:v>
                </c:pt>
                <c:pt idx="1">
                  <c:v>Année 2
120 évén.</c:v>
                </c:pt>
                <c:pt idx="2">
                  <c:v>Année 3
240 évén.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0.105</c:v>
                </c:pt>
                <c:pt idx="1">
                  <c:v>1.8</c:v>
                </c:pt>
                <c:pt idx="2">
                  <c:v>3.6</c:v>
                </c:pt>
              </c:numCache>
            </c:numRef>
          </c:val>
        </c:ser>
        <c:dLbls>
          <c:numFmt formatCode="#,##0.0# &quot;M€&quot;" sourceLinked="0"/>
          <c:txPr>
            <a:bodyPr/>
            <a:lstStyle/>
            <a:p>
              <a:pPr>
                <a:defRPr sz="1100" b="1">
                  <a:solidFill>
                    <a:srgbClr val="26232F"/>
                  </a:solidFill>
                  <a:latin typeface="Playfair Dis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26232F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3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 Page vie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1 Couverture — avec photo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70710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Photo de couverture"/>
          <p:cNvSpPr/>
          <p:nvPr>
            <p:ph type="pic" idx="101" hasCustomPrompt="1"/>
          </p:nvPr>
        </p:nvSpPr>
        <p:spPr>
          <a:xfrm>
            <a:off x="5120640" y="0"/>
            <a:ext cx="70710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5120640" y="0"/>
            <a:ext cx="73152" cy="685800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40080" y="960120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960120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078992" y="960120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2103120"/>
            <a:ext cx="41148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000" dirty="0"/>
          </a:p>
        </p:txBody>
      </p:sp>
      <p:sp>
        <p:nvSpPr>
          <p:cNvPr id="10" name="Sous-titre"/>
          <p:cNvSpPr/>
          <p:nvPr>
            <p:ph idx="108" type="body" hasCustomPrompt="1"/>
          </p:nvPr>
        </p:nvSpPr>
        <p:spPr>
          <a:xfrm>
            <a:off x="640080" y="4297680"/>
            <a:ext cx="4023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400" dirty="0"/>
          </a:p>
        </p:txBody>
      </p:sp>
      <p:sp>
        <p:nvSpPr>
          <p:cNvPr id="11" name="Date"/>
          <p:cNvSpPr/>
          <p:nvPr>
            <p:ph idx="109" type="body" hasCustomPrompt="1"/>
          </p:nvPr>
        </p:nvSpPr>
        <p:spPr>
          <a:xfrm>
            <a:off x="640080" y="6035040"/>
            <a:ext cx="402336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Couverture — typographiqu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1097280"/>
            <a:ext cx="3840480" cy="38404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0" y="37490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374904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3816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41832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0" y="4389120"/>
            <a:ext cx="640080" cy="640080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43891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920240"/>
            <a:ext cx="1645920" cy="1645920"/>
          </a:xfrm>
          <a:prstGeom prst="ellipse">
            <a:avLst/>
          </a:prstGeom>
          <a:solidFill>
            <a:srgbClr val="C8963A"/>
          </a:solidFill>
          <a:ln>
            <a:solidFill>
              <a:srgbClr val="C896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49640" y="2240280"/>
            <a:ext cx="1005840" cy="1005840"/>
          </a:xfrm>
          <a:prstGeom prst="ellipse">
            <a:avLst/>
          </a:prstGeom>
          <a:solidFill>
            <a:srgbClr val="F4EEE3"/>
          </a:solidFill>
          <a:ln>
            <a:solidFill>
              <a:srgbClr val="F4EEE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058400" y="1737360"/>
            <a:ext cx="914400" cy="201168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19" name="Titre"/>
          <p:cNvSpPr/>
          <p:nvPr>
            <p:ph idx="117" type="title" hasCustomPrompt="1"/>
          </p:nvPr>
        </p:nvSpPr>
        <p:spPr>
          <a:xfrm>
            <a:off x="640080" y="1828800"/>
            <a:ext cx="63093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8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présentation</a:t>
            </a:r>
            <a:endParaRPr lang="en-US" sz="4800" dirty="0"/>
          </a:p>
        </p:txBody>
      </p:sp>
      <p:sp>
        <p:nvSpPr>
          <p:cNvPr id="20" name="Sous-titre"/>
          <p:cNvSpPr/>
          <p:nvPr>
            <p:ph idx="118" type="body" hasCustomPrompt="1"/>
          </p:nvPr>
        </p:nvSpPr>
        <p:spPr>
          <a:xfrm>
            <a:off x="640080" y="443484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5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Sous-titre ou promesse</a:t>
            </a:r>
            <a:endParaRPr lang="en-US" sz="1500" dirty="0"/>
          </a:p>
        </p:txBody>
      </p:sp>
      <p:sp>
        <p:nvSpPr>
          <p:cNvPr id="21" name="Date"/>
          <p:cNvSpPr/>
          <p:nvPr>
            <p:ph idx="119" type="body" hasCustomPrompt="1"/>
          </p:nvPr>
        </p:nvSpPr>
        <p:spPr>
          <a:xfrm>
            <a:off x="640080" y="6035040"/>
            <a:ext cx="4572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9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LIEU · DATE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Sommair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0" y="914400"/>
            <a:ext cx="4206240" cy="512064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371600"/>
            <a:ext cx="3200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Sommaire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ommaire"/>
          <p:cNvSpPr/>
          <p:nvPr>
            <p:ph idx="109" type="body" hasCustomPrompt="1"/>
          </p:nvPr>
        </p:nvSpPr>
        <p:spPr>
          <a:xfrm>
            <a:off x="4937760" y="1325880"/>
            <a:ext cx="658368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5000"/>
              </a:lnSpc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du texte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Intercalaire de section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0911535" y="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51615" y="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11535" y="6400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51615" y="6400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11535" y="12801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12801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11535" y="19202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51615" y="19202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11535" y="25603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51615" y="25603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11535" y="32004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551615" y="32004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11535" y="384048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551615" y="384048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11535" y="448056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51615" y="448056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911535" y="512064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551615" y="512064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11535" y="576072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551615" y="576072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11535" y="6400800"/>
            <a:ext cx="640080" cy="640080"/>
          </a:xfrm>
          <a:prstGeom prst="rect">
            <a:avLst/>
          </a:prstGeom>
          <a:solidFill>
            <a:srgbClr val="2A2640"/>
          </a:solidFill>
          <a:ln w="12700">
            <a:solidFill>
              <a:srgbClr val="2A26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51615" y="6400800"/>
            <a:ext cx="640080" cy="64008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8" name="Numéro"/>
          <p:cNvSpPr/>
          <p:nvPr>
            <p:ph idx="126" type="body" hasCustomPrompt="1"/>
          </p:nvPr>
        </p:nvSpPr>
        <p:spPr>
          <a:xfrm>
            <a:off x="640080" y="1280160"/>
            <a:ext cx="3657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1000" dirty="0"/>
          </a:p>
        </p:txBody>
      </p:sp>
      <p:sp>
        <p:nvSpPr>
          <p:cNvPr id="29" name="Shape 26"/>
          <p:cNvSpPr/>
          <p:nvPr/>
        </p:nvSpPr>
        <p:spPr>
          <a:xfrm>
            <a:off x="640080" y="329184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30" name="Titre"/>
          <p:cNvSpPr/>
          <p:nvPr>
            <p:ph idx="128" type="title" hasCustomPrompt="1"/>
          </p:nvPr>
        </p:nvSpPr>
        <p:spPr>
          <a:xfrm>
            <a:off x="640080" y="3566160"/>
            <a:ext cx="87782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de la section</a:t>
            </a:r>
            <a:endParaRPr lang="en-US" sz="4000" dirty="0"/>
          </a:p>
        </p:txBody>
      </p:sp>
      <p:sp>
        <p:nvSpPr>
          <p:cNvPr id="31" name="Sous-titre"/>
          <p:cNvSpPr/>
          <p:nvPr>
            <p:ph idx="129" type="body" hasCustomPrompt="1"/>
          </p:nvPr>
        </p:nvSpPr>
        <p:spPr>
          <a:xfrm>
            <a:off x="640080" y="5212080"/>
            <a:ext cx="8412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phrase pour annoncer la section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Titre et text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Texte"/>
          <p:cNvSpPr/>
          <p:nvPr>
            <p:ph idx="108" type="body" hasCustomPrompt="1"/>
          </p:nvPr>
        </p:nvSpPr>
        <p:spPr>
          <a:xfrm>
            <a:off x="640080" y="2560320"/>
            <a:ext cx="768096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9144000" y="2606040"/>
            <a:ext cx="36576" cy="3474720"/>
          </a:xfrm>
          <a:prstGeom prst="rect">
            <a:avLst/>
          </a:prstGeom>
          <a:solidFill>
            <a:srgbClr val="D3C8B5"/>
          </a:solidFill>
          <a:ln w="12700">
            <a:solidFill>
              <a:srgbClr val="D3C8B5"/>
            </a:solidFill>
            <a:prstDash val="solid"/>
          </a:ln>
        </p:spPr>
      </p:sp>
      <p:sp>
        <p:nvSpPr>
          <p:cNvPr id="12" name="Encadré"/>
          <p:cNvSpPr/>
          <p:nvPr>
            <p:ph idx="110" type="body" hasCustomPrompt="1"/>
          </p:nvPr>
        </p:nvSpPr>
        <p:spPr>
          <a:xfrm>
            <a:off x="9464040" y="2560320"/>
            <a:ext cx="2103120" cy="3566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Message clé ou chiffre à retenir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Deux colonnes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560320"/>
            <a:ext cx="5257800" cy="4572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309360" y="2560320"/>
            <a:ext cx="5257800" cy="4572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2" name="Intertitre gauche"/>
          <p:cNvSpPr/>
          <p:nvPr>
            <p:ph idx="110" type="body" hasCustomPrompt="1"/>
          </p:nvPr>
        </p:nvSpPr>
        <p:spPr>
          <a:xfrm>
            <a:off x="64008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3" name="Intertitre droite"/>
          <p:cNvSpPr/>
          <p:nvPr>
            <p:ph idx="111" type="body" hasCustomPrompt="1"/>
          </p:nvPr>
        </p:nvSpPr>
        <p:spPr>
          <a:xfrm>
            <a:off x="6309360" y="2743200"/>
            <a:ext cx="52578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2000" dirty="0"/>
          </a:p>
        </p:txBody>
      </p:sp>
      <p:sp>
        <p:nvSpPr>
          <p:cNvPr id="14" name="Texte gauche"/>
          <p:cNvSpPr/>
          <p:nvPr>
            <p:ph idx="112" type="body" hasCustomPrompt="1"/>
          </p:nvPr>
        </p:nvSpPr>
        <p:spPr>
          <a:xfrm>
            <a:off x="64008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5" name="Texte droite"/>
          <p:cNvSpPr/>
          <p:nvPr>
            <p:ph idx="113" type="body" hasCustomPrompt="1"/>
          </p:nvPr>
        </p:nvSpPr>
        <p:spPr>
          <a:xfrm>
            <a:off x="6309360" y="3291840"/>
            <a:ext cx="525780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Texte et image à droit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5699455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/>
          <p:nvPr>
            <p:ph type="pic" idx="101" hasCustomPrompt="1"/>
          </p:nvPr>
        </p:nvSpPr>
        <p:spPr>
          <a:xfrm>
            <a:off x="6492240" y="0"/>
            <a:ext cx="569945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5" name="Surtitre"/>
          <p:cNvSpPr/>
          <p:nvPr>
            <p:ph idx="103" type="body" hasCustomPrompt="1"/>
          </p:nvPr>
        </p:nvSpPr>
        <p:spPr>
          <a:xfrm>
            <a:off x="640080" y="914400"/>
            <a:ext cx="53035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6" name="Titre"/>
          <p:cNvSpPr/>
          <p:nvPr>
            <p:ph idx="104" type="title" hasCustomPrompt="1"/>
          </p:nvPr>
        </p:nvSpPr>
        <p:spPr>
          <a:xfrm>
            <a:off x="640080" y="1234440"/>
            <a:ext cx="53035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7" name="Shape 2"/>
          <p:cNvSpPr/>
          <p:nvPr/>
        </p:nvSpPr>
        <p:spPr>
          <a:xfrm>
            <a:off x="64008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Texte"/>
          <p:cNvSpPr/>
          <p:nvPr>
            <p:ph idx="106" type="body" hasCustomPrompt="1"/>
          </p:nvPr>
        </p:nvSpPr>
        <p:spPr>
          <a:xfrm>
            <a:off x="640080" y="3337560"/>
            <a:ext cx="530352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9" name="Shape 3"/>
          <p:cNvSpPr/>
          <p:nvPr/>
        </p:nvSpPr>
        <p:spPr>
          <a:xfrm>
            <a:off x="640080" y="6382512"/>
            <a:ext cx="5303520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64008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0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Image à gauche et text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/>
          <p:nvPr>
            <p:ph type="pic" idx="101" hasCustomPrompt="1"/>
          </p:nvPr>
        </p:nvSpPr>
        <p:spPr>
          <a:xfrm>
            <a:off x="0" y="0"/>
            <a:ext cx="566928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urtitre"/>
          <p:cNvSpPr/>
          <p:nvPr>
            <p:ph idx="105" type="body" hasCustomPrompt="1"/>
          </p:nvPr>
        </p:nvSpPr>
        <p:spPr>
          <a:xfrm>
            <a:off x="6309360" y="914400"/>
            <a:ext cx="52120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8" name="Titre"/>
          <p:cNvSpPr/>
          <p:nvPr>
            <p:ph idx="106" type="title" hasCustomPrompt="1"/>
          </p:nvPr>
        </p:nvSpPr>
        <p:spPr>
          <a:xfrm>
            <a:off x="6309360" y="1234440"/>
            <a:ext cx="5212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9" name="Shape 4"/>
          <p:cNvSpPr/>
          <p:nvPr/>
        </p:nvSpPr>
        <p:spPr>
          <a:xfrm>
            <a:off x="6309360" y="3063240"/>
            <a:ext cx="548640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0" name="Texte"/>
          <p:cNvSpPr/>
          <p:nvPr>
            <p:ph idx="108" type="body" hasCustomPrompt="1"/>
          </p:nvPr>
        </p:nvSpPr>
        <p:spPr>
          <a:xfrm>
            <a:off x="6309360" y="3337560"/>
            <a:ext cx="521208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Cliquez pour ajouter du texte</a:t>
            </a:r>
            <a:endParaRPr lang="en-US" sz="1500" dirty="0"/>
          </a:p>
        </p:txBody>
      </p:sp>
      <p:sp>
        <p:nvSpPr>
          <p:cNvPr id="11" name="Shape 5"/>
          <p:cNvSpPr/>
          <p:nvPr/>
        </p:nvSpPr>
        <p:spPr>
          <a:xfrm>
            <a:off x="6309360" y="6382512"/>
            <a:ext cx="524225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630936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Grande image et légend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89204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3" name="Image"/>
          <p:cNvSpPr/>
          <p:nvPr>
            <p:ph type="pic" idx="101" hasCustomPrompt="1"/>
          </p:nvPr>
        </p:nvSpPr>
        <p:spPr>
          <a:xfrm>
            <a:off x="0" y="0"/>
            <a:ext cx="12191695" cy="4892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0" y="4892040"/>
            <a:ext cx="12191695" cy="6400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5" name="Titre"/>
          <p:cNvSpPr/>
          <p:nvPr>
            <p:ph idx="103" type="title" hasCustomPrompt="1"/>
          </p:nvPr>
        </p:nvSpPr>
        <p:spPr>
          <a:xfrm>
            <a:off x="640080" y="521208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Titre ou citation courte</a:t>
            </a:r>
            <a:endParaRPr lang="en-US" sz="2600" dirty="0"/>
          </a:p>
        </p:txBody>
      </p:sp>
      <p:sp>
        <p:nvSpPr>
          <p:cNvPr id="6" name="Légende"/>
          <p:cNvSpPr/>
          <p:nvPr>
            <p:ph idx="104" type="body" hasCustomPrompt="1"/>
          </p:nvPr>
        </p:nvSpPr>
        <p:spPr>
          <a:xfrm>
            <a:off x="8046720" y="5212080"/>
            <a:ext cx="35048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Légende de l’image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 Trois visuels et légendes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1" name="Image 1"/>
          <p:cNvSpPr/>
          <p:nvPr>
            <p:ph type="pic" idx="109" hasCustomPrompt="1"/>
          </p:nvPr>
        </p:nvSpPr>
        <p:spPr>
          <a:xfrm>
            <a:off x="640080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480560"/>
            <a:ext cx="3423818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Intertitre 1"/>
          <p:cNvSpPr/>
          <p:nvPr>
            <p:ph idx="111" type="body" hasCustomPrompt="1"/>
          </p:nvPr>
        </p:nvSpPr>
        <p:spPr>
          <a:xfrm>
            <a:off x="640080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4" name="Texte 1"/>
          <p:cNvSpPr/>
          <p:nvPr>
            <p:ph idx="112" type="body" hasCustomPrompt="1"/>
          </p:nvPr>
        </p:nvSpPr>
        <p:spPr>
          <a:xfrm>
            <a:off x="640080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6" name="Image 2"/>
          <p:cNvSpPr/>
          <p:nvPr>
            <p:ph type="pic" idx="114" hasCustomPrompt="1"/>
          </p:nvPr>
        </p:nvSpPr>
        <p:spPr>
          <a:xfrm>
            <a:off x="4383938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383938" y="4480560"/>
            <a:ext cx="3423818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8" name="Intertitre 2"/>
          <p:cNvSpPr/>
          <p:nvPr>
            <p:ph idx="116" type="body" hasCustomPrompt="1"/>
          </p:nvPr>
        </p:nvSpPr>
        <p:spPr>
          <a:xfrm>
            <a:off x="4383938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19" name="Texte 2"/>
          <p:cNvSpPr/>
          <p:nvPr>
            <p:ph idx="117" type="body" hasCustomPrompt="1"/>
          </p:nvPr>
        </p:nvSpPr>
        <p:spPr>
          <a:xfrm>
            <a:off x="4383938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240280"/>
            <a:ext cx="3423818" cy="22402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1" name="Image 3"/>
          <p:cNvSpPr/>
          <p:nvPr>
            <p:ph type="pic" idx="119" hasCustomPrompt="1"/>
          </p:nvPr>
        </p:nvSpPr>
        <p:spPr>
          <a:xfrm>
            <a:off x="8127797" y="2240280"/>
            <a:ext cx="3423818" cy="2240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8127797" y="4480560"/>
            <a:ext cx="3423818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23" name="Intertitre 3"/>
          <p:cNvSpPr/>
          <p:nvPr>
            <p:ph idx="121" type="body" hasCustomPrompt="1"/>
          </p:nvPr>
        </p:nvSpPr>
        <p:spPr>
          <a:xfrm>
            <a:off x="8127797" y="4663440"/>
            <a:ext cx="3423818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Intertitre</a:t>
            </a:r>
            <a:endParaRPr lang="en-US" sz="1800" dirty="0"/>
          </a:p>
        </p:txBody>
      </p:sp>
      <p:sp>
        <p:nvSpPr>
          <p:cNvPr id="24" name="Texte 3"/>
          <p:cNvSpPr/>
          <p:nvPr>
            <p:ph idx="122" type="body" hasCustomPrompt="1"/>
          </p:nvPr>
        </p:nvSpPr>
        <p:spPr>
          <a:xfrm>
            <a:off x="8127797" y="5120640"/>
            <a:ext cx="3423818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Deux lignes de texte au maximum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Chiffres clés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651760"/>
            <a:ext cx="3423818" cy="73152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Chiffre 1"/>
          <p:cNvSpPr/>
          <p:nvPr>
            <p:ph idx="110" type="body" hasCustomPrompt="1"/>
          </p:nvPr>
        </p:nvSpPr>
        <p:spPr>
          <a:xfrm>
            <a:off x="960120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3" name="Libellé 1"/>
          <p:cNvSpPr/>
          <p:nvPr>
            <p:ph idx="111" type="body" hasCustomPrompt="1"/>
          </p:nvPr>
        </p:nvSpPr>
        <p:spPr>
          <a:xfrm>
            <a:off x="960120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4" name="Commentaire 1"/>
          <p:cNvSpPr/>
          <p:nvPr>
            <p:ph idx="112" type="body" hasCustomPrompt="1"/>
          </p:nvPr>
        </p:nvSpPr>
        <p:spPr>
          <a:xfrm>
            <a:off x="960120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4383938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6" name="Shape 9"/>
          <p:cNvSpPr/>
          <p:nvPr/>
        </p:nvSpPr>
        <p:spPr>
          <a:xfrm>
            <a:off x="4383938" y="2651760"/>
            <a:ext cx="3423818" cy="73152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7" name="Chiffre 2"/>
          <p:cNvSpPr/>
          <p:nvPr>
            <p:ph idx="115" type="body" hasCustomPrompt="1"/>
          </p:nvPr>
        </p:nvSpPr>
        <p:spPr>
          <a:xfrm>
            <a:off x="4703978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18" name="Libellé 2"/>
          <p:cNvSpPr/>
          <p:nvPr>
            <p:ph idx="116" type="body" hasCustomPrompt="1"/>
          </p:nvPr>
        </p:nvSpPr>
        <p:spPr>
          <a:xfrm>
            <a:off x="4703978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19" name="Commentaire 2"/>
          <p:cNvSpPr/>
          <p:nvPr>
            <p:ph idx="117" type="body" hasCustomPrompt="1"/>
          </p:nvPr>
        </p:nvSpPr>
        <p:spPr>
          <a:xfrm>
            <a:off x="4703978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127797" y="2651760"/>
            <a:ext cx="3423818" cy="338328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8127797" y="2651760"/>
            <a:ext cx="3423818" cy="73152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22" name="Chiffre 3"/>
          <p:cNvSpPr/>
          <p:nvPr>
            <p:ph idx="120" type="body" hasCustomPrompt="1"/>
          </p:nvPr>
        </p:nvSpPr>
        <p:spPr>
          <a:xfrm>
            <a:off x="8447837" y="2971800"/>
            <a:ext cx="2783738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00</a:t>
            </a:r>
            <a:endParaRPr lang="en-US" sz="6000" dirty="0"/>
          </a:p>
        </p:txBody>
      </p:sp>
      <p:sp>
        <p:nvSpPr>
          <p:cNvPr id="23" name="Libellé 3"/>
          <p:cNvSpPr/>
          <p:nvPr>
            <p:ph idx="121" type="body" hasCustomPrompt="1"/>
          </p:nvPr>
        </p:nvSpPr>
        <p:spPr>
          <a:xfrm>
            <a:off x="8447837" y="4434840"/>
            <a:ext cx="2783738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b="1" spc="2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LIBELLÉ</a:t>
            </a:r>
            <a:endParaRPr lang="en-US" sz="1100" dirty="0"/>
          </a:p>
        </p:txBody>
      </p:sp>
      <p:sp>
        <p:nvSpPr>
          <p:cNvPr id="24" name="Commentaire 3"/>
          <p:cNvSpPr/>
          <p:nvPr>
            <p:ph idx="122" type="body" hasCustomPrompt="1"/>
          </p:nvPr>
        </p:nvSpPr>
        <p:spPr>
          <a:xfrm>
            <a:off x="8447837" y="4846320"/>
            <a:ext cx="2783738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Une ligne d’explication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Citation ou manifeste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4A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5AFC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7772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0" dirty="0">
                <a:solidFill>
                  <a:srgbClr val="C2432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16000" dirty="0"/>
          </a:p>
        </p:txBody>
      </p:sp>
      <p:sp>
        <p:nvSpPr>
          <p:cNvPr id="9" name="Citation"/>
          <p:cNvSpPr/>
          <p:nvPr>
            <p:ph idx="107" type="body" hasCustomPrompt="1"/>
          </p:nvPr>
        </p:nvSpPr>
        <p:spPr>
          <a:xfrm>
            <a:off x="1828800" y="1828800"/>
            <a:ext cx="859536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400" i="1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Une phrase forte, une conviction, un manifeste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1828800" y="507492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1" name="Auteur"/>
          <p:cNvSpPr/>
          <p:nvPr>
            <p:ph idx="109" type="body" hasCustomPrompt="1"/>
          </p:nvPr>
        </p:nvSpPr>
        <p:spPr>
          <a:xfrm>
            <a:off x="1828800" y="5257800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89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A9A3B5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Graphique ou tableau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Graphique"/>
          <p:cNvSpPr/>
          <p:nvPr>
            <p:ph idx="108" type="body" hasCustomPrompt="1"/>
          </p:nvPr>
        </p:nvSpPr>
        <p:spPr>
          <a:xfrm>
            <a:off x="640080" y="2240280"/>
            <a:ext cx="7863840" cy="3794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 graphique, un tableau ou un schéma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8915400" y="2240280"/>
            <a:ext cx="2633472" cy="3794760"/>
          </a:xfrm>
          <a:prstGeom prst="rect">
            <a:avLst/>
          </a:prstGeom>
          <a:solidFill>
            <a:srgbClr val="EAE1D0"/>
          </a:solidFill>
          <a:ln w="12700">
            <a:solidFill>
              <a:srgbClr val="EAE1D0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8915400" y="2240280"/>
            <a:ext cx="54864" cy="3794760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Lecture"/>
          <p:cNvSpPr/>
          <p:nvPr>
            <p:ph idx="111" type="body" hasCustomPrompt="1"/>
          </p:nvPr>
        </p:nvSpPr>
        <p:spPr>
          <a:xfrm>
            <a:off x="9189720" y="2468880"/>
            <a:ext cx="2194560" cy="3383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dirty="0">
                <a:solidFill>
                  <a:srgbClr val="2623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À retenir : la lecture du graphique en trois points</a:t>
            </a:r>
            <a:endParaRPr lang="en-US" sz="1300" dirty="0"/>
          </a:p>
        </p:txBody>
      </p:sp>
      <p:sp>
        <p:nvSpPr>
          <p:cNvPr id="14" name="Source"/>
          <p:cNvSpPr/>
          <p:nvPr>
            <p:ph idx="112" type="body" hasCustomPrompt="1"/>
          </p:nvPr>
        </p:nvSpPr>
        <p:spPr>
          <a:xfrm>
            <a:off x="640080" y="6080760"/>
            <a:ext cx="786384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8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: à compléter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Équip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40080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1" name="Portrait 1"/>
          <p:cNvSpPr/>
          <p:nvPr>
            <p:ph type="pic" idx="109" hasCustomPrompt="1"/>
          </p:nvPr>
        </p:nvSpPr>
        <p:spPr>
          <a:xfrm>
            <a:off x="640080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640080" y="4709160"/>
            <a:ext cx="2487854" cy="54864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3" name="Nom 1"/>
          <p:cNvSpPr/>
          <p:nvPr>
            <p:ph idx="111" type="body" hasCustomPrompt="1"/>
          </p:nvPr>
        </p:nvSpPr>
        <p:spPr>
          <a:xfrm>
            <a:off x="640080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4" name="Rôle 1"/>
          <p:cNvSpPr/>
          <p:nvPr>
            <p:ph idx="112" type="body" hasCustomPrompt="1"/>
          </p:nvPr>
        </p:nvSpPr>
        <p:spPr>
          <a:xfrm>
            <a:off x="640080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3447974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16" name="Portrait 2"/>
          <p:cNvSpPr/>
          <p:nvPr>
            <p:ph type="pic" idx="114" hasCustomPrompt="1"/>
          </p:nvPr>
        </p:nvSpPr>
        <p:spPr>
          <a:xfrm>
            <a:off x="3447974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3447974" y="4709160"/>
            <a:ext cx="2487854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18" name="Nom 2"/>
          <p:cNvSpPr/>
          <p:nvPr>
            <p:ph idx="116" type="body" hasCustomPrompt="1"/>
          </p:nvPr>
        </p:nvSpPr>
        <p:spPr>
          <a:xfrm>
            <a:off x="3447974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19" name="Rôle 2"/>
          <p:cNvSpPr/>
          <p:nvPr>
            <p:ph idx="117" type="body" hasCustomPrompt="1"/>
          </p:nvPr>
        </p:nvSpPr>
        <p:spPr>
          <a:xfrm>
            <a:off x="3447974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0" name="Shape 10"/>
          <p:cNvSpPr/>
          <p:nvPr/>
        </p:nvSpPr>
        <p:spPr>
          <a:xfrm>
            <a:off x="6255868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1" name="Portrait 3"/>
          <p:cNvSpPr/>
          <p:nvPr>
            <p:ph type="pic" idx="119" hasCustomPrompt="1"/>
          </p:nvPr>
        </p:nvSpPr>
        <p:spPr>
          <a:xfrm>
            <a:off x="6255868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2" name="Shape 11"/>
          <p:cNvSpPr/>
          <p:nvPr/>
        </p:nvSpPr>
        <p:spPr>
          <a:xfrm>
            <a:off x="6255868" y="4709160"/>
            <a:ext cx="2487854" cy="54864"/>
          </a:xfrm>
          <a:prstGeom prst="rect">
            <a:avLst/>
          </a:prstGeom>
          <a:solidFill>
            <a:srgbClr val="8FA593"/>
          </a:solidFill>
          <a:ln w="12700">
            <a:solidFill>
              <a:srgbClr val="8FA593"/>
            </a:solidFill>
            <a:prstDash val="solid"/>
          </a:ln>
        </p:spPr>
      </p:sp>
      <p:sp>
        <p:nvSpPr>
          <p:cNvPr id="23" name="Nom 3"/>
          <p:cNvSpPr/>
          <p:nvPr>
            <p:ph idx="121" type="body" hasCustomPrompt="1"/>
          </p:nvPr>
        </p:nvSpPr>
        <p:spPr>
          <a:xfrm>
            <a:off x="6255868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4" name="Rôle 3"/>
          <p:cNvSpPr/>
          <p:nvPr>
            <p:ph idx="122" type="body" hasCustomPrompt="1"/>
          </p:nvPr>
        </p:nvSpPr>
        <p:spPr>
          <a:xfrm>
            <a:off x="6255868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5" name="Shape 12"/>
          <p:cNvSpPr/>
          <p:nvPr/>
        </p:nvSpPr>
        <p:spPr>
          <a:xfrm>
            <a:off x="9063761" y="2240280"/>
            <a:ext cx="2487854" cy="2468880"/>
          </a:xfrm>
          <a:prstGeom prst="rect">
            <a:avLst/>
          </a:prstGeom>
          <a:solidFill>
            <a:srgbClr val="DDD3C1"/>
          </a:solidFill>
          <a:ln w="12700">
            <a:solidFill>
              <a:srgbClr val="DDD3C1"/>
            </a:solidFill>
            <a:prstDash val="solid"/>
          </a:ln>
        </p:spPr>
      </p:sp>
      <p:sp>
        <p:nvSpPr>
          <p:cNvPr id="26" name="Portrait 4"/>
          <p:cNvSpPr/>
          <p:nvPr>
            <p:ph type="pic" idx="124" hasCustomPrompt="1"/>
          </p:nvPr>
        </p:nvSpPr>
        <p:spPr>
          <a:xfrm>
            <a:off x="9063761" y="2240280"/>
            <a:ext cx="2487854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1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Insérer une image</a:t>
            </a:r>
            <a:endParaRPr lang="en-US" sz="1100" dirty="0"/>
          </a:p>
        </p:txBody>
      </p:sp>
      <p:sp>
        <p:nvSpPr>
          <p:cNvPr id="27" name="Shape 13"/>
          <p:cNvSpPr/>
          <p:nvPr/>
        </p:nvSpPr>
        <p:spPr>
          <a:xfrm>
            <a:off x="9063761" y="4709160"/>
            <a:ext cx="2487854" cy="54864"/>
          </a:xfrm>
          <a:prstGeom prst="rect">
            <a:avLst/>
          </a:prstGeom>
          <a:solidFill>
            <a:srgbClr val="1E1B2E"/>
          </a:solidFill>
          <a:ln w="12700">
            <a:solidFill>
              <a:srgbClr val="1E1B2E"/>
            </a:solidFill>
            <a:prstDash val="solid"/>
          </a:ln>
        </p:spPr>
      </p:sp>
      <p:sp>
        <p:nvSpPr>
          <p:cNvPr id="28" name="Nom 4"/>
          <p:cNvSpPr/>
          <p:nvPr>
            <p:ph idx="126" type="body" hasCustomPrompt="1"/>
          </p:nvPr>
        </p:nvSpPr>
        <p:spPr>
          <a:xfrm>
            <a:off x="9063761" y="4892040"/>
            <a:ext cx="2487854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7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Prénom Nom</a:t>
            </a:r>
            <a:endParaRPr lang="en-US" sz="1700" dirty="0"/>
          </a:p>
        </p:txBody>
      </p:sp>
      <p:sp>
        <p:nvSpPr>
          <p:cNvPr id="29" name="Rôle 4"/>
          <p:cNvSpPr/>
          <p:nvPr>
            <p:ph idx="127" type="body" hasCustomPrompt="1"/>
          </p:nvPr>
        </p:nvSpPr>
        <p:spPr>
          <a:xfrm>
            <a:off x="9063761" y="5303520"/>
            <a:ext cx="2487854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Rôle et expertise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1015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Titre seul — zone libre">
    <p:bg>
      <p:bgPr>
        <a:solidFill>
          <a:srgbClr val="F4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91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1B2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11002975" y="356616"/>
            <a:ext cx="137160" cy="137160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08715" y="356616"/>
            <a:ext cx="137160" cy="137160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414455" y="356616"/>
            <a:ext cx="137160" cy="137160"/>
          </a:xfrm>
          <a:prstGeom prst="triangle">
            <a:avLst/>
          </a:prstGeom>
          <a:solidFill>
            <a:srgbClr val="1E1B2E"/>
          </a:solidFill>
          <a:ln>
            <a:solidFill>
              <a:srgbClr val="1E1B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40080" y="6382512"/>
            <a:ext cx="10911535" cy="0"/>
          </a:xfrm>
          <a:prstGeom prst="line">
            <a:avLst/>
          </a:prstGeom>
          <a:noFill/>
          <a:ln w="9525">
            <a:solidFill>
              <a:srgbClr val="D3C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6473952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6B66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Projet PopTables  ·  Document confidentiel</a:t>
            </a:r>
            <a:endParaRPr lang="en-US" sz="850" dirty="0"/>
          </a:p>
        </p:txBody>
      </p:sp>
      <p:sp>
        <p:nvSpPr>
          <p:cNvPr id="8" name="Surtitre"/>
          <p:cNvSpPr/>
          <p:nvPr>
            <p:ph idx="106" type="body" hasCustomPrompt="1"/>
          </p:nvPr>
        </p:nvSpPr>
        <p:spPr>
          <a:xfrm>
            <a:off x="64008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000" b="1" spc="300" kern="0" dirty="0">
                <a:solidFill>
                  <a:srgbClr val="C243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SURTITRE</a:t>
            </a:r>
            <a:endParaRPr lang="en-US" sz="1000" dirty="0"/>
          </a:p>
        </p:txBody>
      </p:sp>
      <p:sp>
        <p:nvSpPr>
          <p:cNvPr id="9" name="Titre"/>
          <p:cNvSpPr/>
          <p:nvPr>
            <p:ph idx="107" type="title" hasCustomPrompt="1"/>
          </p:nvPr>
        </p:nvSpPr>
        <p:spPr>
          <a:xfrm>
            <a:off x="640080" y="1234440"/>
            <a:ext cx="1091153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000" dirty="0">
                <a:solidFill>
                  <a:srgbClr val="1E1B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Cliquez pour ajouter un titre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1016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Clôture et contact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1668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3336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5005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6673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8341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50009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91677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33345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75014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6682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58350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00018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41686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83354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25023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66691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359" y="6216332"/>
            <a:ext cx="641668" cy="641668"/>
          </a:xfrm>
          <a:prstGeom prst="rect">
            <a:avLst/>
          </a:prstGeom>
          <a:solidFill>
            <a:srgbClr val="C2432B"/>
          </a:solidFill>
          <a:ln w="12700">
            <a:solidFill>
              <a:srgbClr val="C243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550027" y="6216332"/>
            <a:ext cx="641668" cy="641668"/>
          </a:xfrm>
          <a:prstGeom prst="rect">
            <a:avLst/>
          </a:prstGeom>
          <a:solidFill>
            <a:srgbClr val="F4EEE3"/>
          </a:solidFill>
          <a:ln w="12700">
            <a:solidFill>
              <a:srgbClr val="F4E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4EE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POPTABLES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1002975" y="603504"/>
            <a:ext cx="146304" cy="14630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22431" y="603504"/>
            <a:ext cx="146304" cy="146304"/>
          </a:xfrm>
          <a:prstGeom prst="ellipse">
            <a:avLst/>
          </a:prstGeom>
          <a:solidFill>
            <a:srgbClr val="C2432B"/>
          </a:solidFill>
          <a:ln>
            <a:solidFill>
              <a:srgbClr val="C243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441887" y="603504"/>
            <a:ext cx="146304" cy="146304"/>
          </a:xfrm>
          <a:prstGeom prst="triangle">
            <a:avLst/>
          </a:prstGeom>
          <a:solidFill>
            <a:srgbClr val="8FA593"/>
          </a:solidFill>
          <a:ln>
            <a:solidFill>
              <a:srgbClr val="8FA59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itre"/>
          <p:cNvSpPr/>
          <p:nvPr>
            <p:ph idx="123" type="title" hasCustomPrompt="1"/>
          </p:nvPr>
        </p:nvSpPr>
        <p:spPr>
          <a:xfrm>
            <a:off x="640080" y="1737360"/>
            <a:ext cx="8229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400" dirty="0">
                <a:solidFill>
                  <a:srgbClr val="F4EEE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Merci</a:t>
            </a:r>
            <a:endParaRPr lang="en-US" sz="6400" dirty="0"/>
          </a:p>
        </p:txBody>
      </p:sp>
      <p:sp>
        <p:nvSpPr>
          <p:cNvPr id="26" name="Shape 23"/>
          <p:cNvSpPr/>
          <p:nvPr/>
        </p:nvSpPr>
        <p:spPr>
          <a:xfrm>
            <a:off x="640080" y="3429000"/>
            <a:ext cx="731520" cy="54864"/>
          </a:xfrm>
          <a:prstGeom prst="rect">
            <a:avLst/>
          </a:prstGeom>
          <a:solidFill>
            <a:srgbClr val="C8963A"/>
          </a:solidFill>
          <a:ln w="12700">
            <a:solidFill>
              <a:srgbClr val="C8963A"/>
            </a:solidFill>
            <a:prstDash val="solid"/>
          </a:ln>
        </p:spPr>
      </p:sp>
      <p:sp>
        <p:nvSpPr>
          <p:cNvPr id="27" name="Contact"/>
          <p:cNvSpPr/>
          <p:nvPr>
            <p:ph idx="125" type="body" hasCustomPrompt="1"/>
          </p:nvPr>
        </p:nvSpPr>
        <p:spPr>
          <a:xfrm>
            <a:off x="640080" y="365760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Nom · fonction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9D2E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adresse@poptables.com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55664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6670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6"/>
          </p:nvPr>
        </p:nvSpPr>
        <p:spPr/>
        <p:txBody>
          <a:bodyPr/>
          <a:lstStyle/>
          <a:p>
            <a:r>
              <a:t>PLAN COMMERCIAL B2B · ANNÉES 1 À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7"/>
          </p:nvPr>
        </p:nvSpPr>
        <p:spPr/>
        <p:txBody>
          <a:bodyPr/>
          <a:lstStyle/>
          <a:p>
            <a:r>
              <a:t>De la plage de débarquement à la conquête de l'Europe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" y="182880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6670"/>
                </a:solidFill>
                <a:latin typeface="Montserrat"/>
              </a:rPr>
              <a:t>Trois profils clients, trois propositions de valeur, les bons KOL pour convertir l'influence en croissance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40280"/>
            <a:ext cx="640080" cy="54864"/>
          </a:xfrm>
          <a:prstGeom prst="rect">
            <a:avLst/>
          </a:prstGeom>
          <a:solidFill>
            <a:srgbClr val="C24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4198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2432B"/>
                </a:solidFill>
                <a:latin typeface="Montserrat"/>
              </a:rPr>
              <a:t>01   </a:t>
            </a:r>
            <a:r>
              <a:rPr sz="950" b="1" i="0">
                <a:solidFill>
                  <a:srgbClr val="26232F"/>
                </a:solidFill>
                <a:latin typeface="Montserrat"/>
              </a:rPr>
              <a:t>MON POTENTIEL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419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2432B"/>
                </a:solidFill>
                <a:latin typeface="Playfair Display"/>
              </a:rPr>
              <a:t>≈ 1 300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670"/>
                </a:solidFill>
                <a:latin typeface="Montserrat"/>
              </a:rPr>
              <a:t>cibles B2B à Paris, par catégorie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9976" y="2240280"/>
            <a:ext cx="640080" cy="54864"/>
          </a:xfrm>
          <a:prstGeom prst="rect">
            <a:avLst/>
          </a:prstGeom>
          <a:solidFill>
            <a:srgbClr val="C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2377440"/>
            <a:ext cx="34198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8963A"/>
                </a:solidFill>
                <a:latin typeface="Montserrat"/>
              </a:rPr>
              <a:t>02   </a:t>
            </a:r>
            <a:r>
              <a:rPr sz="950" b="1" i="0">
                <a:solidFill>
                  <a:srgbClr val="26232F"/>
                </a:solidFill>
                <a:latin typeface="Montserrat"/>
              </a:rPr>
              <a:t>MA CIBLE DE TRANSFORMATION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9976" y="2651760"/>
            <a:ext cx="3419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C8963A"/>
                </a:solidFill>
                <a:latin typeface="Playfair Display"/>
              </a:rPr>
              <a:t>3 %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200400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670"/>
                </a:solidFill>
                <a:latin typeface="Montserrat"/>
              </a:rPr>
              <a:t>de mon potentiel transformé en événements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9016" y="2240280"/>
            <a:ext cx="640080" cy="54864"/>
          </a:xfrm>
          <a:prstGeom prst="rect">
            <a:avLst/>
          </a:prstGeom>
          <a:solidFill>
            <a:srgbClr val="8FA5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29016" y="2377440"/>
            <a:ext cx="34198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8FA593"/>
                </a:solidFill>
                <a:latin typeface="Montserrat"/>
              </a:rPr>
              <a:t>03   </a:t>
            </a:r>
            <a:r>
              <a:rPr sz="950" b="1" i="0">
                <a:solidFill>
                  <a:srgbClr val="26232F"/>
                </a:solidFill>
                <a:latin typeface="Montserrat"/>
              </a:rPr>
              <a:t>MON CHIFFRE D'AFFAIRES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9016" y="2651760"/>
            <a:ext cx="341985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8FA593"/>
                </a:solidFill>
                <a:latin typeface="Playfair Display"/>
              </a:rPr>
              <a:t>3,6 M€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9016" y="3200400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6670"/>
                </a:solidFill>
                <a:latin typeface="Montserrat"/>
              </a:rPr>
              <a:t>TTC en année 3, à 15 000 € par événement</a:t>
            </a:r>
          </a:p>
        </p:txBody>
      </p:sp>
      <p:sp>
        <p:nvSpPr>
          <p:cNvPr id="17" name="Chevron 16"/>
          <p:cNvSpPr/>
          <p:nvPr/>
        </p:nvSpPr>
        <p:spPr>
          <a:xfrm>
            <a:off x="4096512" y="4160520"/>
            <a:ext cx="201168" cy="365760"/>
          </a:xfrm>
          <a:prstGeom prst="chevron">
            <a:avLst/>
          </a:prstGeom>
          <a:solidFill>
            <a:srgbClr val="EAE1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7845552" y="4160520"/>
            <a:ext cx="201168" cy="365760"/>
          </a:xfrm>
          <a:prstGeom prst="chevron">
            <a:avLst/>
          </a:prstGeom>
          <a:solidFill>
            <a:srgbClr val="EAE1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40080" y="3520440"/>
          <a:ext cx="3419856" cy="2240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40080" y="5806440"/>
            <a:ext cx="34198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B6670"/>
                </a:solidFill>
                <a:latin typeface="Montserrat"/>
              </a:rPr>
              <a:t>* conseil, avocats d'affaires, Big Four, CSE de 1 000 salariés et plus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79976" y="5074920"/>
            <a:ext cx="1024128" cy="685800"/>
          </a:xfrm>
          <a:prstGeom prst="rect">
            <a:avLst/>
          </a:prstGeom>
          <a:solidFill>
            <a:srgbClr val="EAE1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6" y="5129783"/>
            <a:ext cx="1024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E1B2E"/>
                </a:solidFill>
                <a:latin typeface="Playfair Display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5532120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1E1B2E"/>
                </a:solidFill>
                <a:latin typeface="Montserrat"/>
              </a:rPr>
              <a:t>événements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4782312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8963A"/>
                </a:solidFill>
                <a:latin typeface="Montserrat"/>
              </a:rPr>
              <a:t>0,5 %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5806440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26232F"/>
                </a:solidFill>
                <a:latin typeface="Montserrat"/>
              </a:rPr>
              <a:t>Année 1</a:t>
            </a:r>
          </a:p>
          <a:p>
            <a:pPr algn="ctr"/>
            <a:r>
              <a:rPr sz="850" b="0" i="0">
                <a:solidFill>
                  <a:srgbClr val="6B6670"/>
                </a:solidFill>
                <a:latin typeface="Montserrat"/>
              </a:rPr>
              <a:t>Paris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4617720"/>
            <a:ext cx="1024128" cy="1143000"/>
          </a:xfrm>
          <a:prstGeom prst="rect">
            <a:avLst/>
          </a:prstGeom>
          <a:solidFill>
            <a:srgbClr val="DDC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4672583"/>
            <a:ext cx="1024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1E1B2E"/>
                </a:solidFill>
                <a:latin typeface="Playfair Display"/>
              </a:rPr>
              <a:t>120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5074920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1E1B2E"/>
                </a:solidFill>
                <a:latin typeface="Montserrat"/>
              </a:rPr>
              <a:t>événements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325112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8963A"/>
                </a:solidFill>
                <a:latin typeface="Montserrat"/>
              </a:rPr>
              <a:t>3,1 %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77840" y="5806440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26232F"/>
                </a:solidFill>
                <a:latin typeface="Montserrat"/>
              </a:rPr>
              <a:t>Année 2</a:t>
            </a:r>
          </a:p>
          <a:p>
            <a:pPr algn="ctr"/>
            <a:r>
              <a:rPr sz="850" b="0" i="0">
                <a:solidFill>
                  <a:srgbClr val="6B6670"/>
                </a:solidFill>
                <a:latin typeface="Montserrat"/>
              </a:rPr>
              <a:t>3 villes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75704" y="4160520"/>
            <a:ext cx="1024128" cy="1600200"/>
          </a:xfrm>
          <a:prstGeom prst="rect">
            <a:avLst/>
          </a:prstGeom>
          <a:solidFill>
            <a:srgbClr val="C89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75704" y="4215383"/>
            <a:ext cx="10241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4EEE3"/>
                </a:solidFill>
                <a:latin typeface="Playfair Display"/>
              </a:rPr>
              <a:t>240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4617720"/>
            <a:ext cx="10241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F4EEE3"/>
                </a:solidFill>
                <a:latin typeface="Montserrat"/>
              </a:rPr>
              <a:t>événements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75704" y="3867911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C8963A"/>
                </a:solidFill>
                <a:latin typeface="Montserrat"/>
              </a:rPr>
              <a:t>3,1 %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75704" y="5806440"/>
            <a:ext cx="10241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26232F"/>
                </a:solidFill>
                <a:latin typeface="Montserrat"/>
              </a:rPr>
              <a:t>Année 3</a:t>
            </a:r>
          </a:p>
          <a:p>
            <a:pPr algn="ctr"/>
            <a:r>
              <a:rPr sz="850" b="0" i="0">
                <a:solidFill>
                  <a:srgbClr val="6B6670"/>
                </a:solidFill>
                <a:latin typeface="Montserrat"/>
              </a:rPr>
              <a:t>6 villes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9976" y="3493008"/>
            <a:ext cx="34198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B6670"/>
                </a:solidFill>
                <a:latin typeface="Montserrat"/>
              </a:rPr>
              <a:t>Événements à vendre et part du potentiel transformée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8129016" y="3520440"/>
          <a:ext cx="3419856" cy="26060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640080" y="6144768"/>
            <a:ext cx="10881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B6670"/>
                </a:solidFill>
                <a:latin typeface="Montserrat"/>
              </a:rPr>
              <a:t>Sources : plan Finance (D-22 : 30 convives à 500 € TTC) ; fichiers Ventes du 28/10/2026. Hypothèse : chaque ville a le potentiel de Paris. Les prescripteurs (KOL) ne sont pas comptés dans le potentiel : ils aident à vendre.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layfai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PopTables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PopTables — Masque de présentation</dc:title>
  <dc:subject>PptxGenJS Presentation</dc:subject>
  <dc:creator>PopTables</dc:creator>
  <cp:lastModifiedBy>PopTables</cp:lastModifiedBy>
  <cp:revision>1</cp:revision>
  <dcterms:created xsi:type="dcterms:W3CDTF">2026-10-29T09:17:27Z</dcterms:created>
  <dcterms:modified xsi:type="dcterms:W3CDTF">2026-10-29T09:17:27Z</dcterms:modified>
</cp:coreProperties>
</file>