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age vie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uverture — avec photo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Photo de couverture"/>
          <p:cNvSpPr/>
          <p:nvPr>
            <p:ph type="pic" idx="101" hasCustomPrompt="1"/>
          </p:nvPr>
        </p:nvSpPr>
        <p:spPr>
          <a:xfrm>
            <a:off x="5120640" y="0"/>
            <a:ext cx="70710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960120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960120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78992" y="960120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000" dirty="0"/>
          </a:p>
        </p:txBody>
      </p:sp>
      <p:sp>
        <p:nvSpPr>
          <p:cNvPr id="10" name="Sous-titre"/>
          <p:cNvSpPr/>
          <p:nvPr>
            <p:ph idx="108" type="body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400" dirty="0"/>
          </a:p>
        </p:txBody>
      </p:sp>
      <p:sp>
        <p:nvSpPr>
          <p:cNvPr id="11" name="Date"/>
          <p:cNvSpPr/>
          <p:nvPr>
            <p:ph idx="109" type="body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uverture — typographiqu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97280"/>
            <a:ext cx="3840480" cy="38404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1645920" cy="1645920"/>
          </a:xfrm>
          <a:prstGeom prst="ellipse">
            <a:avLst/>
          </a:prstGeom>
          <a:solidFill>
            <a:srgbClr val="C8963A"/>
          </a:solidFill>
          <a:ln>
            <a:solidFill>
              <a:srgbClr val="C896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4EEE3"/>
          </a:solidFill>
          <a:ln>
            <a:solidFill>
              <a:srgbClr val="F4EE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0" y="1737360"/>
            <a:ext cx="914400" cy="201168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19" name="Titre"/>
          <p:cNvSpPr/>
          <p:nvPr>
            <p:ph idx="117" type="title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800" dirty="0"/>
          </a:p>
        </p:txBody>
      </p:sp>
      <p:sp>
        <p:nvSpPr>
          <p:cNvPr id="20" name="Sous-titre"/>
          <p:cNvSpPr/>
          <p:nvPr>
            <p:ph idx="118" type="body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500" dirty="0"/>
          </a:p>
        </p:txBody>
      </p:sp>
      <p:sp>
        <p:nvSpPr>
          <p:cNvPr id="21" name="Date"/>
          <p:cNvSpPr/>
          <p:nvPr>
            <p:ph idx="119" type="body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Sommai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4206240" cy="512064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ommaire"/>
          <p:cNvSpPr/>
          <p:nvPr>
            <p:ph idx="109" type="body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du texte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ntercalaire de section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1535" y="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1615" y="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11535" y="6400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51615" y="6400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1535" y="12801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12801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11535" y="19202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51615" y="19202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1535" y="25603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1615" y="25603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1535" y="32004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51615" y="32004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1535" y="38404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1615" y="38404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11535" y="44805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51615" y="44805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11535" y="51206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51615" y="51206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11535" y="57607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51615" y="57607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11535" y="64008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51615" y="64008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8" name="Numéro"/>
          <p:cNvSpPr/>
          <p:nvPr>
            <p:ph idx="126" type="body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29" name="Shape 26"/>
          <p:cNvSpPr/>
          <p:nvPr/>
        </p:nvSpPr>
        <p:spPr>
          <a:xfrm>
            <a:off x="640080" y="329184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30" name="Titre"/>
          <p:cNvSpPr/>
          <p:nvPr>
            <p:ph idx="128" type="title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section</a:t>
            </a:r>
            <a:endParaRPr lang="en-US" sz="4000" dirty="0"/>
          </a:p>
        </p:txBody>
      </p:sp>
      <p:sp>
        <p:nvSpPr>
          <p:cNvPr id="31" name="Sous-titre"/>
          <p:cNvSpPr/>
          <p:nvPr>
            <p:ph idx="129" type="body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pour annoncer la section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itr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44000" y="2606040"/>
            <a:ext cx="36576" cy="3474720"/>
          </a:xfrm>
          <a:prstGeom prst="rect">
            <a:avLst/>
          </a:prstGeom>
          <a:solidFill>
            <a:srgbClr val="D3C8B5"/>
          </a:solidFill>
          <a:ln w="12700">
            <a:solidFill>
              <a:srgbClr val="D3C8B5"/>
            </a:solidFill>
            <a:prstDash val="solid"/>
          </a:ln>
        </p:spPr>
      </p:sp>
      <p:sp>
        <p:nvSpPr>
          <p:cNvPr id="12" name="Encadré"/>
          <p:cNvSpPr/>
          <p:nvPr>
            <p:ph idx="110" type="body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Message clé ou chiffre à retenir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Deux colonn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5257800" cy="4572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9360" y="2560320"/>
            <a:ext cx="5257800" cy="4572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2" name="Intertitre gauche"/>
          <p:cNvSpPr/>
          <p:nvPr>
            <p:ph idx="110" type="body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3" name="Intertitre droite"/>
          <p:cNvSpPr/>
          <p:nvPr>
            <p:ph idx="111" type="body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4" name="Texte gauche"/>
          <p:cNvSpPr/>
          <p:nvPr>
            <p:ph idx="112" type="body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5" name="Texte droite"/>
          <p:cNvSpPr/>
          <p:nvPr>
            <p:ph idx="113" type="body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exte et image à droi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6492240" y="0"/>
            <a:ext cx="56994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5" name="Surtitre"/>
          <p:cNvSpPr/>
          <p:nvPr>
            <p:ph idx="103" type="body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6" name="Titre"/>
          <p:cNvSpPr/>
          <p:nvPr>
            <p:ph idx="104" type="title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7" name="Shape 2"/>
          <p:cNvSpPr/>
          <p:nvPr/>
        </p:nvSpPr>
        <p:spPr>
          <a:xfrm>
            <a:off x="64008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Texte"/>
          <p:cNvSpPr/>
          <p:nvPr>
            <p:ph idx="106" type="body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640080" y="6382512"/>
            <a:ext cx="5303520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4008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 à gauch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urtitre"/>
          <p:cNvSpPr/>
          <p:nvPr>
            <p:ph idx="105" type="body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8" name="Titre"/>
          <p:cNvSpPr/>
          <p:nvPr>
            <p:ph idx="106" type="title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630936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309360" y="6382512"/>
            <a:ext cx="524225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309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Grande image et légend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9204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12191695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4892040"/>
            <a:ext cx="12191695" cy="6400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itre"/>
          <p:cNvSpPr/>
          <p:nvPr>
            <p:ph idx="103" type="title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ou citation courte</a:t>
            </a:r>
            <a:endParaRPr lang="en-US" sz="2600" dirty="0"/>
          </a:p>
        </p:txBody>
      </p:sp>
      <p:sp>
        <p:nvSpPr>
          <p:cNvPr id="6" name="Légende"/>
          <p:cNvSpPr/>
          <p:nvPr>
            <p:ph idx="104" type="body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 de l’image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rois visuels et légend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Image 1"/>
          <p:cNvSpPr/>
          <p:nvPr>
            <p:ph type="pic" idx="109" hasCustomPrompt="1"/>
          </p:nvPr>
        </p:nvSpPr>
        <p:spPr>
          <a:xfrm>
            <a:off x="640080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3423818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Intertitre 1"/>
          <p:cNvSpPr/>
          <p:nvPr>
            <p:ph idx="111" type="body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4" name="Texte 1"/>
          <p:cNvSpPr/>
          <p:nvPr>
            <p:ph idx="112" type="body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Image 2"/>
          <p:cNvSpPr/>
          <p:nvPr>
            <p:ph type="pic" idx="114" hasCustomPrompt="1"/>
          </p:nvPr>
        </p:nvSpPr>
        <p:spPr>
          <a:xfrm>
            <a:off x="4383938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3938" y="4480560"/>
            <a:ext cx="3423818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Intertitre 2"/>
          <p:cNvSpPr/>
          <p:nvPr>
            <p:ph idx="116" type="body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9" name="Texte 2"/>
          <p:cNvSpPr/>
          <p:nvPr>
            <p:ph idx="117" type="body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Image 3"/>
          <p:cNvSpPr/>
          <p:nvPr>
            <p:ph type="pic" idx="119" hasCustomPrompt="1"/>
          </p:nvPr>
        </p:nvSpPr>
        <p:spPr>
          <a:xfrm>
            <a:off x="8127797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8127797" y="4480560"/>
            <a:ext cx="3423818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Intertitre 3"/>
          <p:cNvSpPr/>
          <p:nvPr>
            <p:ph idx="121" type="body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24" name="Texte 3"/>
          <p:cNvSpPr/>
          <p:nvPr>
            <p:ph idx="122" type="body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hiffres clé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651760"/>
            <a:ext cx="3423818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Chiffre 1"/>
          <p:cNvSpPr/>
          <p:nvPr>
            <p:ph idx="110" type="body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3" name="Libellé 1"/>
          <p:cNvSpPr/>
          <p:nvPr>
            <p:ph idx="111" type="body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4" name="Commentaire 1"/>
          <p:cNvSpPr/>
          <p:nvPr>
            <p:ph idx="112" type="body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383938" y="2651760"/>
            <a:ext cx="3423818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7" name="Chiffre 2"/>
          <p:cNvSpPr/>
          <p:nvPr>
            <p:ph idx="115" type="body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8" name="Libellé 2"/>
          <p:cNvSpPr/>
          <p:nvPr>
            <p:ph idx="116" type="body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9" name="Commentaire 2"/>
          <p:cNvSpPr/>
          <p:nvPr>
            <p:ph idx="117" type="body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8127797" y="2651760"/>
            <a:ext cx="3423818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2" name="Chiffre 3"/>
          <p:cNvSpPr/>
          <p:nvPr>
            <p:ph idx="120" type="body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23" name="Libellé 3"/>
          <p:cNvSpPr/>
          <p:nvPr>
            <p:ph idx="121" type="body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24" name="Commentaire 3"/>
          <p:cNvSpPr/>
          <p:nvPr>
            <p:ph idx="122" type="body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itation ou manifest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4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5AF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777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9" name="Citation"/>
          <p:cNvSpPr/>
          <p:nvPr>
            <p:ph idx="107" type="body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phrase forte, une conviction, un manifeste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828800" y="507492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1" name="Auteur"/>
          <p:cNvSpPr/>
          <p:nvPr>
            <p:ph idx="109" type="body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aphique ou tableau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Graphique"/>
          <p:cNvSpPr/>
          <p:nvPr>
            <p:ph idx="108" type="body" hasCustomPrompt="1"/>
          </p:nvPr>
        </p:nvSpPr>
        <p:spPr>
          <a:xfrm>
            <a:off x="640080" y="2240280"/>
            <a:ext cx="7863840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 graphique, un tableau ou un schéma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915400" y="2240280"/>
            <a:ext cx="2633472" cy="379476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915400" y="2240280"/>
            <a:ext cx="54864" cy="379476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Lecture"/>
          <p:cNvSpPr/>
          <p:nvPr>
            <p:ph idx="111" type="body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la lecture du graphique en trois points</a:t>
            </a:r>
            <a:endParaRPr lang="en-US" sz="1300" dirty="0"/>
          </a:p>
        </p:txBody>
      </p:sp>
      <p:sp>
        <p:nvSpPr>
          <p:cNvPr id="14" name="Source"/>
          <p:cNvSpPr/>
          <p:nvPr>
            <p:ph idx="112" type="body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à compléter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Équip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Portrait 1"/>
          <p:cNvSpPr/>
          <p:nvPr>
            <p:ph type="pic"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2487854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Nom 1"/>
          <p:cNvSpPr/>
          <p:nvPr>
            <p:ph idx="111" type="body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4" name="Rôle 1"/>
          <p:cNvSpPr/>
          <p:nvPr>
            <p:ph idx="112" type="body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447974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Portrait 2"/>
          <p:cNvSpPr/>
          <p:nvPr>
            <p:ph type="pic"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3447974" y="4709160"/>
            <a:ext cx="2487854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Nom 2"/>
          <p:cNvSpPr/>
          <p:nvPr>
            <p:ph idx="116" type="body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9" name="Rôle 2"/>
          <p:cNvSpPr/>
          <p:nvPr>
            <p:ph idx="117" type="body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6255868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Portrait 3"/>
          <p:cNvSpPr/>
          <p:nvPr>
            <p:ph type="pic"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6255868" y="4709160"/>
            <a:ext cx="2487854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Nom 3"/>
          <p:cNvSpPr/>
          <p:nvPr>
            <p:ph idx="121" type="body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4" name="Rôle 3"/>
          <p:cNvSpPr/>
          <p:nvPr>
            <p:ph idx="122" type="body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9063761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6" name="Portrait 4"/>
          <p:cNvSpPr/>
          <p:nvPr>
            <p:ph type="pic"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7" name="Shape 13"/>
          <p:cNvSpPr/>
          <p:nvPr/>
        </p:nvSpPr>
        <p:spPr>
          <a:xfrm>
            <a:off x="9063761" y="4709160"/>
            <a:ext cx="2487854" cy="54864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8" name="Nom 4"/>
          <p:cNvSpPr/>
          <p:nvPr>
            <p:ph idx="126" type="body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9" name="Rôle 4"/>
          <p:cNvSpPr/>
          <p:nvPr>
            <p:ph idx="127" type="body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itre seul — zone lib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lôture et contact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1668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3336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005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6673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8341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0009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1677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3345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5014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6682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8350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0018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1686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83354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5023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66691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359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50027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02975" y="603504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22431" y="603504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41887" y="603504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itre"/>
          <p:cNvSpPr/>
          <p:nvPr>
            <p:ph idx="123" type="title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26" name="Shape 23"/>
          <p:cNvSpPr/>
          <p:nvPr/>
        </p:nvSpPr>
        <p:spPr>
          <a:xfrm>
            <a:off x="640080" y="342900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7" name="Contact"/>
          <p:cNvSpPr/>
          <p:nvPr>
            <p:ph idx="125" type="body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adresse@poptables.com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rPr sz="1000" b="1" i="0">
                <a:solidFill>
                  <a:srgbClr val="C2432B"/>
                </a:solidFill>
                <a:latin typeface="Montserrat"/>
              </a:rPr>
              <a:t>OPÉRATIONS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/>
          <a:lstStyle/>
          <a:p>
            <a:r>
              <a:rPr sz="2600" b="0" i="0">
                <a:solidFill>
                  <a:srgbClr val="1E1B2E"/>
                </a:solidFill>
                <a:latin typeface="Playfair Display"/>
              </a:rPr>
              <a:t>Chaque soirée est unique ; sa production est un process écrit et reproductible</a:t>
            </a:r>
          </a:p>
        </p:txBody>
      </p:sp>
      <p:sp>
        <p:nvSpPr>
          <p:cNvPr id="4" name="Filet maillon 1"/>
          <p:cNvSpPr/>
          <p:nvPr/>
        </p:nvSpPr>
        <p:spPr>
          <a:xfrm>
            <a:off x="640080" y="2286000"/>
            <a:ext cx="1704289" cy="54864"/>
          </a:xfrm>
          <a:prstGeom prst="rect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re maillon 1"/>
          <p:cNvSpPr txBox="1"/>
          <p:nvPr/>
        </p:nvSpPr>
        <p:spPr>
          <a:xfrm>
            <a:off x="640080" y="2404872"/>
            <a:ext cx="170428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Drop en ligne</a:t>
            </a:r>
          </a:p>
        </p:txBody>
      </p:sp>
      <p:sp>
        <p:nvSpPr>
          <p:cNvPr id="6" name="Texte maillon 1"/>
          <p:cNvSpPr txBox="1"/>
          <p:nvPr/>
        </p:nvSpPr>
        <p:spPr>
          <a:xfrm>
            <a:off x="640080" y="2752344"/>
            <a:ext cx="170428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Salle vendue d’avance ; prix connu à la réservation</a:t>
            </a:r>
          </a:p>
        </p:txBody>
      </p:sp>
      <p:sp>
        <p:nvSpPr>
          <p:cNvPr id="7" name="Filet maillon 2"/>
          <p:cNvSpPr/>
          <p:nvPr/>
        </p:nvSpPr>
        <p:spPr>
          <a:xfrm>
            <a:off x="2481529" y="2286000"/>
            <a:ext cx="1704289" cy="54864"/>
          </a:xfrm>
          <a:prstGeom prst="rect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re maillon 2"/>
          <p:cNvSpPr txBox="1"/>
          <p:nvPr/>
        </p:nvSpPr>
        <p:spPr>
          <a:xfrm>
            <a:off x="2481529" y="2404872"/>
            <a:ext cx="170428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Restaurant</a:t>
            </a:r>
          </a:p>
        </p:txBody>
      </p:sp>
      <p:sp>
        <p:nvSpPr>
          <p:cNvPr id="9" name="Texte maillon 2"/>
          <p:cNvSpPr txBox="1"/>
          <p:nvPr/>
        </p:nvSpPr>
        <p:spPr>
          <a:xfrm>
            <a:off x="2481529" y="2752344"/>
            <a:ext cx="170428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Salle louée le soir de fermeture ; état des lieux à l’entrée et à la sortie</a:t>
            </a:r>
          </a:p>
        </p:txBody>
      </p:sp>
      <p:sp>
        <p:nvSpPr>
          <p:cNvPr id="10" name="Filet maillon 3"/>
          <p:cNvSpPr/>
          <p:nvPr/>
        </p:nvSpPr>
        <p:spPr>
          <a:xfrm>
            <a:off x="4322978" y="2286000"/>
            <a:ext cx="1704289" cy="54864"/>
          </a:xfrm>
          <a:prstGeom prst="rect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re maillon 3"/>
          <p:cNvSpPr txBox="1"/>
          <p:nvPr/>
        </p:nvSpPr>
        <p:spPr>
          <a:xfrm>
            <a:off x="4322978" y="2404872"/>
            <a:ext cx="170428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Chef</a:t>
            </a:r>
          </a:p>
        </p:txBody>
      </p:sp>
      <p:sp>
        <p:nvSpPr>
          <p:cNvPr id="12" name="Texte maillon 3"/>
          <p:cNvSpPr txBox="1"/>
          <p:nvPr/>
        </p:nvSpPr>
        <p:spPr>
          <a:xfrm>
            <a:off x="4322978" y="2752344"/>
            <a:ext cx="170428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Contrat et cahier des charges : menu signature, pensé pour l’envoi</a:t>
            </a:r>
          </a:p>
        </p:txBody>
      </p:sp>
      <p:sp>
        <p:nvSpPr>
          <p:cNvPr id="13" name="Filet maillon 4"/>
          <p:cNvSpPr/>
          <p:nvPr/>
        </p:nvSpPr>
        <p:spPr>
          <a:xfrm>
            <a:off x="6164427" y="2286000"/>
            <a:ext cx="1704289" cy="54864"/>
          </a:xfrm>
          <a:prstGeom prst="rect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tre maillon 4"/>
          <p:cNvSpPr txBox="1"/>
          <p:nvPr/>
        </p:nvSpPr>
        <p:spPr>
          <a:xfrm>
            <a:off x="6164427" y="2404872"/>
            <a:ext cx="170428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Fournisseurs</a:t>
            </a:r>
          </a:p>
        </p:txBody>
      </p:sp>
      <p:sp>
        <p:nvSpPr>
          <p:cNvPr id="15" name="Texte maillon 4"/>
          <p:cNvSpPr txBox="1"/>
          <p:nvPr/>
        </p:nvSpPr>
        <p:spPr>
          <a:xfrm>
            <a:off x="6164427" y="2752344"/>
            <a:ext cx="170428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Un titulaire et un secours par famille ; nous commandons et traçons</a:t>
            </a:r>
          </a:p>
        </p:txBody>
      </p:sp>
      <p:sp>
        <p:nvSpPr>
          <p:cNvPr id="16" name="Filet maillon 5"/>
          <p:cNvSpPr/>
          <p:nvPr/>
        </p:nvSpPr>
        <p:spPr>
          <a:xfrm>
            <a:off x="8005876" y="2286000"/>
            <a:ext cx="1704289" cy="54864"/>
          </a:xfrm>
          <a:prstGeom prst="rect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re maillon 5"/>
          <p:cNvSpPr txBox="1"/>
          <p:nvPr/>
        </p:nvSpPr>
        <p:spPr>
          <a:xfrm>
            <a:off x="8005876" y="2404872"/>
            <a:ext cx="170428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AdVini</a:t>
            </a:r>
          </a:p>
        </p:txBody>
      </p:sp>
      <p:sp>
        <p:nvSpPr>
          <p:cNvPr id="18" name="Texte maillon 5"/>
          <p:cNvSpPr txBox="1"/>
          <p:nvPr/>
        </p:nvSpPr>
        <p:spPr>
          <a:xfrm>
            <a:off x="8005876" y="2752344"/>
            <a:ext cx="170428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Wine maker dinner à chaque soirée ; vins vendus sous notre licence</a:t>
            </a:r>
          </a:p>
        </p:txBody>
      </p:sp>
      <p:sp>
        <p:nvSpPr>
          <p:cNvPr id="19" name="Filet maillon 6"/>
          <p:cNvSpPr/>
          <p:nvPr/>
        </p:nvSpPr>
        <p:spPr>
          <a:xfrm>
            <a:off x="9847325" y="2286000"/>
            <a:ext cx="1704289" cy="54864"/>
          </a:xfrm>
          <a:prstGeom prst="rect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tre maillon 6"/>
          <p:cNvSpPr txBox="1"/>
          <p:nvPr/>
        </p:nvSpPr>
        <p:spPr>
          <a:xfrm>
            <a:off x="9847325" y="2404872"/>
            <a:ext cx="170428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Staff</a:t>
            </a:r>
          </a:p>
        </p:txBody>
      </p:sp>
      <p:sp>
        <p:nvSpPr>
          <p:cNvPr id="21" name="Texte maillon 6"/>
          <p:cNvSpPr txBox="1"/>
          <p:nvPr/>
        </p:nvSpPr>
        <p:spPr>
          <a:xfrm>
            <a:off x="9847325" y="2752344"/>
            <a:ext cx="170428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Extras d’agences spécialisées, toujours les mêmes quand c’est possible</a:t>
            </a:r>
          </a:p>
        </p:txBody>
      </p:sp>
      <p:sp>
        <p:nvSpPr>
          <p:cNvPr id="22" name="Encadré valeur"/>
          <p:cNvSpPr/>
          <p:nvPr/>
        </p:nvSpPr>
        <p:spPr>
          <a:xfrm>
            <a:off x="640080" y="3611880"/>
            <a:ext cx="10911535" cy="1188720"/>
          </a:xfrm>
          <a:prstGeom prst="rect">
            <a:avLst/>
          </a:prstGeom>
          <a:solidFill>
            <a:srgbClr val="EAE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ilet encadré"/>
          <p:cNvSpPr/>
          <p:nvPr/>
        </p:nvSpPr>
        <p:spPr>
          <a:xfrm>
            <a:off x="640080" y="3611880"/>
            <a:ext cx="73152" cy="1188720"/>
          </a:xfrm>
          <a:prstGeom prst="rect">
            <a:avLst/>
          </a:prstGeom>
          <a:solidFill>
            <a:srgbClr val="C2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iffre rétroplanning"/>
          <p:cNvSpPr txBox="1"/>
          <p:nvPr/>
        </p:nvSpPr>
        <p:spPr>
          <a:xfrm>
            <a:off x="960120" y="374904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C2432B"/>
                </a:solidFill>
                <a:latin typeface="Playfair Display"/>
              </a:rPr>
              <a:t>1</a:t>
            </a:r>
          </a:p>
        </p:txBody>
      </p:sp>
      <p:sp>
        <p:nvSpPr>
          <p:cNvPr id="25" name="Légende rétroplanning"/>
          <p:cNvSpPr txBox="1"/>
          <p:nvPr/>
        </p:nvSpPr>
        <p:spPr>
          <a:xfrm>
            <a:off x="960120" y="43891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rétroplanning, de S-12 à J+7</a:t>
            </a:r>
          </a:p>
        </p:txBody>
      </p:sp>
      <p:sp>
        <p:nvSpPr>
          <p:cNvPr id="26" name="Chiffre process"/>
          <p:cNvSpPr txBox="1"/>
          <p:nvPr/>
        </p:nvSpPr>
        <p:spPr>
          <a:xfrm>
            <a:off x="3017520" y="374904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C2432B"/>
                </a:solidFill>
                <a:latin typeface="Playfair Display"/>
              </a:rPr>
              <a:t>10</a:t>
            </a:r>
          </a:p>
        </p:txBody>
      </p:sp>
      <p:sp>
        <p:nvSpPr>
          <p:cNvPr id="27" name="Légende process"/>
          <p:cNvSpPr txBox="1"/>
          <p:nvPr/>
        </p:nvSpPr>
        <p:spPr>
          <a:xfrm>
            <a:off x="3017520" y="43891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26232F"/>
                </a:solidFill>
                <a:latin typeface="Montserrat"/>
              </a:rPr>
              <a:t>process, de PR-01 à PR-10</a:t>
            </a:r>
          </a:p>
        </p:txBody>
      </p:sp>
      <p:sp>
        <p:nvSpPr>
          <p:cNvPr id="28" name="Séparateur"/>
          <p:cNvSpPr/>
          <p:nvPr/>
        </p:nvSpPr>
        <p:spPr>
          <a:xfrm>
            <a:off x="5303520" y="3840480"/>
            <a:ext cx="9144" cy="731520"/>
          </a:xfrm>
          <a:prstGeom prst="rect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essage valeur"/>
          <p:cNvSpPr txBox="1"/>
          <p:nvPr/>
        </p:nvSpPr>
        <p:spPr>
          <a:xfrm>
            <a:off x="5623560" y="3794760"/>
            <a:ext cx="56080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0" i="0">
                <a:solidFill>
                  <a:srgbClr val="1E1B2E"/>
                </a:solidFill>
                <a:latin typeface="Playfair Display"/>
              </a:rPr>
              <a:t>C’est là que réside la valeur de Pop Tables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26232F"/>
                </a:solidFill>
                <a:latin typeface="Montserrat"/>
              </a:rPr>
              <a:t>Chaque étape d’une soirée est déjà processée, de la qualification du lieu au bilan. C’est ce qui permet d’ouvrir une ville sans les fondateurs.</a:t>
            </a:r>
          </a:p>
        </p:txBody>
      </p:sp>
      <p:cxnSp>
        <p:nvCxnSpPr>
          <p:cNvPr id="30" name="Frise 1"/>
          <p:cNvCxnSpPr/>
          <p:nvPr/>
        </p:nvCxnSpPr>
        <p:spPr>
          <a:xfrm>
            <a:off x="640080" y="5029200"/>
            <a:ext cx="2625013" cy="0"/>
          </a:xfrm>
          <a:prstGeom prst="line">
            <a:avLst/>
          </a:prstGeom>
          <a:ln w="19050">
            <a:solidFill>
              <a:srgbClr val="C89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Jalon 1"/>
          <p:cNvSpPr/>
          <p:nvPr/>
        </p:nvSpPr>
        <p:spPr>
          <a:xfrm>
            <a:off x="640080" y="4974336"/>
            <a:ext cx="109728" cy="109728"/>
          </a:xfrm>
          <a:prstGeom prst="ellipse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te 1"/>
          <p:cNvSpPr txBox="1"/>
          <p:nvPr/>
        </p:nvSpPr>
        <p:spPr>
          <a:xfrm>
            <a:off x="640080" y="5148072"/>
            <a:ext cx="262501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C8963A"/>
                </a:solidFill>
                <a:latin typeface="Montserrat"/>
              </a:rPr>
              <a:t>ANNÉE 1</a:t>
            </a:r>
          </a:p>
        </p:txBody>
      </p:sp>
      <p:sp>
        <p:nvSpPr>
          <p:cNvPr id="33" name="Étape 1"/>
          <p:cNvSpPr txBox="1"/>
          <p:nvPr/>
        </p:nvSpPr>
        <p:spPr>
          <a:xfrm>
            <a:off x="640080" y="5340096"/>
            <a:ext cx="262501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Paris</a:t>
            </a:r>
          </a:p>
        </p:txBody>
      </p:sp>
      <p:sp>
        <p:nvSpPr>
          <p:cNvPr id="34" name="Détail 1"/>
          <p:cNvSpPr txBox="1"/>
          <p:nvPr/>
        </p:nvSpPr>
        <p:spPr>
          <a:xfrm>
            <a:off x="640080" y="5632704"/>
            <a:ext cx="262501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6B6670"/>
                </a:solidFill>
                <a:latin typeface="Montserrat"/>
              </a:rPr>
              <a:t>On valide le modèle</a:t>
            </a:r>
          </a:p>
        </p:txBody>
      </p:sp>
      <p:cxnSp>
        <p:nvCxnSpPr>
          <p:cNvPr id="35" name="Frise 2"/>
          <p:cNvCxnSpPr/>
          <p:nvPr/>
        </p:nvCxnSpPr>
        <p:spPr>
          <a:xfrm>
            <a:off x="3402253" y="5029200"/>
            <a:ext cx="2625013" cy="0"/>
          </a:xfrm>
          <a:prstGeom prst="line">
            <a:avLst/>
          </a:prstGeom>
          <a:ln w="19050">
            <a:solidFill>
              <a:srgbClr val="C89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Jalon 2"/>
          <p:cNvSpPr/>
          <p:nvPr/>
        </p:nvSpPr>
        <p:spPr>
          <a:xfrm>
            <a:off x="3402253" y="4974336"/>
            <a:ext cx="109728" cy="109728"/>
          </a:xfrm>
          <a:prstGeom prst="ellipse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te 2"/>
          <p:cNvSpPr txBox="1"/>
          <p:nvPr/>
        </p:nvSpPr>
        <p:spPr>
          <a:xfrm>
            <a:off x="3402253" y="5148072"/>
            <a:ext cx="262501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C8963A"/>
                </a:solidFill>
                <a:latin typeface="Montserrat"/>
              </a:rPr>
              <a:t>FIN 2027</a:t>
            </a:r>
          </a:p>
        </p:txBody>
      </p:sp>
      <p:sp>
        <p:nvSpPr>
          <p:cNvPr id="38" name="Étape 2"/>
          <p:cNvSpPr txBox="1"/>
          <p:nvPr/>
        </p:nvSpPr>
        <p:spPr>
          <a:xfrm>
            <a:off x="3402253" y="5340096"/>
            <a:ext cx="262501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3 villes</a:t>
            </a:r>
          </a:p>
        </p:txBody>
      </p:sp>
      <p:sp>
        <p:nvSpPr>
          <p:cNvPr id="39" name="Détail 2"/>
          <p:cNvSpPr txBox="1"/>
          <p:nvPr/>
        </p:nvSpPr>
        <p:spPr>
          <a:xfrm>
            <a:off x="3402253" y="5632704"/>
            <a:ext cx="262501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6B6670"/>
                </a:solidFill>
                <a:latin typeface="Montserrat"/>
              </a:rPr>
              <a:t>2 nouvelles villes en France</a:t>
            </a:r>
          </a:p>
        </p:txBody>
      </p:sp>
      <p:cxnSp>
        <p:nvCxnSpPr>
          <p:cNvPr id="40" name="Frise 3"/>
          <p:cNvCxnSpPr/>
          <p:nvPr/>
        </p:nvCxnSpPr>
        <p:spPr>
          <a:xfrm>
            <a:off x="6164426" y="5029200"/>
            <a:ext cx="2625013" cy="0"/>
          </a:xfrm>
          <a:prstGeom prst="line">
            <a:avLst/>
          </a:prstGeom>
          <a:ln w="19050">
            <a:solidFill>
              <a:srgbClr val="C89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Jalon 3"/>
          <p:cNvSpPr/>
          <p:nvPr/>
        </p:nvSpPr>
        <p:spPr>
          <a:xfrm>
            <a:off x="6164426" y="4974336"/>
            <a:ext cx="109728" cy="109728"/>
          </a:xfrm>
          <a:prstGeom prst="ellipse">
            <a:avLst/>
          </a:prstGeom>
          <a:solidFill>
            <a:srgbClr val="C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te 3"/>
          <p:cNvSpPr txBox="1"/>
          <p:nvPr/>
        </p:nvSpPr>
        <p:spPr>
          <a:xfrm>
            <a:off x="6164426" y="5148072"/>
            <a:ext cx="262501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C8963A"/>
                </a:solidFill>
                <a:latin typeface="Montserrat"/>
              </a:rPr>
              <a:t>FIN 2028</a:t>
            </a:r>
          </a:p>
        </p:txBody>
      </p:sp>
      <p:sp>
        <p:nvSpPr>
          <p:cNvPr id="43" name="Étape 3"/>
          <p:cNvSpPr txBox="1"/>
          <p:nvPr/>
        </p:nvSpPr>
        <p:spPr>
          <a:xfrm>
            <a:off x="6164426" y="5340096"/>
            <a:ext cx="262501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6 villes</a:t>
            </a:r>
          </a:p>
        </p:txBody>
      </p:sp>
      <p:sp>
        <p:nvSpPr>
          <p:cNvPr id="44" name="Détail 3"/>
          <p:cNvSpPr txBox="1"/>
          <p:nvPr/>
        </p:nvSpPr>
        <p:spPr>
          <a:xfrm>
            <a:off x="6164426" y="5632704"/>
            <a:ext cx="262501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6B6670"/>
                </a:solidFill>
                <a:latin typeface="Montserrat"/>
              </a:rPr>
              <a:t>3 villes à l’étranger</a:t>
            </a:r>
          </a:p>
        </p:txBody>
      </p:sp>
      <p:cxnSp>
        <p:nvCxnSpPr>
          <p:cNvPr id="45" name="Frise 4"/>
          <p:cNvCxnSpPr/>
          <p:nvPr/>
        </p:nvCxnSpPr>
        <p:spPr>
          <a:xfrm>
            <a:off x="8926599" y="5029200"/>
            <a:ext cx="2625013" cy="0"/>
          </a:xfrm>
          <a:prstGeom prst="line">
            <a:avLst/>
          </a:prstGeom>
          <a:ln w="19050">
            <a:solidFill>
              <a:srgbClr val="C243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Jalon 4"/>
          <p:cNvSpPr/>
          <p:nvPr/>
        </p:nvSpPr>
        <p:spPr>
          <a:xfrm>
            <a:off x="8926599" y="4974336"/>
            <a:ext cx="109728" cy="109728"/>
          </a:xfrm>
          <a:prstGeom prst="ellipse">
            <a:avLst/>
          </a:prstGeom>
          <a:solidFill>
            <a:srgbClr val="C2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te 4"/>
          <p:cNvSpPr txBox="1"/>
          <p:nvPr/>
        </p:nvSpPr>
        <p:spPr>
          <a:xfrm>
            <a:off x="8926599" y="5148072"/>
            <a:ext cx="262501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C2432B"/>
                </a:solidFill>
                <a:latin typeface="Montserrat"/>
              </a:rPr>
              <a:t>HORIZON PROBABLE</a:t>
            </a:r>
          </a:p>
        </p:txBody>
      </p:sp>
      <p:sp>
        <p:nvSpPr>
          <p:cNvPr id="48" name="Étape 4"/>
          <p:cNvSpPr txBox="1"/>
          <p:nvPr/>
        </p:nvSpPr>
        <p:spPr>
          <a:xfrm>
            <a:off x="8926599" y="5340096"/>
            <a:ext cx="262501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E1B2E"/>
                </a:solidFill>
                <a:latin typeface="Playfair Display"/>
              </a:rPr>
              <a:t>Revente ou franchise</a:t>
            </a:r>
          </a:p>
        </p:txBody>
      </p:sp>
      <p:sp>
        <p:nvSpPr>
          <p:cNvPr id="49" name="Détail 4"/>
          <p:cNvSpPr txBox="1"/>
          <p:nvPr/>
        </p:nvSpPr>
        <p:spPr>
          <a:xfrm>
            <a:off x="8926599" y="5632704"/>
            <a:ext cx="262501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6B6670"/>
                </a:solidFill>
                <a:latin typeface="Montserrat"/>
              </a:rPr>
              <a:t>Un concept transmissible</a:t>
            </a:r>
          </a:p>
        </p:txBody>
      </p:sp>
      <p:sp>
        <p:nvSpPr>
          <p:cNvPr id="50" name="Sources"/>
          <p:cNvSpPr txBox="1"/>
          <p:nvPr/>
        </p:nvSpPr>
        <p:spPr>
          <a:xfrm>
            <a:off x="640080" y="6172200"/>
            <a:ext cx="109115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6B6670"/>
                </a:solidFill>
                <a:latin typeface="Montserrat"/>
              </a:rPr>
              <a:t>Sources : Opérations, fiches process PR-01 à PR-10 et rétroplanning type (29/10/2026) ; Direction, décision D-25 (villes). Revente ou franchise : horizon visé, non décidé.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PopTables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PopTables — Masque de présentation</dc:title>
  <dc:subject>PptxGenJS Presentation</dc:subject>
  <dc:creator>PopTables</dc:creator>
  <cp:lastModifiedBy>PopTables</cp:lastModifiedBy>
  <cp:revision>1</cp:revision>
  <dcterms:created xsi:type="dcterms:W3CDTF">2026-10-29T09:17:27Z</dcterms:created>
  <dcterms:modified xsi:type="dcterms:W3CDTF">2026-10-29T09:17:27Z</dcterms:modified>
</cp:coreProperties>
</file>