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1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: les risques d'une soirée sont identifiés, et chacun a une réponse prévue. Si l'on demande où nous en sommes : les garanties d'assurance sont définies et budgétées (2 % du chiffre d'affaires) et seront souscrites dès l'immatriculation, avant toute soirée. Les contrats types (21 modèles) sont rédigés et en relecture par un avocat ; aucun chef ni restaurant n'est annoncé sans contrat signé. La licence vin et champagne sera déclarée avant l'ouverture de la première pré-vente, après la formation au permis d'exploitation. Principal risque juridique : la vente d'alcool et la sécurité alimentaire, d'où notre licence propre, le plan sanitaire et une assurance qui les couvre spécifiquement.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Photo de couverture"/>
          <p:cNvSpPr/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/>
          <p:nvPr>
            <p:ph idx="108" type="body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/>
          <p:nvPr>
            <p:ph idx="109" type="body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/>
          <p:nvPr>
            <p:ph idx="117" type="title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/>
          <p:nvPr>
            <p:ph idx="118" type="body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/>
          <p:nvPr>
            <p:ph idx="119" type="body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ommaire"/>
          <p:cNvSpPr/>
          <p:nvPr>
            <p:ph idx="109" type="body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8" name="Numéro"/>
          <p:cNvSpPr/>
          <p:nvPr>
            <p:ph idx="126" type="body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30" name="Titre"/>
          <p:cNvSpPr/>
          <p:nvPr>
            <p:ph idx="128" type="title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/>
          <p:nvPr>
            <p:ph idx="129" type="body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</p:sp>
      <p:sp>
        <p:nvSpPr>
          <p:cNvPr id="12" name="Encadré"/>
          <p:cNvSpPr/>
          <p:nvPr>
            <p:ph idx="110" type="body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2" name="Intertitre gauche"/>
          <p:cNvSpPr/>
          <p:nvPr>
            <p:ph idx="110" type="body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/>
          <p:nvPr>
            <p:ph idx="111" type="body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/>
          <p:nvPr>
            <p:ph idx="112" type="body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/>
          <p:nvPr>
            <p:ph idx="113" type="body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/>
          <p:nvPr>
            <p:ph idx="103" type="body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/>
          <p:nvPr>
            <p:ph idx="104" type="title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Texte"/>
          <p:cNvSpPr/>
          <p:nvPr>
            <p:ph idx="106" type="body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urtitre"/>
          <p:cNvSpPr/>
          <p:nvPr>
            <p:ph idx="105" type="body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/>
          <p:nvPr>
            <p:ph idx="106" type="title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itre"/>
          <p:cNvSpPr/>
          <p:nvPr>
            <p:ph idx="103" type="title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/>
          <p:nvPr>
            <p:ph idx="104" type="body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Image 1"/>
          <p:cNvSpPr/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Intertitre 1"/>
          <p:cNvSpPr/>
          <p:nvPr>
            <p:ph idx="111" type="body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/>
          <p:nvPr>
            <p:ph idx="112" type="body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Image 2"/>
          <p:cNvSpPr/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Intertitre 2"/>
          <p:cNvSpPr/>
          <p:nvPr>
            <p:ph idx="116" type="body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/>
          <p:nvPr>
            <p:ph idx="117" type="body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Image 3"/>
          <p:cNvSpPr/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Intertitre 3"/>
          <p:cNvSpPr/>
          <p:nvPr>
            <p:ph idx="121" type="body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/>
          <p:nvPr>
            <p:ph idx="122" type="body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Chiffre 1"/>
          <p:cNvSpPr/>
          <p:nvPr>
            <p:ph idx="110" type="body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/>
          <p:nvPr>
            <p:ph idx="111" type="body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/>
          <p:nvPr>
            <p:ph idx="112" type="body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7" name="Chiffre 2"/>
          <p:cNvSpPr/>
          <p:nvPr>
            <p:ph idx="115" type="body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/>
          <p:nvPr>
            <p:ph idx="116" type="body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/>
          <p:nvPr>
            <p:ph idx="117" type="body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2" name="Chiffre 3"/>
          <p:cNvSpPr/>
          <p:nvPr>
            <p:ph idx="120" type="body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/>
          <p:nvPr>
            <p:ph idx="121" type="body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/>
          <p:nvPr>
            <p:ph idx="122" type="body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/>
          <p:nvPr>
            <p:ph idx="107" type="body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Auteur"/>
          <p:cNvSpPr/>
          <p:nvPr>
            <p:ph idx="109" type="body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/>
          <p:nvPr>
            <p:ph idx="108" type="body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Lecture"/>
          <p:cNvSpPr/>
          <p:nvPr>
            <p:ph idx="111" type="body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/>
          <p:nvPr>
            <p:ph idx="112" type="body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Portrait 1"/>
          <p:cNvSpPr/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Nom 1"/>
          <p:cNvSpPr/>
          <p:nvPr>
            <p:ph idx="111" type="body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/>
          <p:nvPr>
            <p:ph idx="112" type="body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Portrait 2"/>
          <p:cNvSpPr/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Nom 2"/>
          <p:cNvSpPr/>
          <p:nvPr>
            <p:ph idx="116" type="body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/>
          <p:nvPr>
            <p:ph idx="117" type="body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Portrait 3"/>
          <p:cNvSpPr/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Nom 3"/>
          <p:cNvSpPr/>
          <p:nvPr>
            <p:ph idx="121" type="body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/>
          <p:nvPr>
            <p:ph idx="122" type="body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6" name="Portrait 4"/>
          <p:cNvSpPr/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8" name="Nom 4"/>
          <p:cNvSpPr/>
          <p:nvPr>
            <p:ph idx="126" type="body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/>
          <p:nvPr>
            <p:ph idx="127" type="body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itre"/>
          <p:cNvSpPr/>
          <p:nvPr>
            <p:ph idx="123" type="title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7" name="Contact"/>
          <p:cNvSpPr/>
          <p:nvPr>
            <p:ph idx="125" type="body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MAÎTRISE DES RISQUES</a:t>
            </a:r>
            <a:endParaRPr lang="en-US" sz="1000" dirty="0"/>
          </a:p>
        </p:txBody>
      </p:sp>
      <p:sp>
        <p:nvSpPr>
          <p:cNvPr id="3" name="Text 6"/>
          <p:cNvSpPr/>
          <p:nvPr>
            <p:ph idx="107" type="title" hasCustomPrompt="1"/>
          </p:nvPr>
        </p:nvSpPr>
        <p:spPr>
          <a:xfrm>
            <a:off x="640080" y="12344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exécution premium, encadrée par le contrat, l’assurance et des professionnels</a:t>
            </a:r>
            <a:endParaRPr lang="en-US" sz="2800" dirty="0"/>
          </a:p>
        </p:txBody>
      </p:sp>
      <p:sp>
        <p:nvSpPr>
          <p:cNvPr id="11" name="Filet 1"/>
          <p:cNvSpPr/>
          <p:nvPr/>
        </p:nvSpPr>
        <p:spPr>
          <a:xfrm>
            <a:off x="640080" y="2359152"/>
            <a:ext cx="2555748" cy="73152"/>
          </a:xfrm>
          <a:prstGeom prst="rect">
            <a:avLst/>
          </a:prstGeom>
          <a:solidFill>
            <a:srgbClr val="C2432B"/>
          </a:solidFill>
          <a:ln>
            <a:noFill/>
          </a:ln>
        </p:spPr>
      </p:sp>
      <p:sp>
        <p:nvSpPr>
          <p:cNvPr id="12" name="Icône 1"/>
          <p:cNvSpPr txBox="1"/>
          <p:nvPr/>
        </p:nvSpPr>
        <p:spPr>
          <a:xfrm>
            <a:off x="640080" y="2560320"/>
            <a:ext cx="25557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2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🛡️</a:t>
            </a:r>
          </a:p>
        </p:txBody>
      </p:sp>
      <p:sp>
        <p:nvSpPr>
          <p:cNvPr id="13" name="Titre 1"/>
          <p:cNvSpPr txBox="1"/>
          <p:nvPr/>
        </p:nvSpPr>
        <p:spPr>
          <a:xfrm>
            <a:off x="640080" y="2999232"/>
            <a:ext cx="25557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Exécution assurée</a:t>
            </a:r>
          </a:p>
        </p:txBody>
      </p:sp>
      <p:sp>
        <p:nvSpPr>
          <p:cNvPr id="14" name="Texte 1"/>
          <p:cNvSpPr txBox="1"/>
          <p:nvPr/>
        </p:nvSpPr>
        <p:spPr>
          <a:xfrm>
            <a:off x="640080" y="3767328"/>
            <a:ext cx="2555748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25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assurance prévue pour chaque risque d’une soirée : intoxication alimentaire, vente d’alcool, dommages au restaurant prêté, annulation.</a:t>
            </a:r>
          </a:p>
        </p:txBody>
      </p:sp>
      <p:sp>
        <p:nvSpPr>
          <p:cNvPr id="15" name="Filet 2"/>
          <p:cNvSpPr/>
          <p:nvPr/>
        </p:nvSpPr>
        <p:spPr>
          <a:xfrm>
            <a:off x="3424428" y="2359152"/>
            <a:ext cx="2555748" cy="73152"/>
          </a:xfrm>
          <a:prstGeom prst="rect">
            <a:avLst/>
          </a:prstGeom>
          <a:solidFill>
            <a:srgbClr val="C8963A"/>
          </a:solidFill>
          <a:ln>
            <a:noFill/>
          </a:ln>
        </p:spPr>
      </p:sp>
      <p:sp>
        <p:nvSpPr>
          <p:cNvPr id="16" name="Icône 2"/>
          <p:cNvSpPr txBox="1"/>
          <p:nvPr/>
        </p:nvSpPr>
        <p:spPr>
          <a:xfrm>
            <a:off x="3424428" y="2560320"/>
            <a:ext cx="25557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2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👨‍🍳</a:t>
            </a:r>
          </a:p>
        </p:txBody>
      </p:sp>
      <p:sp>
        <p:nvSpPr>
          <p:cNvPr id="17" name="Titre 2"/>
          <p:cNvSpPr txBox="1"/>
          <p:nvPr/>
        </p:nvSpPr>
        <p:spPr>
          <a:xfrm>
            <a:off x="3424428" y="2999232"/>
            <a:ext cx="25557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 professionnels à chaque poste</a:t>
            </a:r>
          </a:p>
        </p:txBody>
      </p:sp>
      <p:sp>
        <p:nvSpPr>
          <p:cNvPr id="18" name="Texte 2"/>
          <p:cNvSpPr txBox="1"/>
          <p:nvPr/>
        </p:nvSpPr>
        <p:spPr>
          <a:xfrm>
            <a:off x="3424428" y="3767328"/>
            <a:ext cx="2555748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25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chefs confirmés, et une équipe de salle fournie par des agences spécialisées, qui sont l’employeur et garantissent le remplacement en cas d’absence.</a:t>
            </a:r>
          </a:p>
        </p:txBody>
      </p:sp>
      <p:sp>
        <p:nvSpPr>
          <p:cNvPr id="19" name="Filet 3"/>
          <p:cNvSpPr/>
          <p:nvPr/>
        </p:nvSpPr>
        <p:spPr>
          <a:xfrm>
            <a:off x="6208776" y="2359152"/>
            <a:ext cx="2555748" cy="73152"/>
          </a:xfrm>
          <a:prstGeom prst="rect">
            <a:avLst/>
          </a:prstGeom>
          <a:solidFill>
            <a:srgbClr val="8FA593"/>
          </a:solidFill>
          <a:ln>
            <a:noFill/>
          </a:ln>
        </p:spPr>
      </p:sp>
      <p:sp>
        <p:nvSpPr>
          <p:cNvPr id="20" name="Icône 3"/>
          <p:cNvSpPr txBox="1"/>
          <p:nvPr/>
        </p:nvSpPr>
        <p:spPr>
          <a:xfrm>
            <a:off x="6208776" y="2560320"/>
            <a:ext cx="25557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2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📜</a:t>
            </a:r>
          </a:p>
        </p:txBody>
      </p:sp>
      <p:sp>
        <p:nvSpPr>
          <p:cNvPr id="21" name="Titre 3"/>
          <p:cNvSpPr txBox="1"/>
          <p:nvPr/>
        </p:nvSpPr>
        <p:spPr>
          <a:xfrm>
            <a:off x="6208776" y="2999232"/>
            <a:ext cx="25557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 chefs engagés par contrat et par événement</a:t>
            </a:r>
          </a:p>
        </p:txBody>
      </p:sp>
      <p:sp>
        <p:nvSpPr>
          <p:cNvPr id="22" name="Texte 3"/>
          <p:cNvSpPr txBox="1"/>
          <p:nvPr/>
        </p:nvSpPr>
        <p:spPr>
          <a:xfrm>
            <a:off x="6208776" y="3767328"/>
            <a:ext cx="2555748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25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contrat est signé avant l’ouverture des ventes. Il interdit au chef de traiter directement avec nos restaurants ou nos clients. Il prévoit une pénalité en cas de non-disponibilité du chef.</a:t>
            </a:r>
          </a:p>
        </p:txBody>
      </p:sp>
      <p:sp>
        <p:nvSpPr>
          <p:cNvPr id="23" name="Filet 4"/>
          <p:cNvSpPr/>
          <p:nvPr/>
        </p:nvSpPr>
        <p:spPr>
          <a:xfrm>
            <a:off x="8993124" y="2359152"/>
            <a:ext cx="2555748" cy="73152"/>
          </a:xfrm>
          <a:prstGeom prst="rect">
            <a:avLst/>
          </a:prstGeom>
          <a:solidFill>
            <a:srgbClr val="1E1B2E"/>
          </a:solidFill>
          <a:ln>
            <a:noFill/>
          </a:ln>
        </p:spPr>
      </p:sp>
      <p:sp>
        <p:nvSpPr>
          <p:cNvPr id="24" name="Icône 4"/>
          <p:cNvSpPr txBox="1"/>
          <p:nvPr/>
        </p:nvSpPr>
        <p:spPr>
          <a:xfrm>
            <a:off x="8993124" y="2560320"/>
            <a:ext cx="25557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2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🍷</a:t>
            </a:r>
          </a:p>
        </p:txBody>
      </p:sp>
      <p:sp>
        <p:nvSpPr>
          <p:cNvPr id="25" name="Titre 4"/>
          <p:cNvSpPr txBox="1"/>
          <p:nvPr/>
        </p:nvSpPr>
        <p:spPr>
          <a:xfrm>
            <a:off x="8993124" y="2999232"/>
            <a:ext cx="25557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Notre propre licence et la sécurité alimentaire</a:t>
            </a:r>
          </a:p>
        </p:txBody>
      </p:sp>
      <p:sp>
        <p:nvSpPr>
          <p:cNvPr id="26" name="Texte 4"/>
          <p:cNvSpPr txBox="1"/>
          <p:nvPr/>
        </p:nvSpPr>
        <p:spPr>
          <a:xfrm>
            <a:off x="8993124" y="3767328"/>
            <a:ext cx="2555748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25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licence vin et champagne au nom de Pop Tables, et un plan sanitaire appliqué à chaque soirée.</a:t>
            </a:r>
          </a:p>
        </p:txBody>
      </p:sp>
      <p:sp>
        <p:nvSpPr>
          <p:cNvPr id="27" name="Conclusion"/>
          <p:cNvSpPr txBox="1"/>
          <p:nvPr/>
        </p:nvSpPr>
        <p:spPr>
          <a:xfrm>
            <a:off x="640080" y="5504688"/>
            <a:ext cx="10908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fr-FR" sz="1600" i="1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modèle juridique standardisé, reproductible dans chaque ville.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PopTables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PopTables — Masque de présentation</dc:title>
  <dc:subject>PptxGenJS Presentation</dc:subject>
  <dc:creator>PopTables</dc:creator>
  <cp:lastModifiedBy>PopTables</cp:lastModifiedBy>
  <cp:revision>1</cp:revision>
  <dcterms:created xsi:type="dcterms:W3CDTF">2026-10-29T09:17:27Z</dcterms:created>
  <dcterms:modified xsi:type="dcterms:W3CDTF">2026-10-29T09:17:27Z</dcterms:modified>
</cp:coreProperties>
</file>