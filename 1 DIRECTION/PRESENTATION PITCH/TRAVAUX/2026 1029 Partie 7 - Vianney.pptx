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Chiffre d'affaires</c:v>
                </c:pt>
              </c:strCache>
            </c:strRef>
          </c:tx>
          <c:spPr>
            <a:solidFill>
              <a:srgbClr val="1E1B2E"/>
            </a:solidFill>
            <a:ln w="25400">
              <a:noFill/>
            </a:ln>
            <a:effectLst/>
          </c:spPr>
          <c:invertIfNegative val="0"/>
          <c:dLbls>
            <c:numFmt formatCode="[&gt;=1000]#\ ##0;[&lt;=-1000]\-#\ ##0;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26232F"/>
                    </a:solidFill>
                    <a:latin typeface="Montserrat"/>
                    <a:ea typeface="Montserrat"/>
                    <a:cs typeface="Montserrat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Feuil1!$B$2:$B$4</c:f>
              <c:numCache>
                <c:formatCode>General</c:formatCode>
                <c:ptCount val="3"/>
                <c:pt idx="0">
                  <c:v>220</c:v>
                </c:pt>
                <c:pt idx="1">
                  <c:v>2069</c:v>
                </c:pt>
                <c:pt idx="2">
                  <c:v>4138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7-473B-914B-F34AACC78D50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Résultat d'exploitation</c:v>
                </c:pt>
              </c:strCache>
            </c:strRef>
          </c:tx>
          <c:spPr>
            <a:solidFill>
              <a:srgbClr val="C2432B"/>
            </a:solidFill>
            <a:ln w="25400">
              <a:noFill/>
            </a:ln>
            <a:effectLst/>
          </c:spPr>
          <c:invertIfNegative val="0"/>
          <c:dLbls>
            <c:numFmt formatCode="[&gt;=1000]#\ ##0;[&lt;=-1000]\-#\ ##0;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26232F"/>
                    </a:solidFill>
                    <a:latin typeface="Montserrat"/>
                    <a:ea typeface="Montserrat"/>
                    <a:cs typeface="Montserrat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Feuil1!$C$2:$C$4</c:f>
              <c:numCache>
                <c:formatCode>General</c:formatCode>
                <c:ptCount val="3"/>
                <c:pt idx="0">
                  <c:v>-36</c:v>
                </c:pt>
                <c:pt idx="1">
                  <c:v>392</c:v>
                </c:pt>
                <c:pt idx="2">
                  <c:v>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17-473B-914B-F34AACC78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991904368"/>
        <c:axId val="1951974064"/>
      </c:barChart>
      <c:catAx>
        <c:axId val="991904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rgbClr val="6B667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26232F"/>
                </a:solidFill>
                <a:latin typeface="Montserrat"/>
                <a:ea typeface="Montserrat"/>
                <a:cs typeface="Montserrat"/>
              </a:defRPr>
            </a:pPr>
            <a:endParaRPr lang="fr-FR"/>
          </a:p>
        </c:txPr>
        <c:crossAx val="1951974064"/>
        <c:crosses val="autoZero"/>
        <c:auto val="1"/>
        <c:lblAlgn val="ctr"/>
        <c:lblOffset val="100"/>
        <c:noMultiLvlLbl val="0"/>
      </c:catAx>
      <c:valAx>
        <c:axId val="1951974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2540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9190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6B6670"/>
              </a:solidFill>
              <a:latin typeface="Montserrat"/>
              <a:ea typeface="Montserrat"/>
              <a:cs typeface="Montserrat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5400"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91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Message : Pop Tables est rentable dès l'année 2 sans faire entrer d'investisseur au capital. Fonds : uniquement les 70 000 € de capital apportés à parts égales par les 7 fondateurs, dont 2 exécutifs ; ni prêt, ni subvention, ni levée. La trésorerie reste positive sur les 3 ans (point bas de +10 071 € en mars 2027). Croissance : 1 ville en année 1, 3 en année 2, 6 en année 3 ; la croissance vient des privatisations (40 par ville et par an), à confirmer par les Ventes. Valorisation : simple multiple, à présenter comme un ordre de grandeur.</a:t>
            </a:r>
          </a:p>
        </p:txBody>
      </p:sp>
    </p:spTree>
    <p:extLst>
      <p:ext uri="{BB962C8B-B14F-4D97-AF65-F5344CB8AC3E}">
        <p14:creationId xmlns:p14="http://schemas.microsoft.com/office/powerpoint/2010/main" val="261652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hoto de couverture"/>
          <p:cNvSpPr>
            <a:spLocks noGrp="1"/>
          </p:cNvSpPr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>
            <a:spLocks noGrp="1"/>
          </p:cNvSpPr>
          <p:nvPr>
            <p:ph type="body" idx="108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>
            <a:spLocks noGrp="1"/>
          </p:cNvSpPr>
          <p:nvPr>
            <p:ph type="body" idx="109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>
            <a:spLocks noGrp="1"/>
          </p:cNvSpPr>
          <p:nvPr>
            <p:ph type="title" idx="117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>
            <a:spLocks noGrp="1"/>
          </p:cNvSpPr>
          <p:nvPr>
            <p:ph type="body" idx="118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>
            <a:spLocks noGrp="1"/>
          </p:cNvSpPr>
          <p:nvPr>
            <p:ph type="body" idx="119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ommaire"/>
          <p:cNvSpPr>
            <a:spLocks noGrp="1"/>
          </p:cNvSpPr>
          <p:nvPr>
            <p:ph type="body" idx="109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Numéro"/>
          <p:cNvSpPr>
            <a:spLocks noGrp="1"/>
          </p:cNvSpPr>
          <p:nvPr>
            <p:ph type="body" idx="126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itre"/>
          <p:cNvSpPr>
            <a:spLocks noGrp="1"/>
          </p:cNvSpPr>
          <p:nvPr>
            <p:ph type="title" idx="128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>
            <a:spLocks noGrp="1"/>
          </p:cNvSpPr>
          <p:nvPr>
            <p:ph type="body" idx="129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Encadré"/>
          <p:cNvSpPr>
            <a:spLocks noGrp="1"/>
          </p:cNvSpPr>
          <p:nvPr>
            <p:ph type="body" idx="110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Intertitre gauche"/>
          <p:cNvSpPr>
            <a:spLocks noGrp="1"/>
          </p:cNvSpPr>
          <p:nvPr>
            <p:ph type="body" idx="110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>
            <a:spLocks noGrp="1"/>
          </p:cNvSpPr>
          <p:nvPr>
            <p:ph type="body" idx="111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>
            <a:spLocks noGrp="1"/>
          </p:cNvSpPr>
          <p:nvPr>
            <p:ph type="body" idx="112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>
            <a:spLocks noGrp="1"/>
          </p:cNvSpPr>
          <p:nvPr>
            <p:ph type="body" idx="113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>
            <a:spLocks noGrp="1"/>
          </p:cNvSpPr>
          <p:nvPr>
            <p:ph type="body" idx="103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>
            <a:spLocks noGrp="1"/>
          </p:cNvSpPr>
          <p:nvPr>
            <p:ph type="title" idx="104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e"/>
          <p:cNvSpPr>
            <a:spLocks noGrp="1"/>
          </p:cNvSpPr>
          <p:nvPr>
            <p:ph type="body" idx="106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urtitre"/>
          <p:cNvSpPr>
            <a:spLocks noGrp="1"/>
          </p:cNvSpPr>
          <p:nvPr>
            <p:ph type="body" idx="105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>
            <a:spLocks noGrp="1"/>
          </p:cNvSpPr>
          <p:nvPr>
            <p:ph type="title" idx="106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e"/>
          <p:cNvSpPr>
            <a:spLocks noGrp="1"/>
          </p:cNvSpPr>
          <p:nvPr>
            <p:ph type="body" idx="108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Image"/>
          <p:cNvSpPr>
            <a:spLocks noGrp="1"/>
          </p:cNvSpPr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itre"/>
          <p:cNvSpPr>
            <a:spLocks noGrp="1"/>
          </p:cNvSpPr>
          <p:nvPr>
            <p:ph type="title" idx="103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>
            <a:spLocks noGrp="1"/>
          </p:cNvSpPr>
          <p:nvPr>
            <p:ph type="body" idx="104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Image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Intertitre 1"/>
          <p:cNvSpPr>
            <a:spLocks noGrp="1"/>
          </p:cNvSpPr>
          <p:nvPr>
            <p:ph type="body" idx="111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>
            <a:spLocks noGrp="1"/>
          </p:cNvSpPr>
          <p:nvPr>
            <p:ph type="body" idx="112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Image 2"/>
          <p:cNvSpPr>
            <a:spLocks noGrp="1"/>
          </p:cNvSpPr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Intertitre 2"/>
          <p:cNvSpPr>
            <a:spLocks noGrp="1"/>
          </p:cNvSpPr>
          <p:nvPr>
            <p:ph type="body" idx="116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>
            <a:spLocks noGrp="1"/>
          </p:cNvSpPr>
          <p:nvPr>
            <p:ph type="body" idx="117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Image 3"/>
          <p:cNvSpPr>
            <a:spLocks noGrp="1"/>
          </p:cNvSpPr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Intertitre 3"/>
          <p:cNvSpPr>
            <a:spLocks noGrp="1"/>
          </p:cNvSpPr>
          <p:nvPr>
            <p:ph type="body" idx="121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>
            <a:spLocks noGrp="1"/>
          </p:cNvSpPr>
          <p:nvPr>
            <p:ph type="body" idx="122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Chiffre 1"/>
          <p:cNvSpPr>
            <a:spLocks noGrp="1"/>
          </p:cNvSpPr>
          <p:nvPr>
            <p:ph type="body" idx="110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>
            <a:spLocks noGrp="1"/>
          </p:cNvSpPr>
          <p:nvPr>
            <p:ph type="body" idx="111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>
            <a:spLocks noGrp="1"/>
          </p:cNvSpPr>
          <p:nvPr>
            <p:ph type="body" idx="112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Chiffre 2"/>
          <p:cNvSpPr>
            <a:spLocks noGrp="1"/>
          </p:cNvSpPr>
          <p:nvPr>
            <p:ph type="body" idx="115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>
            <a:spLocks noGrp="1"/>
          </p:cNvSpPr>
          <p:nvPr>
            <p:ph type="body" idx="116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>
            <a:spLocks noGrp="1"/>
          </p:cNvSpPr>
          <p:nvPr>
            <p:ph type="body" idx="117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Chiffre 3"/>
          <p:cNvSpPr>
            <a:spLocks noGrp="1"/>
          </p:cNvSpPr>
          <p:nvPr>
            <p:ph type="body" idx="120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>
            <a:spLocks noGrp="1"/>
          </p:cNvSpPr>
          <p:nvPr>
            <p:ph type="body" idx="121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b="1" kern="0" spc="2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>
            <a:spLocks noGrp="1"/>
          </p:cNvSpPr>
          <p:nvPr>
            <p:ph type="body" idx="122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>
            <a:spLocks noGrp="1"/>
          </p:cNvSpPr>
          <p:nvPr>
            <p:ph type="body" idx="107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eur"/>
          <p:cNvSpPr>
            <a:spLocks noGrp="1"/>
          </p:cNvSpPr>
          <p:nvPr>
            <p:ph type="body" idx="109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>
            <a:spLocks noGrp="1"/>
          </p:cNvSpPr>
          <p:nvPr>
            <p:ph type="body" idx="108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Lecture"/>
          <p:cNvSpPr>
            <a:spLocks noGrp="1"/>
          </p:cNvSpPr>
          <p:nvPr>
            <p:ph type="body" idx="111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>
            <a:spLocks noGrp="1"/>
          </p:cNvSpPr>
          <p:nvPr>
            <p:ph type="body" idx="112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Portrait 1"/>
          <p:cNvSpPr>
            <a:spLocks noGrp="1"/>
          </p:cNvSpPr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Nom 1"/>
          <p:cNvSpPr>
            <a:spLocks noGrp="1"/>
          </p:cNvSpPr>
          <p:nvPr>
            <p:ph type="body" idx="111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>
            <a:spLocks noGrp="1"/>
          </p:cNvSpPr>
          <p:nvPr>
            <p:ph type="body" idx="112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Portrait 2"/>
          <p:cNvSpPr>
            <a:spLocks noGrp="1"/>
          </p:cNvSpPr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Nom 2"/>
          <p:cNvSpPr>
            <a:spLocks noGrp="1"/>
          </p:cNvSpPr>
          <p:nvPr>
            <p:ph type="body" idx="116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>
            <a:spLocks noGrp="1"/>
          </p:cNvSpPr>
          <p:nvPr>
            <p:ph type="body" idx="117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Portrait 3"/>
          <p:cNvSpPr>
            <a:spLocks noGrp="1"/>
          </p:cNvSpPr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Nom 3"/>
          <p:cNvSpPr>
            <a:spLocks noGrp="1"/>
          </p:cNvSpPr>
          <p:nvPr>
            <p:ph type="body" idx="121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>
            <a:spLocks noGrp="1"/>
          </p:cNvSpPr>
          <p:nvPr>
            <p:ph type="body" idx="122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Portrait 4"/>
          <p:cNvSpPr>
            <a:spLocks noGrp="1"/>
          </p:cNvSpPr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Nom 4"/>
          <p:cNvSpPr>
            <a:spLocks noGrp="1"/>
          </p:cNvSpPr>
          <p:nvPr>
            <p:ph type="body" idx="126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>
            <a:spLocks noGrp="1"/>
          </p:cNvSpPr>
          <p:nvPr>
            <p:ph type="body" idx="127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>
            <a:spLocks noGrp="1"/>
          </p:cNvSpPr>
          <p:nvPr>
            <p:ph type="body" idx="106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b="1" kern="0" spc="30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>
            <a:spLocks noGrp="1"/>
          </p:cNvSpPr>
          <p:nvPr>
            <p:ph type="title" idx="107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itre"/>
          <p:cNvSpPr>
            <a:spLocks noGrp="1"/>
          </p:cNvSpPr>
          <p:nvPr>
            <p:ph type="title" idx="123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Contact"/>
          <p:cNvSpPr>
            <a:spLocks noGrp="1"/>
          </p:cNvSpPr>
          <p:nvPr>
            <p:ph type="body" idx="125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F75B3A8-B821-CA1D-9A15-98D66CB1E40E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lIns="0"/>
          <a:lstStyle/>
          <a:p>
            <a:r>
              <a:rPr lang="fr-FR"/>
              <a:t>FINANCE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6A1926A-F0DE-7141-6000-4D806C19FDA0}"/>
              </a:ext>
            </a:extLst>
          </p:cNvPr>
          <p:cNvSpPr>
            <a:spLocks noGrp="1"/>
          </p:cNvSpPr>
          <p:nvPr>
            <p:ph type="title" idx="107"/>
          </p:nvPr>
        </p:nvSpPr>
        <p:spPr/>
        <p:txBody>
          <a:bodyPr lIns="0"/>
          <a:lstStyle/>
          <a:p>
            <a:r>
              <a:rPr lang="fr-FR"/>
              <a:t>Rentable dès l'année 2, sans investisseur au capital</a:t>
            </a:r>
          </a:p>
        </p:txBody>
      </p:sp>
      <p:sp>
        <p:nvSpPr>
          <p:cNvPr id="4" name="Filet fonds">
            <a:extLst>
              <a:ext uri="{FF2B5EF4-FFF2-40B4-BE49-F238E27FC236}">
                <a16:creationId xmlns:a16="http://schemas.microsoft.com/office/drawing/2014/main" id="{F8B4762E-C7FF-511A-27C6-8F863C09965D}"/>
              </a:ext>
            </a:extLst>
          </p:cNvPr>
          <p:cNvSpPr/>
          <p:nvPr/>
        </p:nvSpPr>
        <p:spPr>
          <a:xfrm>
            <a:off x="635000" y="2311400"/>
            <a:ext cx="3175000" cy="63500"/>
          </a:xfrm>
          <a:prstGeom prst="rect">
            <a:avLst/>
          </a:prstGeom>
          <a:solidFill>
            <a:srgbClr val="C243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itre fonds">
            <a:extLst>
              <a:ext uri="{FF2B5EF4-FFF2-40B4-BE49-F238E27FC236}">
                <a16:creationId xmlns:a16="http://schemas.microsoft.com/office/drawing/2014/main" id="{85691720-F44E-2D0A-C349-44F932BD6CB1}"/>
              </a:ext>
            </a:extLst>
          </p:cNvPr>
          <p:cNvSpPr txBox="1"/>
          <p:nvPr/>
        </p:nvSpPr>
        <p:spPr>
          <a:xfrm>
            <a:off x="635000" y="2489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>
                <a:solidFill>
                  <a:srgbClr val="26232F"/>
                </a:solidFill>
                <a:latin typeface="Playfair Display" panose="00000500000000000000" pitchFamily="2" charset="0"/>
              </a:rPr>
              <a:t>Origine des fonds</a:t>
            </a:r>
          </a:p>
        </p:txBody>
      </p:sp>
      <p:sp>
        <p:nvSpPr>
          <p:cNvPr id="6" name="Chiffre fonds">
            <a:extLst>
              <a:ext uri="{FF2B5EF4-FFF2-40B4-BE49-F238E27FC236}">
                <a16:creationId xmlns:a16="http://schemas.microsoft.com/office/drawing/2014/main" id="{5365B34C-238C-3422-86D7-B004AFD1BA0B}"/>
              </a:ext>
            </a:extLst>
          </p:cNvPr>
          <p:cNvSpPr txBox="1"/>
          <p:nvPr/>
        </p:nvSpPr>
        <p:spPr>
          <a:xfrm>
            <a:off x="635000" y="2895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4400">
                <a:solidFill>
                  <a:srgbClr val="C2432B"/>
                </a:solidFill>
                <a:latin typeface="Playfair Display" panose="00000500000000000000" pitchFamily="2" charset="0"/>
              </a:rPr>
              <a:t>70 000 €</a:t>
            </a:r>
          </a:p>
        </p:txBody>
      </p:sp>
      <p:sp>
        <p:nvSpPr>
          <p:cNvPr id="7" name="Libellé fonds">
            <a:extLst>
              <a:ext uri="{FF2B5EF4-FFF2-40B4-BE49-F238E27FC236}">
                <a16:creationId xmlns:a16="http://schemas.microsoft.com/office/drawing/2014/main" id="{A747878D-8F91-64ED-54D6-BEDBB322AB4A}"/>
              </a:ext>
            </a:extLst>
          </p:cNvPr>
          <p:cNvSpPr txBox="1"/>
          <p:nvPr/>
        </p:nvSpPr>
        <p:spPr>
          <a:xfrm>
            <a:off x="635000" y="3683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000" b="1">
                <a:solidFill>
                  <a:srgbClr val="26232F"/>
                </a:solidFill>
                <a:latin typeface="Montserrat" panose="00000500000000000000" pitchFamily="2" charset="0"/>
              </a:rPr>
              <a:t>APPORT DES 7 FONDATEURS</a:t>
            </a:r>
          </a:p>
        </p:txBody>
      </p:sp>
      <p:sp>
        <p:nvSpPr>
          <p:cNvPr id="8" name="Fondateur 1">
            <a:extLst>
              <a:ext uri="{FF2B5EF4-FFF2-40B4-BE49-F238E27FC236}">
                <a16:creationId xmlns:a16="http://schemas.microsoft.com/office/drawing/2014/main" id="{B016C1B2-0B19-0553-5E7B-5DB806AA3BB3}"/>
              </a:ext>
            </a:extLst>
          </p:cNvPr>
          <p:cNvSpPr/>
          <p:nvPr/>
        </p:nvSpPr>
        <p:spPr>
          <a:xfrm>
            <a:off x="635000" y="3987800"/>
            <a:ext cx="330200" cy="330200"/>
          </a:xfrm>
          <a:prstGeom prst="ellipse">
            <a:avLst/>
          </a:prstGeom>
          <a:solidFill>
            <a:srgbClr val="1E1B2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ndateur 2">
            <a:extLst>
              <a:ext uri="{FF2B5EF4-FFF2-40B4-BE49-F238E27FC236}">
                <a16:creationId xmlns:a16="http://schemas.microsoft.com/office/drawing/2014/main" id="{0C5D332C-0D83-FD2B-BDCD-F9FBF2237426}"/>
              </a:ext>
            </a:extLst>
          </p:cNvPr>
          <p:cNvSpPr/>
          <p:nvPr/>
        </p:nvSpPr>
        <p:spPr>
          <a:xfrm>
            <a:off x="1092200" y="3987800"/>
            <a:ext cx="330200" cy="330200"/>
          </a:xfrm>
          <a:prstGeom prst="ellipse">
            <a:avLst/>
          </a:prstGeom>
          <a:solidFill>
            <a:srgbClr val="1E1B2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ndateur 3">
            <a:extLst>
              <a:ext uri="{FF2B5EF4-FFF2-40B4-BE49-F238E27FC236}">
                <a16:creationId xmlns:a16="http://schemas.microsoft.com/office/drawing/2014/main" id="{9ED382BB-D24B-E5D2-21C2-0AC31A61C810}"/>
              </a:ext>
            </a:extLst>
          </p:cNvPr>
          <p:cNvSpPr/>
          <p:nvPr/>
        </p:nvSpPr>
        <p:spPr>
          <a:xfrm>
            <a:off x="1549400" y="3987800"/>
            <a:ext cx="330200" cy="330200"/>
          </a:xfrm>
          <a:prstGeom prst="ellipse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ondateur 4">
            <a:extLst>
              <a:ext uri="{FF2B5EF4-FFF2-40B4-BE49-F238E27FC236}">
                <a16:creationId xmlns:a16="http://schemas.microsoft.com/office/drawing/2014/main" id="{7E6262D4-23D1-D738-9ADB-C3193739316F}"/>
              </a:ext>
            </a:extLst>
          </p:cNvPr>
          <p:cNvSpPr/>
          <p:nvPr/>
        </p:nvSpPr>
        <p:spPr>
          <a:xfrm>
            <a:off x="2006600" y="3987800"/>
            <a:ext cx="330200" cy="330200"/>
          </a:xfrm>
          <a:prstGeom prst="ellipse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ondateur 5">
            <a:extLst>
              <a:ext uri="{FF2B5EF4-FFF2-40B4-BE49-F238E27FC236}">
                <a16:creationId xmlns:a16="http://schemas.microsoft.com/office/drawing/2014/main" id="{85745F52-1976-6F44-67C7-91121DD76C1A}"/>
              </a:ext>
            </a:extLst>
          </p:cNvPr>
          <p:cNvSpPr/>
          <p:nvPr/>
        </p:nvSpPr>
        <p:spPr>
          <a:xfrm>
            <a:off x="2463800" y="3987800"/>
            <a:ext cx="330200" cy="330200"/>
          </a:xfrm>
          <a:prstGeom prst="ellipse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ndateur 6">
            <a:extLst>
              <a:ext uri="{FF2B5EF4-FFF2-40B4-BE49-F238E27FC236}">
                <a16:creationId xmlns:a16="http://schemas.microsoft.com/office/drawing/2014/main" id="{4F78E439-89DF-2323-DADF-7EF1E24EF7DA}"/>
              </a:ext>
            </a:extLst>
          </p:cNvPr>
          <p:cNvSpPr/>
          <p:nvPr/>
        </p:nvSpPr>
        <p:spPr>
          <a:xfrm>
            <a:off x="2921000" y="3987800"/>
            <a:ext cx="330200" cy="330200"/>
          </a:xfrm>
          <a:prstGeom prst="ellipse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ndateur 7">
            <a:extLst>
              <a:ext uri="{FF2B5EF4-FFF2-40B4-BE49-F238E27FC236}">
                <a16:creationId xmlns:a16="http://schemas.microsoft.com/office/drawing/2014/main" id="{9CFE2377-F002-D803-95E3-84A4E930B9FC}"/>
              </a:ext>
            </a:extLst>
          </p:cNvPr>
          <p:cNvSpPr/>
          <p:nvPr/>
        </p:nvSpPr>
        <p:spPr>
          <a:xfrm>
            <a:off x="3378200" y="3987800"/>
            <a:ext cx="330200" cy="330200"/>
          </a:xfrm>
          <a:prstGeom prst="ellipse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Détail fondateurs">
            <a:extLst>
              <a:ext uri="{FF2B5EF4-FFF2-40B4-BE49-F238E27FC236}">
                <a16:creationId xmlns:a16="http://schemas.microsoft.com/office/drawing/2014/main" id="{EB82E893-BB69-004D-D471-FCA6CE413F4D}"/>
              </a:ext>
            </a:extLst>
          </p:cNvPr>
          <p:cNvSpPr txBox="1"/>
          <p:nvPr/>
        </p:nvSpPr>
        <p:spPr>
          <a:xfrm>
            <a:off x="635000" y="4419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000">
                <a:solidFill>
                  <a:srgbClr val="6B6670"/>
                </a:solidFill>
                <a:latin typeface="Montserrat" panose="00000500000000000000" pitchFamily="2" charset="0"/>
              </a:rPr>
              <a:t>10 000 € chacun · en foncé : 2 exécutifs</a:t>
            </a:r>
          </a:p>
        </p:txBody>
      </p:sp>
      <p:sp>
        <p:nvSpPr>
          <p:cNvPr id="16" name="Texte fonds">
            <a:extLst>
              <a:ext uri="{FF2B5EF4-FFF2-40B4-BE49-F238E27FC236}">
                <a16:creationId xmlns:a16="http://schemas.microsoft.com/office/drawing/2014/main" id="{2326B2C0-0CF4-8EE7-0C9D-F8DDD9C87201}"/>
              </a:ext>
            </a:extLst>
          </p:cNvPr>
          <p:cNvSpPr txBox="1"/>
          <p:nvPr/>
        </p:nvSpPr>
        <p:spPr>
          <a:xfrm>
            <a:off x="635000" y="4775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>
                <a:solidFill>
                  <a:srgbClr val="26232F"/>
                </a:solidFill>
                <a:latin typeface="Montserrat" panose="00000500000000000000" pitchFamily="2" charset="0"/>
              </a:rPr>
              <a:t>Capital initial de la SAS (D-26) : ni prêt, ni subvention, ni levée.</a:t>
            </a:r>
          </a:p>
        </p:txBody>
      </p:sp>
      <p:sp>
        <p:nvSpPr>
          <p:cNvPr id="17" name="Conclusion fonds">
            <a:extLst>
              <a:ext uri="{FF2B5EF4-FFF2-40B4-BE49-F238E27FC236}">
                <a16:creationId xmlns:a16="http://schemas.microsoft.com/office/drawing/2014/main" id="{697446B6-7C75-333A-A16E-BF367F81DCD1}"/>
              </a:ext>
            </a:extLst>
          </p:cNvPr>
          <p:cNvSpPr txBox="1"/>
          <p:nvPr/>
        </p:nvSpPr>
        <p:spPr>
          <a:xfrm>
            <a:off x="635000" y="5410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200" i="1">
                <a:solidFill>
                  <a:srgbClr val="C2432B"/>
                </a:solidFill>
                <a:latin typeface="Playfair Display" panose="00000500000000000000" pitchFamily="2" charset="0"/>
              </a:rPr>
              <a:t>Trésorerie jamais négative : point bas de +10 071 € en mars 2027.</a:t>
            </a:r>
          </a:p>
        </p:txBody>
      </p:sp>
      <p:sp>
        <p:nvSpPr>
          <p:cNvPr id="18" name="Filet CA">
            <a:extLst>
              <a:ext uri="{FF2B5EF4-FFF2-40B4-BE49-F238E27FC236}">
                <a16:creationId xmlns:a16="http://schemas.microsoft.com/office/drawing/2014/main" id="{F3034690-5F9A-48BE-9118-68284EC603F3}"/>
              </a:ext>
            </a:extLst>
          </p:cNvPr>
          <p:cNvSpPr/>
          <p:nvPr/>
        </p:nvSpPr>
        <p:spPr>
          <a:xfrm>
            <a:off x="4191000" y="2311400"/>
            <a:ext cx="4064000" cy="63500"/>
          </a:xfrm>
          <a:prstGeom prst="rect">
            <a:avLst/>
          </a:prstGeom>
          <a:solidFill>
            <a:srgbClr val="C896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itre CA">
            <a:extLst>
              <a:ext uri="{FF2B5EF4-FFF2-40B4-BE49-F238E27FC236}">
                <a16:creationId xmlns:a16="http://schemas.microsoft.com/office/drawing/2014/main" id="{51E37BE9-E789-A52F-9D79-DCF883714D51}"/>
              </a:ext>
            </a:extLst>
          </p:cNvPr>
          <p:cNvSpPr txBox="1"/>
          <p:nvPr/>
        </p:nvSpPr>
        <p:spPr>
          <a:xfrm>
            <a:off x="4191000" y="24892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>
                <a:solidFill>
                  <a:srgbClr val="26232F"/>
                </a:solidFill>
                <a:latin typeface="Playfair Display" panose="00000500000000000000" pitchFamily="2" charset="0"/>
              </a:rPr>
              <a:t>Chiffre d'affaires et résultat</a:t>
            </a:r>
          </a:p>
        </p:txBody>
      </p:sp>
      <p:sp>
        <p:nvSpPr>
          <p:cNvPr id="20" name="Unité CA">
            <a:extLst>
              <a:ext uri="{FF2B5EF4-FFF2-40B4-BE49-F238E27FC236}">
                <a16:creationId xmlns:a16="http://schemas.microsoft.com/office/drawing/2014/main" id="{DAD72023-5862-ABDD-B76F-CB620AF8BD9E}"/>
              </a:ext>
            </a:extLst>
          </p:cNvPr>
          <p:cNvSpPr txBox="1"/>
          <p:nvPr/>
        </p:nvSpPr>
        <p:spPr>
          <a:xfrm>
            <a:off x="4191000" y="2844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900">
                <a:solidFill>
                  <a:srgbClr val="6B6670"/>
                </a:solidFill>
                <a:latin typeface="Montserrat" panose="00000500000000000000" pitchFamily="2" charset="0"/>
              </a:rPr>
              <a:t>En milliers d'euros HT, par année (novembre à octobre)</a:t>
            </a:r>
          </a:p>
        </p:txBody>
      </p:sp>
      <p:graphicFrame>
        <p:nvGraphicFramePr>
          <p:cNvPr id="21" name="Graphique CA et résultat">
            <a:extLst>
              <a:ext uri="{FF2B5EF4-FFF2-40B4-BE49-F238E27FC236}">
                <a16:creationId xmlns:a16="http://schemas.microsoft.com/office/drawing/2014/main" id="{83E094AE-4A4B-0E73-4CCC-AE01718D99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0274932"/>
              </p:ext>
            </p:extLst>
          </p:nvPr>
        </p:nvGraphicFramePr>
        <p:xfrm>
          <a:off x="4191000" y="3048000"/>
          <a:ext cx="40640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Filet valorisation">
            <a:extLst>
              <a:ext uri="{FF2B5EF4-FFF2-40B4-BE49-F238E27FC236}">
                <a16:creationId xmlns:a16="http://schemas.microsoft.com/office/drawing/2014/main" id="{D67B713E-FC50-9AE2-7018-E46212FCF6A0}"/>
              </a:ext>
            </a:extLst>
          </p:cNvPr>
          <p:cNvSpPr/>
          <p:nvPr/>
        </p:nvSpPr>
        <p:spPr>
          <a:xfrm>
            <a:off x="8636000" y="2311400"/>
            <a:ext cx="2921000" cy="63500"/>
          </a:xfrm>
          <a:prstGeom prst="rect">
            <a:avLst/>
          </a:prstGeom>
          <a:solidFill>
            <a:srgbClr val="1E1B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itre valorisation">
            <a:extLst>
              <a:ext uri="{FF2B5EF4-FFF2-40B4-BE49-F238E27FC236}">
                <a16:creationId xmlns:a16="http://schemas.microsoft.com/office/drawing/2014/main" id="{3835040F-8A24-52CE-22EA-52478FAD59E0}"/>
              </a:ext>
            </a:extLst>
          </p:cNvPr>
          <p:cNvSpPr txBox="1"/>
          <p:nvPr/>
        </p:nvSpPr>
        <p:spPr>
          <a:xfrm>
            <a:off x="8636000" y="24892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>
                <a:solidFill>
                  <a:srgbClr val="26232F"/>
                </a:solidFill>
                <a:latin typeface="Playfair Display" panose="00000500000000000000" pitchFamily="2" charset="0"/>
              </a:rPr>
              <a:t>Valorisation à 3 ans</a:t>
            </a:r>
          </a:p>
        </p:txBody>
      </p:sp>
      <p:sp>
        <p:nvSpPr>
          <p:cNvPr id="24" name="Chiffre valorisation">
            <a:extLst>
              <a:ext uri="{FF2B5EF4-FFF2-40B4-BE49-F238E27FC236}">
                <a16:creationId xmlns:a16="http://schemas.microsoft.com/office/drawing/2014/main" id="{CE20197B-48D0-9A86-222C-B25E43CCDCE8}"/>
              </a:ext>
            </a:extLst>
          </p:cNvPr>
          <p:cNvSpPr txBox="1"/>
          <p:nvPr/>
        </p:nvSpPr>
        <p:spPr>
          <a:xfrm>
            <a:off x="8636000" y="2895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4800">
                <a:solidFill>
                  <a:srgbClr val="C2432B"/>
                </a:solidFill>
                <a:latin typeface="Playfair Display" panose="00000500000000000000" pitchFamily="2" charset="0"/>
              </a:rPr>
              <a:t>3 à 4 M€</a:t>
            </a:r>
          </a:p>
        </p:txBody>
      </p:sp>
      <p:sp>
        <p:nvSpPr>
          <p:cNvPr id="25" name="Libellé valorisation">
            <a:extLst>
              <a:ext uri="{FF2B5EF4-FFF2-40B4-BE49-F238E27FC236}">
                <a16:creationId xmlns:a16="http://schemas.microsoft.com/office/drawing/2014/main" id="{FC20E8F2-F8D7-3446-144D-B631735DACAB}"/>
              </a:ext>
            </a:extLst>
          </p:cNvPr>
          <p:cNvSpPr txBox="1"/>
          <p:nvPr/>
        </p:nvSpPr>
        <p:spPr>
          <a:xfrm>
            <a:off x="8636000" y="37846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000" b="1">
                <a:solidFill>
                  <a:srgbClr val="26232F"/>
                </a:solidFill>
                <a:latin typeface="Montserrat" panose="00000500000000000000" pitchFamily="2" charset="0"/>
              </a:rPr>
              <a:t>FIN D'ANNÉE 3 (OCTOBRE 2029)</a:t>
            </a:r>
          </a:p>
        </p:txBody>
      </p:sp>
      <p:sp>
        <p:nvSpPr>
          <p:cNvPr id="26" name="Commentaire valorisation">
            <a:extLst>
              <a:ext uri="{FF2B5EF4-FFF2-40B4-BE49-F238E27FC236}">
                <a16:creationId xmlns:a16="http://schemas.microsoft.com/office/drawing/2014/main" id="{7CFE6EA1-D349-E9A0-B498-BDE9FA66A103}"/>
              </a:ext>
            </a:extLst>
          </p:cNvPr>
          <p:cNvSpPr txBox="1"/>
          <p:nvPr/>
        </p:nvSpPr>
        <p:spPr>
          <a:xfrm>
            <a:off x="8636000" y="4089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fr-FR" sz="1200">
                <a:solidFill>
                  <a:srgbClr val="26232F"/>
                </a:solidFill>
                <a:latin typeface="Montserrat" panose="00000500000000000000" pitchFamily="2" charset="0"/>
              </a:rPr>
              <a:t>1 × le CA de l'année 3 : 4,1 M€</a:t>
            </a:r>
          </a:p>
          <a:p>
            <a:pPr>
              <a:spcAft>
                <a:spcPts val="600"/>
              </a:spcAft>
            </a:pPr>
            <a:r>
              <a:rPr lang="fr-FR" sz="1200">
                <a:solidFill>
                  <a:srgbClr val="26232F"/>
                </a:solidFill>
                <a:latin typeface="Montserrat" panose="00000500000000000000" pitchFamily="2" charset="0"/>
              </a:rPr>
              <a:t>8 × le résultat de l'année 3 : 3,0 M€</a:t>
            </a:r>
          </a:p>
          <a:p>
            <a:pPr>
              <a:spcAft>
                <a:spcPts val="600"/>
              </a:spcAft>
            </a:pPr>
            <a:r>
              <a:rPr lang="fr-FR" sz="1200">
                <a:solidFill>
                  <a:srgbClr val="26232F"/>
                </a:solidFill>
                <a:latin typeface="Montserrat" panose="00000500000000000000" pitchFamily="2" charset="0"/>
              </a:rPr>
              <a:t>Point de départ : 400 k€ en 2026</a:t>
            </a:r>
          </a:p>
        </p:txBody>
      </p:sp>
      <p:sp>
        <p:nvSpPr>
          <p:cNvPr id="27" name="Réserve valorisation">
            <a:extLst>
              <a:ext uri="{FF2B5EF4-FFF2-40B4-BE49-F238E27FC236}">
                <a16:creationId xmlns:a16="http://schemas.microsoft.com/office/drawing/2014/main" id="{1E16B9D9-4DC8-269A-B4BC-7251A9FF0855}"/>
              </a:ext>
            </a:extLst>
          </p:cNvPr>
          <p:cNvSpPr txBox="1"/>
          <p:nvPr/>
        </p:nvSpPr>
        <p:spPr>
          <a:xfrm>
            <a:off x="8636000" y="5486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900" i="1">
                <a:solidFill>
                  <a:srgbClr val="6B6670"/>
                </a:solidFill>
                <a:latin typeface="Montserrat" panose="00000500000000000000" pitchFamily="2" charset="0"/>
              </a:rPr>
              <a:t>Multiples en hypothèse : aucun comparable sourcé à ce stade.</a:t>
            </a:r>
          </a:p>
        </p:txBody>
      </p:sp>
      <p:sp>
        <p:nvSpPr>
          <p:cNvPr id="28" name="Source">
            <a:extLst>
              <a:ext uri="{FF2B5EF4-FFF2-40B4-BE49-F238E27FC236}">
                <a16:creationId xmlns:a16="http://schemas.microsoft.com/office/drawing/2014/main" id="{F3D4F595-9335-DAC8-B715-C159C7EBDEE7}"/>
              </a:ext>
            </a:extLst>
          </p:cNvPr>
          <p:cNvSpPr txBox="1"/>
          <p:nvPr/>
        </p:nvSpPr>
        <p:spPr>
          <a:xfrm>
            <a:off x="635000" y="60198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00">
                <a:solidFill>
                  <a:srgbClr val="6B6670"/>
                </a:solidFill>
                <a:latin typeface="Montserrat" panose="00000500000000000000" pitchFamily="2" charset="0"/>
              </a:rPr>
              <a:t>Sources : modèle Prévisions du 29/10/2026 (budget sur 36 mois, décision D-21) et modèle Financement (apport des 7 fondateurs, D-26). Montants HT, résultat avant impôt sur les sociétés. Hypothèses (H) : volume de privatisations (40 par ville et par an dès l'année 2), multiples de valorisation.</a:t>
            </a:r>
          </a:p>
        </p:txBody>
      </p: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EE2A0BF7-420A-8747-48EF-29B18902A3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79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1029 Pop Tables - Masque de présentation (modèle)</Template>
  <TotalTime>0</TotalTime>
  <Words>314</Words>
  <Application>Microsoft Office PowerPoint</Application>
  <PresentationFormat>Grand écran</PresentationFormat>
  <Paragraphs>20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Montserrat</vt:lpstr>
      <vt:lpstr>Playfair Display</vt:lpstr>
      <vt:lpstr>Thème Office</vt:lpstr>
      <vt:lpstr>Rentable dès l'année 2, sans investisseur au capital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vianney vautier</dc:creator>
  <cp:lastModifiedBy>vianney vautier</cp:lastModifiedBy>
  <cp:revision>1</cp:revision>
  <dcterms:created xsi:type="dcterms:W3CDTF">2026-10-29T10:41:29Z</dcterms:created>
  <dcterms:modified xsi:type="dcterms:W3CDTF">2026-10-29T10:41:38Z</dcterms:modified>
</cp:coreProperties>
</file>