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Ouverts le soir</c:v>
                </c:pt>
              </c:strCache>
            </c:strRef>
          </c:tx>
          <c:spPr>
            <a:solidFill>
              <a:srgbClr val="C9C1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4A3A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Lundi</c:v>
                  </c:pt>
                  <c:pt idx="1">
                    <c:v>Mardi</c:v>
                  </c:pt>
                  <c:pt idx="2">
                    <c:v>Mercredi</c:v>
                  </c:pt>
                  <c:pt idx="3">
                    <c:v>Jeudi</c:v>
                  </c:pt>
                  <c:pt idx="4">
                    <c:v>Vendredi</c:v>
                  </c:pt>
                  <c:pt idx="5">
                    <c:v>Samedi</c:v>
                  </c:pt>
                  <c:pt idx="6">
                    <c:v>Dimanche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200</c:v>
                </c:pt>
                <c:pt idx="1">
                  <c:v>284</c:v>
                </c:pt>
                <c:pt idx="2">
                  <c:v>293</c:v>
                </c:pt>
                <c:pt idx="3">
                  <c:v>297</c:v>
                </c:pt>
                <c:pt idx="4">
                  <c:v>298</c:v>
                </c:pt>
                <c:pt idx="5">
                  <c:v>267</c:v>
                </c:pt>
                <c:pt idx="6">
                  <c:v>142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Salle libre le soir</c:v>
                </c:pt>
              </c:strCache>
            </c:strRef>
          </c:tx>
          <c:spPr>
            <a:solidFill>
              <a:srgbClr val="7A21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4A3A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Lundi</c:v>
                  </c:pt>
                  <c:pt idx="1">
                    <c:v>Mardi</c:v>
                  </c:pt>
                  <c:pt idx="2">
                    <c:v>Mercredi</c:v>
                  </c:pt>
                  <c:pt idx="3">
                    <c:v>Jeudi</c:v>
                  </c:pt>
                  <c:pt idx="4">
                    <c:v>Vendredi</c:v>
                  </c:pt>
                  <c:pt idx="5">
                    <c:v>Samedi</c:v>
                  </c:pt>
                  <c:pt idx="6">
                    <c:v>Dimanche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102</c:v>
                </c:pt>
                <c:pt idx="1">
                  <c:v>18</c:v>
                </c:pt>
                <c:pt idx="2">
                  <c:v>9</c:v>
                </c:pt>
                <c:pt idx="3">
                  <c:v>5</c:v>
                </c:pt>
                <c:pt idx="4">
                  <c:v>4</c:v>
                </c:pt>
                <c:pt idx="5">
                  <c:v>35</c:v>
                </c:pt>
                <c:pt idx="6">
                  <c:v>160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4A3A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A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A3A4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6B5A60"/>
                </a:solidFill>
              </a:defRPr>
            </a:lvl1pPr>
          </a:lstStyle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5A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5A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soir, combien de restaurants sont ouverts et combien de salles sont libres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A60"/>
                </a:solidFill>
              </a:rPr>
              <a:t>Source : base de 302 restaurants retenus (guide Gilles Pudlowski, 27/10/2026). Salle libre = fermé toute la journée ou le soir.</a:t>
            </a:r>
            <a:endParaRPr lang="en-US" sz="800" dirty="0"/>
          </a:p>
        </p:txBody>
      </p:sp>
      <p:sp>
        <p:nvSpPr>
          <p:cNvPr id="4" name="Badge Donnée réelle"/>
          <p:cNvSpPr txBox="1"/>
          <p:nvPr/>
        </p:nvSpPr>
        <p:spPr>
          <a:xfrm>
            <a:off x="7498080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Donnée réelle</a:t>
            </a:r>
            <a:endParaRPr lang="en-US" sz="900" dirty="0"/>
          </a:p>
        </p:txBody>
      </p:sp>
      <p:graphicFrame>
        <p:nvGraphicFramePr>
          <p:cNvPr id="5" name="Graphique ouverts et libres par jour" descr=""/>
          <p:cNvGraphicFramePr/>
          <p:nvPr/>
        </p:nvGraphicFramePr>
        <p:xfrm>
          <a:off x="365760" y="100584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te stat 1"/>
          <p:cNvSpPr/>
          <p:nvPr/>
        </p:nvSpPr>
        <p:spPr>
          <a:xfrm>
            <a:off x="5989320" y="1024128"/>
            <a:ext cx="269748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126480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salles libres le dimanche soir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A60"/>
                </a:solidFill>
              </a:rPr>
              <a:t>53 % de la base</a:t>
            </a:r>
            <a:endParaRPr lang="en-US" sz="1000" dirty="0"/>
          </a:p>
        </p:txBody>
      </p:sp>
      <p:sp>
        <p:nvSpPr>
          <p:cNvPr id="9" name="Carte stat 2"/>
          <p:cNvSpPr/>
          <p:nvPr/>
        </p:nvSpPr>
        <p:spPr>
          <a:xfrm>
            <a:off x="5989320" y="1920240"/>
            <a:ext cx="269748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26480" y="199339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9933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salles libres le lundi soir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A60"/>
                </a:solidFill>
              </a:rPr>
              <a:t>34 % de la base</a:t>
            </a:r>
            <a:endParaRPr lang="en-US" sz="1000" dirty="0"/>
          </a:p>
        </p:txBody>
      </p:sp>
      <p:sp>
        <p:nvSpPr>
          <p:cNvPr id="12" name="Carte stat 3"/>
          <p:cNvSpPr/>
          <p:nvPr/>
        </p:nvSpPr>
        <p:spPr>
          <a:xfrm>
            <a:off x="5989320" y="2816352"/>
            <a:ext cx="269748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0" y="288950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28895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salles libres le samedi soir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A60"/>
                </a:solidFill>
              </a:rPr>
              <a:t>12 % : rare et recherché</a:t>
            </a:r>
            <a:endParaRPr lang="en-US" sz="1000" dirty="0"/>
          </a:p>
        </p:txBody>
      </p:sp>
      <p:sp>
        <p:nvSpPr>
          <p:cNvPr id="15" name="Carte stat 4"/>
          <p:cNvSpPr/>
          <p:nvPr/>
        </p:nvSpPr>
        <p:spPr>
          <a:xfrm>
            <a:off x="5989320" y="3712464"/>
            <a:ext cx="269748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3785616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à 18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378561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salles libres du mardi au vendredi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A60"/>
                </a:solidFill>
              </a:rPr>
              <a:t>moins de 6 % chaque soir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5A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 restaurants à démarcher, classés par soir où leur salle est libre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A60"/>
                </a:solidFill>
              </a:rPr>
              <a:t>Vert : base de 302 restaurants (Pudlowski, 27/10/2026). Orange : projection sur 7 763 restaurants cible à Paris (Apur 2026 × 84 %).</a:t>
            </a:r>
            <a:endParaRPr lang="en-US" sz="800" dirty="0"/>
          </a:p>
        </p:txBody>
      </p:sp>
      <p:sp>
        <p:nvSpPr>
          <p:cNvPr id="4" name="Badge Réel + estimation"/>
          <p:cNvSpPr txBox="1"/>
          <p:nvPr/>
        </p:nvSpPr>
        <p:spPr>
          <a:xfrm>
            <a:off x="7498080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869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Réel + estimation</a:t>
            </a:r>
            <a:endParaRPr lang="en-US" sz="900" dirty="0"/>
          </a:p>
        </p:txBody>
      </p:sp>
      <p:graphicFrame>
        <p:nvGraphicFramePr>
          <p:cNvPr id="3" name="Tableau par soi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7240"/>
                <a:gridCol w="960120"/>
                <a:gridCol w="1143000"/>
                <a:gridCol w="2788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Salles libres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dont milieu-haut de gamme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Arrondissements en tête (nb de salles libres)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Salles libres dans tout Paris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18e (12), 20e (11), 5e et 11e (8)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6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2 620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18e (5), 11e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6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Mercredi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9e et 12e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6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dispersés (1 par arr.)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6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Vendredi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dispersés (1 par arr.)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6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17e (5), 7e et 12e (4)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6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Dimanche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12e, 14e et 17e (12 chacun)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6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4 110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 soirées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restaurants différents (62 % de la base)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6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8 550 / sem.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5A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où commencer : trois vagues de démarchage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A60"/>
                </a:solidFill>
              </a:rPr>
              <a:t>Priorités : proposition du pôle Ventes, à valider. Liste nominative des 188 restaurants : Excel, onglet « Prospects » (filtrer sur la colonne Priorité).</a:t>
            </a:r>
            <a:endParaRPr lang="en-US" sz="800" dirty="0"/>
          </a:p>
        </p:txBody>
      </p:sp>
      <p:sp>
        <p:nvSpPr>
          <p:cNvPr id="4" name="Badge Proposition"/>
          <p:cNvSpPr txBox="1"/>
          <p:nvPr/>
        </p:nvSpPr>
        <p:spPr>
          <a:xfrm>
            <a:off x="7498080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A21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Proposition</a:t>
            </a:r>
            <a:endParaRPr lang="en-US" sz="900" dirty="0"/>
          </a:p>
        </p:txBody>
      </p:sp>
      <p:sp>
        <p:nvSpPr>
          <p:cNvPr id="5" name="Carte priorité A"/>
          <p:cNvSpPr/>
          <p:nvPr/>
        </p:nvSpPr>
        <p:spPr>
          <a:xfrm>
            <a:off x="457200" y="1024128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4A10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pPr indent="0" marL="0">
              <a:buNone/>
            </a:pPr>
            <a:r>
              <a:rPr lang="en-US" sz="1100" dirty="0">
                <a:solidFill>
                  <a:srgbClr val="6B5A60"/>
                </a:solidFill>
              </a:rPr>
              <a:t>  restaurants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105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Libres au moins un soir du mardi au samedi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957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3A40"/>
                </a:solidFill>
              </a:rPr>
              <a:t>Les soirs les plus demandés pour un dîner d'entreprise ou une fête privée : à démarcher en premier.</a:t>
            </a:r>
            <a:endParaRPr lang="en-US" sz="1050" dirty="0"/>
          </a:p>
        </p:txBody>
      </p:sp>
      <p:sp>
        <p:nvSpPr>
          <p:cNvPr id="10" name="Carte priorité B"/>
          <p:cNvSpPr/>
          <p:nvPr/>
        </p:nvSpPr>
        <p:spPr>
          <a:xfrm>
            <a:off x="3246120" y="1024128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457200" cy="457200"/>
          </a:xfrm>
          <a:prstGeom prst="ellipse">
            <a:avLst/>
          </a:prstGeom>
          <a:solidFill>
            <a:srgbClr val="7A21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pPr indent="0" marL="0">
              <a:buNone/>
            </a:pPr>
            <a:r>
              <a:rPr lang="en-US" sz="1100" dirty="0">
                <a:solidFill>
                  <a:srgbClr val="6B5A60"/>
                </a:solidFill>
              </a:rPr>
              <a:t>  restaurants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105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Milieu-haut de gamme, libres le dimanche ou le lundi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3957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3A40"/>
                </a:solidFill>
              </a:rPr>
              <a:t>Le profil type du lieu d'exception : soirées foodies et événements du dimanche et du lundi.</a:t>
            </a:r>
            <a:endParaRPr lang="en-US" sz="1050" dirty="0"/>
          </a:p>
        </p:txBody>
      </p:sp>
      <p:sp>
        <p:nvSpPr>
          <p:cNvPr id="15" name="Carte priorité C"/>
          <p:cNvSpPr/>
          <p:nvPr/>
        </p:nvSpPr>
        <p:spPr>
          <a:xfrm>
            <a:off x="6035040" y="1024128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188720"/>
            <a:ext cx="457200" cy="457200"/>
          </a:xfrm>
          <a:prstGeom prst="ellipse">
            <a:avLst/>
          </a:prstGeom>
          <a:solidFill>
            <a:srgbClr val="B55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5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pPr indent="0" marL="0">
              <a:buNone/>
            </a:pPr>
            <a:r>
              <a:rPr lang="en-US" sz="1100" dirty="0">
                <a:solidFill>
                  <a:srgbClr val="6B5A60"/>
                </a:solidFill>
              </a:rPr>
              <a:t>  restaurants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105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Autres restaurants libres le dimanche ou le lundi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3957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3A40"/>
                </a:solidFill>
              </a:rPr>
              <a:t>Réserve de lieux pour les formats plus simples ou les grands volumes.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Mode d'emploi pour l'équipe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886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785616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Filtrer l'onglet Prospects par priorité, puis par soir libre ou arrondissement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886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685032" y="3785616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Reconfirmer jours et horaires (Google Maps, appel) : la base n'est pas vérifiée une à une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8862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3785616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Noter statut, date et prochaine action ; 2 fiches « À vérifier » (fermées 7 soirs)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2743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5A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C Cuisine Innovation">
  <a:themeElements>
    <a:clrScheme name="HEC Cuisine Innovation">
      <a:dk1>
        <a:srgbClr val="2B1A20"/>
      </a:dk1>
      <a:lt1>
        <a:srgbClr val="FFFFFF"/>
      </a:lt1>
      <a:dk2>
        <a:srgbClr val="4A1028"/>
      </a:dk2>
      <a:lt2>
        <a:srgbClr val="F5EFF1"/>
      </a:lt2>
      <a:accent1>
        <a:srgbClr val="7A2140"/>
      </a:accent1>
      <a:accent2>
        <a:srgbClr val="1F6F78"/>
      </a:accent2>
      <a:accent3>
        <a:srgbClr val="2E7D5B"/>
      </a:accent3>
      <a:accent4>
        <a:srgbClr val="C8691C"/>
      </a:accent4>
      <a:accent5>
        <a:srgbClr val="B5566E"/>
      </a:accent5>
      <a:accent6>
        <a:srgbClr val="C9C1C4"/>
      </a:accent6>
      <a:hlink>
        <a:srgbClr val="7A2140"/>
      </a:hlink>
      <a:folHlink>
        <a:srgbClr val="4A1028"/>
      </a:folHlink>
    </a:clrScheme>
    <a:fontScheme name="HEC Cuisine Innov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Restaurants ouverts et salles libres par jour de la semaine</dc:title>
  <dc:subject>PptxGenJS Presentation</dc:subject>
  <dc:creator>PptxGenJS</dc:creator>
  <cp:lastModifiedBy>PptxGenJS</cp:lastModifiedBy>
  <cp:revision>1</cp:revision>
  <dcterms:created xsi:type="dcterms:W3CDTF">2026-10-28T17:19:24Z</dcterms:created>
  <dcterms:modified xsi:type="dcterms:W3CDTF">2026-10-28T17:19:24Z</dcterms:modified>
</cp:coreProperties>
</file>